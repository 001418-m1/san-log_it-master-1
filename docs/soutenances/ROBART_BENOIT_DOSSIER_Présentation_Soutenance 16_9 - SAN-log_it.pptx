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4"/>
    <p:sldMasterId id="214748365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7772400" cx="10058400"/>
  <p:notesSz cx="10058400" cy="7772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AA08982-3D11-4EC6-80D6-00CB5F942329}">
  <a:tblStyle styleId="{7AA08982-3D11-4EC6-80D6-00CB5F94232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262EEC4-5214-4235-8F0D-B323A4B456DF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c429658b6_0_85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c429658b6_0_85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a4e44d910_1_2:notes"/>
          <p:cNvSpPr/>
          <p:nvPr>
            <p:ph idx="2" type="sldImg"/>
          </p:nvPr>
        </p:nvSpPr>
        <p:spPr>
          <a:xfrm>
            <a:off x="2100431" y="728662"/>
            <a:ext cx="5857539" cy="196738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ea4e44d910_1_2:notes"/>
          <p:cNvSpPr txBox="1"/>
          <p:nvPr>
            <p:ph idx="1" type="body"/>
          </p:nvPr>
        </p:nvSpPr>
        <p:spPr>
          <a:xfrm>
            <a:off x="1005840" y="2805351"/>
            <a:ext cx="8046720" cy="2295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ea4e44d910_1_2:notes"/>
          <p:cNvSpPr txBox="1"/>
          <p:nvPr>
            <p:ph idx="12" type="sldNum"/>
          </p:nvPr>
        </p:nvSpPr>
        <p:spPr>
          <a:xfrm>
            <a:off x="5697432" y="5536823"/>
            <a:ext cx="4358640" cy="2924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1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c429658b6_0_109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dc429658b6_0_109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2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dc429658b6_0_99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dc429658b6_0_99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e8e2c2232c_0_17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e8e2c2232c_0_17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3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3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4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4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5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5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6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6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idx="11" type="ftr"/>
          </p:nvPr>
        </p:nvSpPr>
        <p:spPr>
          <a:xfrm>
            <a:off x="9114472" y="7621128"/>
            <a:ext cx="956945" cy="166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-38100" y="7621128"/>
            <a:ext cx="523875" cy="166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sur 16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9114472" y="7621128"/>
            <a:ext cx="956945" cy="166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-38100" y="7621128"/>
            <a:ext cx="523875" cy="166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sur 16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9114472" y="7621128"/>
            <a:ext cx="956945" cy="166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-38100" y="7621128"/>
            <a:ext cx="523875" cy="166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sur 16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9114472" y="7621128"/>
            <a:ext cx="956945" cy="166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-38100" y="7621128"/>
            <a:ext cx="523875" cy="166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sur 16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9114472" y="7621128"/>
            <a:ext cx="956945" cy="166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-38100" y="7621128"/>
            <a:ext cx="523875" cy="166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sur 16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57200" y="6301181"/>
            <a:ext cx="9143949" cy="52218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483844" y="1479892"/>
            <a:ext cx="9091295" cy="16510"/>
          </a:xfrm>
          <a:custGeom>
            <a:rect b="b" l="l" r="r" t="t"/>
            <a:pathLst>
              <a:path extrusionOk="0" h="16509" w="9091295">
                <a:moveTo>
                  <a:pt x="9090672" y="16217"/>
                </a:moveTo>
                <a:lnTo>
                  <a:pt x="0" y="16217"/>
                </a:lnTo>
                <a:lnTo>
                  <a:pt x="0" y="0"/>
                </a:lnTo>
                <a:lnTo>
                  <a:pt x="9090672" y="0"/>
                </a:lnTo>
                <a:lnTo>
                  <a:pt x="9090672" y="16217"/>
                </a:lnTo>
                <a:close/>
              </a:path>
            </a:pathLst>
          </a:custGeom>
          <a:solidFill>
            <a:srgbClr val="F0F4F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9114472" y="7621128"/>
            <a:ext cx="956945" cy="166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-38100" y="7621128"/>
            <a:ext cx="523875" cy="166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38100">
              <a:lnSpc>
                <a:spcPct val="119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sur 16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8.png"/><Relationship Id="rId13" Type="http://schemas.openxmlformats.org/officeDocument/2006/relationships/image" Target="../media/image14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5.png"/><Relationship Id="rId14" Type="http://schemas.openxmlformats.org/officeDocument/2006/relationships/image" Target="../media/image1.jpg"/><Relationship Id="rId5" Type="http://schemas.openxmlformats.org/officeDocument/2006/relationships/image" Target="../media/image6.png"/><Relationship Id="rId6" Type="http://schemas.openxmlformats.org/officeDocument/2006/relationships/image" Target="../media/image18.png"/><Relationship Id="rId7" Type="http://schemas.openxmlformats.org/officeDocument/2006/relationships/image" Target="../media/image26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hyperlink" Target="https://san-log-it.com/" TargetMode="External"/><Relationship Id="rId1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7.png"/><Relationship Id="rId4" Type="http://schemas.openxmlformats.org/officeDocument/2006/relationships/image" Target="../media/image12.png"/><Relationship Id="rId9" Type="http://schemas.openxmlformats.org/officeDocument/2006/relationships/hyperlink" Target="https://github.com/001418-M1/SAN-log_it-Master-1" TargetMode="External"/><Relationship Id="rId5" Type="http://schemas.openxmlformats.org/officeDocument/2006/relationships/image" Target="../media/image16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san-log-it.com/" TargetMode="External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5" Type="http://schemas.openxmlformats.org/officeDocument/2006/relationships/image" Target="../media/image13.png"/><Relationship Id="rId6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9.png"/><Relationship Id="rId7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9.png"/><Relationship Id="rId4" Type="http://schemas.openxmlformats.org/officeDocument/2006/relationships/image" Target="../media/image19.png"/><Relationship Id="rId5" Type="http://schemas.openxmlformats.org/officeDocument/2006/relationships/image" Target="../media/image38.png"/><Relationship Id="rId6" Type="http://schemas.openxmlformats.org/officeDocument/2006/relationships/image" Target="../media/image9.png"/><Relationship Id="rId7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30.png"/><Relationship Id="rId5" Type="http://schemas.openxmlformats.org/officeDocument/2006/relationships/image" Target="../media/image9.png"/><Relationship Id="rId6" Type="http://schemas.openxmlformats.org/officeDocument/2006/relationships/image" Target="../media/image23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hyperlink" Target="https://san-log-it.com/" TargetMode="External"/><Relationship Id="rId1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35.png"/><Relationship Id="rId9" Type="http://schemas.openxmlformats.org/officeDocument/2006/relationships/image" Target="../media/image44.png"/><Relationship Id="rId5" Type="http://schemas.openxmlformats.org/officeDocument/2006/relationships/image" Target="../media/image42.png"/><Relationship Id="rId6" Type="http://schemas.openxmlformats.org/officeDocument/2006/relationships/image" Target="../media/image33.png"/><Relationship Id="rId7" Type="http://schemas.openxmlformats.org/officeDocument/2006/relationships/image" Target="../media/image29.png"/><Relationship Id="rId8" Type="http://schemas.openxmlformats.org/officeDocument/2006/relationships/image" Target="../media/image4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.jpg"/><Relationship Id="rId5" Type="http://schemas.openxmlformats.org/officeDocument/2006/relationships/hyperlink" Target="https://san-log-it.com/" TargetMode="External"/><Relationship Id="rId6" Type="http://schemas.openxmlformats.org/officeDocument/2006/relationships/image" Target="../media/image4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.jpg"/><Relationship Id="rId5" Type="http://schemas.openxmlformats.org/officeDocument/2006/relationships/hyperlink" Target="https://san-log-it.com/" TargetMode="External"/><Relationship Id="rId6" Type="http://schemas.openxmlformats.org/officeDocument/2006/relationships/image" Target="../media/image5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47.png"/><Relationship Id="rId10" Type="http://schemas.openxmlformats.org/officeDocument/2006/relationships/image" Target="../media/image53.png"/><Relationship Id="rId13" Type="http://schemas.openxmlformats.org/officeDocument/2006/relationships/image" Target="../media/image52.png"/><Relationship Id="rId1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9" Type="http://schemas.openxmlformats.org/officeDocument/2006/relationships/image" Target="../media/image43.png"/><Relationship Id="rId15" Type="http://schemas.openxmlformats.org/officeDocument/2006/relationships/image" Target="../media/image1.jpg"/><Relationship Id="rId14" Type="http://schemas.openxmlformats.org/officeDocument/2006/relationships/image" Target="../media/image9.png"/><Relationship Id="rId5" Type="http://schemas.openxmlformats.org/officeDocument/2006/relationships/image" Target="../media/image41.png"/><Relationship Id="rId6" Type="http://schemas.openxmlformats.org/officeDocument/2006/relationships/image" Target="../media/image45.png"/><Relationship Id="rId7" Type="http://schemas.openxmlformats.org/officeDocument/2006/relationships/image" Target="../media/image51.png"/><Relationship Id="rId8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hyperlink" Target="https://san-log-it.com/" TargetMode="External"/><Relationship Id="rId5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130" y="6940006"/>
            <a:ext cx="9143950" cy="52218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9"/>
          <p:cNvSpPr/>
          <p:nvPr/>
        </p:nvSpPr>
        <p:spPr>
          <a:xfrm>
            <a:off x="532748" y="794449"/>
            <a:ext cx="680442" cy="453628"/>
          </a:xfrm>
          <a:custGeom>
            <a:rect b="b" l="l" r="r" t="t"/>
            <a:pathLst>
              <a:path extrusionOk="0" h="285750" w="428625">
                <a:moveTo>
                  <a:pt x="142875" y="285749"/>
                </a:moveTo>
                <a:lnTo>
                  <a:pt x="0" y="285749"/>
                </a:lnTo>
                <a:lnTo>
                  <a:pt x="0" y="0"/>
                </a:lnTo>
                <a:lnTo>
                  <a:pt x="142875" y="0"/>
                </a:lnTo>
                <a:lnTo>
                  <a:pt x="228575" y="107149"/>
                </a:lnTo>
                <a:lnTo>
                  <a:pt x="142875" y="107149"/>
                </a:lnTo>
                <a:lnTo>
                  <a:pt x="142875" y="285749"/>
                </a:lnTo>
                <a:close/>
              </a:path>
              <a:path extrusionOk="0" h="285750" w="428625">
                <a:moveTo>
                  <a:pt x="428586" y="178587"/>
                </a:moveTo>
                <a:lnTo>
                  <a:pt x="285711" y="178587"/>
                </a:lnTo>
                <a:lnTo>
                  <a:pt x="285711" y="0"/>
                </a:lnTo>
                <a:lnTo>
                  <a:pt x="428586" y="0"/>
                </a:lnTo>
                <a:lnTo>
                  <a:pt x="428586" y="178587"/>
                </a:lnTo>
                <a:close/>
              </a:path>
              <a:path extrusionOk="0" h="285750" w="428625">
                <a:moveTo>
                  <a:pt x="428586" y="285749"/>
                </a:moveTo>
                <a:lnTo>
                  <a:pt x="285711" y="285749"/>
                </a:lnTo>
                <a:lnTo>
                  <a:pt x="142875" y="107149"/>
                </a:lnTo>
                <a:lnTo>
                  <a:pt x="228575" y="107149"/>
                </a:lnTo>
                <a:lnTo>
                  <a:pt x="285711" y="178587"/>
                </a:lnTo>
                <a:lnTo>
                  <a:pt x="428586" y="178587"/>
                </a:lnTo>
                <a:lnTo>
                  <a:pt x="428586" y="285749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4"/>
          </a:p>
        </p:txBody>
      </p:sp>
      <p:pic>
        <p:nvPicPr>
          <p:cNvPr id="49" name="Google Shape;4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6980" y="794449"/>
            <a:ext cx="397085" cy="102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6980" y="970335"/>
            <a:ext cx="317663" cy="102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26980" y="1146203"/>
            <a:ext cx="397085" cy="1021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9"/>
          <p:cNvGrpSpPr/>
          <p:nvPr/>
        </p:nvGrpSpPr>
        <p:grpSpPr>
          <a:xfrm>
            <a:off x="1895671" y="794433"/>
            <a:ext cx="1076969" cy="453885"/>
            <a:chOff x="1378007" y="1170635"/>
            <a:chExt cx="678021" cy="285750"/>
          </a:xfrm>
        </p:grpSpPr>
        <p:pic>
          <p:nvPicPr>
            <p:cNvPr id="53" name="Google Shape;53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378007" y="1189399"/>
              <a:ext cx="248173" cy="2482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9"/>
            <p:cNvSpPr/>
            <p:nvPr/>
          </p:nvSpPr>
          <p:spPr>
            <a:xfrm>
              <a:off x="1555648" y="1170635"/>
              <a:ext cx="500380" cy="285750"/>
            </a:xfrm>
            <a:custGeom>
              <a:rect b="b" l="l" r="r" t="t"/>
              <a:pathLst>
                <a:path extrusionOk="0" h="285750" w="500380">
                  <a:moveTo>
                    <a:pt x="142874" y="285749"/>
                  </a:moveTo>
                  <a:lnTo>
                    <a:pt x="0" y="285749"/>
                  </a:lnTo>
                  <a:lnTo>
                    <a:pt x="321424" y="0"/>
                  </a:lnTo>
                  <a:lnTo>
                    <a:pt x="366071" y="71437"/>
                  </a:lnTo>
                  <a:lnTo>
                    <a:pt x="249986" y="71437"/>
                  </a:lnTo>
                  <a:lnTo>
                    <a:pt x="199974" y="157162"/>
                  </a:lnTo>
                  <a:lnTo>
                    <a:pt x="419647" y="157162"/>
                  </a:lnTo>
                  <a:lnTo>
                    <a:pt x="441966" y="192874"/>
                  </a:lnTo>
                  <a:lnTo>
                    <a:pt x="192836" y="192874"/>
                  </a:lnTo>
                  <a:lnTo>
                    <a:pt x="142874" y="285749"/>
                  </a:lnTo>
                  <a:close/>
                </a:path>
                <a:path extrusionOk="0" h="285750" w="500380">
                  <a:moveTo>
                    <a:pt x="419647" y="157162"/>
                  </a:moveTo>
                  <a:lnTo>
                    <a:pt x="299986" y="157162"/>
                  </a:lnTo>
                  <a:lnTo>
                    <a:pt x="249986" y="71437"/>
                  </a:lnTo>
                  <a:lnTo>
                    <a:pt x="366071" y="71437"/>
                  </a:lnTo>
                  <a:lnTo>
                    <a:pt x="419647" y="157162"/>
                  </a:lnTo>
                  <a:close/>
                </a:path>
                <a:path extrusionOk="0" h="285750" w="500380">
                  <a:moveTo>
                    <a:pt x="500011" y="285749"/>
                  </a:moveTo>
                  <a:lnTo>
                    <a:pt x="357136" y="285749"/>
                  </a:lnTo>
                  <a:lnTo>
                    <a:pt x="307136" y="192874"/>
                  </a:lnTo>
                  <a:lnTo>
                    <a:pt x="441966" y="192874"/>
                  </a:lnTo>
                  <a:lnTo>
                    <a:pt x="500011" y="285749"/>
                  </a:lnTo>
                  <a:close/>
                </a:path>
              </a:pathLst>
            </a:custGeom>
            <a:solidFill>
              <a:srgbClr val="2F0D6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24"/>
            </a:p>
          </p:txBody>
        </p:sp>
      </p:grpSp>
      <p:pic>
        <p:nvPicPr>
          <p:cNvPr id="55" name="Google Shape;55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2921" y="1497997"/>
            <a:ext cx="2005927" cy="3163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9"/>
          <p:cNvGrpSpPr/>
          <p:nvPr/>
        </p:nvGrpSpPr>
        <p:grpSpPr>
          <a:xfrm>
            <a:off x="484251" y="2064398"/>
            <a:ext cx="9090660" cy="3002694"/>
            <a:chOff x="484238" y="2064296"/>
            <a:chExt cx="9090660" cy="2270125"/>
          </a:xfrm>
        </p:grpSpPr>
        <p:sp>
          <p:nvSpPr>
            <p:cNvPr id="57" name="Google Shape;57;p9"/>
            <p:cNvSpPr/>
            <p:nvPr/>
          </p:nvSpPr>
          <p:spPr>
            <a:xfrm>
              <a:off x="484238" y="2064296"/>
              <a:ext cx="9090660" cy="2270125"/>
            </a:xfrm>
            <a:custGeom>
              <a:rect b="b" l="l" r="r" t="t"/>
              <a:pathLst>
                <a:path extrusionOk="0" h="2270125" w="9090660">
                  <a:moveTo>
                    <a:pt x="9057830" y="2269972"/>
                  </a:moveTo>
                  <a:lnTo>
                    <a:pt x="32092" y="2269972"/>
                  </a:lnTo>
                  <a:lnTo>
                    <a:pt x="19440" y="2267414"/>
                  </a:lnTo>
                  <a:lnTo>
                    <a:pt x="9115" y="2260444"/>
                  </a:lnTo>
                  <a:lnTo>
                    <a:pt x="2157" y="2250116"/>
                  </a:lnTo>
                  <a:lnTo>
                    <a:pt x="0" y="2239435"/>
                  </a:lnTo>
                  <a:lnTo>
                    <a:pt x="0" y="27820"/>
                  </a:lnTo>
                  <a:lnTo>
                    <a:pt x="2157" y="17144"/>
                  </a:lnTo>
                  <a:lnTo>
                    <a:pt x="9115" y="6829"/>
                  </a:lnTo>
                  <a:lnTo>
                    <a:pt x="19251" y="0"/>
                  </a:lnTo>
                  <a:lnTo>
                    <a:pt x="9070642" y="0"/>
                  </a:lnTo>
                  <a:lnTo>
                    <a:pt x="9080763" y="6829"/>
                  </a:lnTo>
                  <a:lnTo>
                    <a:pt x="9087716" y="17144"/>
                  </a:lnTo>
                  <a:lnTo>
                    <a:pt x="9090266" y="29768"/>
                  </a:lnTo>
                  <a:lnTo>
                    <a:pt x="9090266" y="2237486"/>
                  </a:lnTo>
                  <a:lnTo>
                    <a:pt x="9087716" y="2250116"/>
                  </a:lnTo>
                  <a:lnTo>
                    <a:pt x="9080763" y="2260444"/>
                  </a:lnTo>
                  <a:lnTo>
                    <a:pt x="9070453" y="2267414"/>
                  </a:lnTo>
                  <a:lnTo>
                    <a:pt x="9057830" y="2269972"/>
                  </a:lnTo>
                  <a:close/>
                </a:path>
              </a:pathLst>
            </a:custGeom>
            <a:solidFill>
              <a:srgbClr val="AEE2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9"/>
            <p:cNvSpPr/>
            <p:nvPr/>
          </p:nvSpPr>
          <p:spPr>
            <a:xfrm>
              <a:off x="484238" y="2064296"/>
              <a:ext cx="2727325" cy="1010285"/>
            </a:xfrm>
            <a:custGeom>
              <a:rect b="b" l="l" r="r" t="t"/>
              <a:pathLst>
                <a:path extrusionOk="0" h="1010285" w="2727325">
                  <a:moveTo>
                    <a:pt x="1818132" y="1010094"/>
                  </a:moveTo>
                  <a:lnTo>
                    <a:pt x="0" y="1010094"/>
                  </a:lnTo>
                  <a:lnTo>
                    <a:pt x="0" y="27820"/>
                  </a:lnTo>
                  <a:lnTo>
                    <a:pt x="2157" y="17144"/>
                  </a:lnTo>
                  <a:lnTo>
                    <a:pt x="9115" y="6829"/>
                  </a:lnTo>
                  <a:lnTo>
                    <a:pt x="19251" y="0"/>
                  </a:lnTo>
                  <a:lnTo>
                    <a:pt x="2727223" y="0"/>
                  </a:lnTo>
                  <a:lnTo>
                    <a:pt x="1818132" y="1010094"/>
                  </a:lnTo>
                  <a:close/>
                </a:path>
              </a:pathLst>
            </a:custGeom>
            <a:solidFill>
              <a:srgbClr val="CCBAA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9"/>
            <p:cNvSpPr/>
            <p:nvPr/>
          </p:nvSpPr>
          <p:spPr>
            <a:xfrm>
              <a:off x="484238" y="2973387"/>
              <a:ext cx="1363980" cy="1111250"/>
            </a:xfrm>
            <a:custGeom>
              <a:rect b="b" l="l" r="r" t="t"/>
              <a:pathLst>
                <a:path extrusionOk="0" h="1111250" w="1363980">
                  <a:moveTo>
                    <a:pt x="0" y="1111046"/>
                  </a:moveTo>
                  <a:lnTo>
                    <a:pt x="0" y="0"/>
                  </a:lnTo>
                  <a:lnTo>
                    <a:pt x="1363611" y="606031"/>
                  </a:lnTo>
                  <a:lnTo>
                    <a:pt x="0" y="1111046"/>
                  </a:lnTo>
                  <a:close/>
                </a:path>
              </a:pathLst>
            </a:custGeom>
            <a:solidFill>
              <a:srgbClr val="F450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9"/>
            <p:cNvSpPr/>
            <p:nvPr/>
          </p:nvSpPr>
          <p:spPr>
            <a:xfrm>
              <a:off x="484238" y="2064296"/>
              <a:ext cx="3636645" cy="2270125"/>
            </a:xfrm>
            <a:custGeom>
              <a:rect b="b" l="l" r="r" t="t"/>
              <a:pathLst>
                <a:path extrusionOk="0" h="2270125" w="3636645">
                  <a:moveTo>
                    <a:pt x="2276320" y="2269972"/>
                  </a:moveTo>
                  <a:lnTo>
                    <a:pt x="2269257" y="2269972"/>
                  </a:lnTo>
                  <a:lnTo>
                    <a:pt x="0" y="505028"/>
                  </a:lnTo>
                  <a:lnTo>
                    <a:pt x="909091" y="0"/>
                  </a:lnTo>
                  <a:lnTo>
                    <a:pt x="3636264" y="1262608"/>
                  </a:lnTo>
                  <a:lnTo>
                    <a:pt x="2276320" y="2269972"/>
                  </a:lnTo>
                  <a:close/>
                </a:path>
              </a:pathLst>
            </a:custGeom>
            <a:solidFill>
              <a:srgbClr val="6B5E5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1" name="Google Shape;61;p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525655" y="2064298"/>
              <a:ext cx="8048861" cy="22699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2" name="Google Shape;62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7928" y="5831138"/>
            <a:ext cx="3270097" cy="187667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/>
          <p:nvPr/>
        </p:nvSpPr>
        <p:spPr>
          <a:xfrm>
            <a:off x="7614145" y="5902170"/>
            <a:ext cx="682625" cy="135889"/>
          </a:xfrm>
          <a:custGeom>
            <a:rect b="b" l="l" r="r" t="t"/>
            <a:pathLst>
              <a:path extrusionOk="0" h="135889" w="682625">
                <a:moveTo>
                  <a:pt x="45796" y="133502"/>
                </a:moveTo>
                <a:lnTo>
                  <a:pt x="203" y="133502"/>
                </a:lnTo>
                <a:lnTo>
                  <a:pt x="110" y="128638"/>
                </a:lnTo>
                <a:lnTo>
                  <a:pt x="0" y="122783"/>
                </a:lnTo>
                <a:lnTo>
                  <a:pt x="10617" y="120903"/>
                </a:lnTo>
                <a:lnTo>
                  <a:pt x="52933" y="0"/>
                </a:lnTo>
                <a:lnTo>
                  <a:pt x="80619" y="0"/>
                </a:lnTo>
                <a:lnTo>
                  <a:pt x="86187" y="16916"/>
                </a:lnTo>
                <a:lnTo>
                  <a:pt x="62255" y="16916"/>
                </a:lnTo>
                <a:lnTo>
                  <a:pt x="58777" y="30314"/>
                </a:lnTo>
                <a:lnTo>
                  <a:pt x="41719" y="85280"/>
                </a:lnTo>
                <a:lnTo>
                  <a:pt x="108688" y="85280"/>
                </a:lnTo>
                <a:lnTo>
                  <a:pt x="112722" y="97536"/>
                </a:lnTo>
                <a:lnTo>
                  <a:pt x="112805" y="97789"/>
                </a:lnTo>
                <a:lnTo>
                  <a:pt x="38201" y="97789"/>
                </a:lnTo>
                <a:lnTo>
                  <a:pt x="31731" y="119913"/>
                </a:lnTo>
                <a:lnTo>
                  <a:pt x="31646" y="120205"/>
                </a:lnTo>
                <a:lnTo>
                  <a:pt x="31545" y="120548"/>
                </a:lnTo>
                <a:lnTo>
                  <a:pt x="31441" y="120903"/>
                </a:lnTo>
                <a:lnTo>
                  <a:pt x="31356" y="121196"/>
                </a:lnTo>
                <a:lnTo>
                  <a:pt x="45796" y="122783"/>
                </a:lnTo>
                <a:lnTo>
                  <a:pt x="45796" y="133502"/>
                </a:lnTo>
                <a:close/>
              </a:path>
              <a:path extrusionOk="0" h="135889" w="682625">
                <a:moveTo>
                  <a:pt x="108688" y="85280"/>
                </a:moveTo>
                <a:lnTo>
                  <a:pt x="80721" y="85280"/>
                </a:lnTo>
                <a:lnTo>
                  <a:pt x="65434" y="30467"/>
                </a:lnTo>
                <a:lnTo>
                  <a:pt x="62255" y="16916"/>
                </a:lnTo>
                <a:lnTo>
                  <a:pt x="86187" y="16916"/>
                </a:lnTo>
                <a:lnTo>
                  <a:pt x="108688" y="85280"/>
                </a:lnTo>
                <a:close/>
              </a:path>
              <a:path extrusionOk="0" h="135889" w="682625">
                <a:moveTo>
                  <a:pt x="175615" y="135483"/>
                </a:moveTo>
                <a:lnTo>
                  <a:pt x="171450" y="135483"/>
                </a:lnTo>
                <a:lnTo>
                  <a:pt x="162746" y="134886"/>
                </a:lnTo>
                <a:lnTo>
                  <a:pt x="163252" y="134886"/>
                </a:lnTo>
                <a:lnTo>
                  <a:pt x="156398" y="133210"/>
                </a:lnTo>
                <a:lnTo>
                  <a:pt x="156554" y="133210"/>
                </a:lnTo>
                <a:lnTo>
                  <a:pt x="151202" y="130527"/>
                </a:lnTo>
                <a:lnTo>
                  <a:pt x="146939" y="126657"/>
                </a:lnTo>
                <a:lnTo>
                  <a:pt x="139649" y="47078"/>
                </a:lnTo>
                <a:lnTo>
                  <a:pt x="130721" y="44551"/>
                </a:lnTo>
                <a:lnTo>
                  <a:pt x="130721" y="34480"/>
                </a:lnTo>
                <a:lnTo>
                  <a:pt x="161086" y="32156"/>
                </a:lnTo>
                <a:lnTo>
                  <a:pt x="161277" y="32156"/>
                </a:lnTo>
                <a:lnTo>
                  <a:pt x="164998" y="34480"/>
                </a:lnTo>
                <a:lnTo>
                  <a:pt x="164998" y="103136"/>
                </a:lnTo>
                <a:lnTo>
                  <a:pt x="165371" y="106974"/>
                </a:lnTo>
                <a:lnTo>
                  <a:pt x="165442" y="107708"/>
                </a:lnTo>
                <a:lnTo>
                  <a:pt x="166344" y="111023"/>
                </a:lnTo>
                <a:lnTo>
                  <a:pt x="167233" y="114401"/>
                </a:lnTo>
                <a:lnTo>
                  <a:pt x="168770" y="116839"/>
                </a:lnTo>
                <a:lnTo>
                  <a:pt x="173139" y="119913"/>
                </a:lnTo>
                <a:lnTo>
                  <a:pt x="175700" y="120548"/>
                </a:lnTo>
                <a:lnTo>
                  <a:pt x="202260" y="120548"/>
                </a:lnTo>
                <a:lnTo>
                  <a:pt x="200450" y="122783"/>
                </a:lnTo>
                <a:lnTo>
                  <a:pt x="179692" y="134696"/>
                </a:lnTo>
                <a:lnTo>
                  <a:pt x="175615" y="135483"/>
                </a:lnTo>
                <a:close/>
              </a:path>
              <a:path extrusionOk="0" h="135889" w="682625">
                <a:moveTo>
                  <a:pt x="218186" y="135191"/>
                </a:moveTo>
                <a:lnTo>
                  <a:pt x="209600" y="135191"/>
                </a:lnTo>
                <a:lnTo>
                  <a:pt x="206717" y="134391"/>
                </a:lnTo>
                <a:lnTo>
                  <a:pt x="203149" y="131127"/>
                </a:lnTo>
                <a:lnTo>
                  <a:pt x="202260" y="128638"/>
                </a:lnTo>
                <a:lnTo>
                  <a:pt x="202260" y="120548"/>
                </a:lnTo>
                <a:lnTo>
                  <a:pt x="183654" y="120548"/>
                </a:lnTo>
                <a:lnTo>
                  <a:pt x="199377" y="112623"/>
                </a:lnTo>
                <a:lnTo>
                  <a:pt x="199377" y="47078"/>
                </a:lnTo>
                <a:lnTo>
                  <a:pt x="187528" y="44310"/>
                </a:lnTo>
                <a:lnTo>
                  <a:pt x="187528" y="34480"/>
                </a:lnTo>
                <a:lnTo>
                  <a:pt x="219913" y="32156"/>
                </a:lnTo>
                <a:lnTo>
                  <a:pt x="220370" y="32156"/>
                </a:lnTo>
                <a:lnTo>
                  <a:pt x="224586" y="34480"/>
                </a:lnTo>
                <a:lnTo>
                  <a:pt x="224586" y="122339"/>
                </a:lnTo>
                <a:lnTo>
                  <a:pt x="234505" y="122339"/>
                </a:lnTo>
                <a:lnTo>
                  <a:pt x="234403" y="132511"/>
                </a:lnTo>
                <a:lnTo>
                  <a:pt x="232270" y="133007"/>
                </a:lnTo>
                <a:lnTo>
                  <a:pt x="222250" y="134886"/>
                </a:lnTo>
                <a:lnTo>
                  <a:pt x="218186" y="135191"/>
                </a:lnTo>
                <a:close/>
              </a:path>
              <a:path extrusionOk="0" h="135889" w="682625">
                <a:moveTo>
                  <a:pt x="120413" y="120903"/>
                </a:moveTo>
                <a:lnTo>
                  <a:pt x="91256" y="120903"/>
                </a:lnTo>
                <a:lnTo>
                  <a:pt x="84289" y="97789"/>
                </a:lnTo>
                <a:lnTo>
                  <a:pt x="112805" y="97789"/>
                </a:lnTo>
                <a:lnTo>
                  <a:pt x="120087" y="119913"/>
                </a:lnTo>
                <a:lnTo>
                  <a:pt x="120183" y="120205"/>
                </a:lnTo>
                <a:lnTo>
                  <a:pt x="120296" y="120548"/>
                </a:lnTo>
                <a:lnTo>
                  <a:pt x="120413" y="120903"/>
                </a:lnTo>
                <a:close/>
              </a:path>
              <a:path extrusionOk="0" h="135889" w="682625">
                <a:moveTo>
                  <a:pt x="130822" y="133502"/>
                </a:moveTo>
                <a:lnTo>
                  <a:pt x="77939" y="133502"/>
                </a:lnTo>
                <a:lnTo>
                  <a:pt x="77939" y="122783"/>
                </a:lnTo>
                <a:lnTo>
                  <a:pt x="92050" y="120903"/>
                </a:lnTo>
                <a:lnTo>
                  <a:pt x="119853" y="120903"/>
                </a:lnTo>
                <a:lnTo>
                  <a:pt x="130822" y="122783"/>
                </a:lnTo>
                <a:lnTo>
                  <a:pt x="130822" y="133502"/>
                </a:lnTo>
                <a:close/>
              </a:path>
              <a:path extrusionOk="0" h="135889" w="682625">
                <a:moveTo>
                  <a:pt x="304850" y="48120"/>
                </a:moveTo>
                <a:lnTo>
                  <a:pt x="241350" y="48120"/>
                </a:lnTo>
                <a:lnTo>
                  <a:pt x="241350" y="38049"/>
                </a:lnTo>
                <a:lnTo>
                  <a:pt x="242735" y="37503"/>
                </a:lnTo>
                <a:lnTo>
                  <a:pt x="245567" y="36614"/>
                </a:lnTo>
                <a:lnTo>
                  <a:pt x="247053" y="36220"/>
                </a:lnTo>
                <a:lnTo>
                  <a:pt x="248399" y="35775"/>
                </a:lnTo>
                <a:lnTo>
                  <a:pt x="257517" y="25552"/>
                </a:lnTo>
                <a:lnTo>
                  <a:pt x="258165" y="24015"/>
                </a:lnTo>
                <a:lnTo>
                  <a:pt x="258813" y="22174"/>
                </a:lnTo>
                <a:lnTo>
                  <a:pt x="259461" y="20091"/>
                </a:lnTo>
                <a:lnTo>
                  <a:pt x="260146" y="18008"/>
                </a:lnTo>
                <a:lnTo>
                  <a:pt x="260743" y="15875"/>
                </a:lnTo>
                <a:lnTo>
                  <a:pt x="262039" y="11557"/>
                </a:lnTo>
                <a:lnTo>
                  <a:pt x="262585" y="9626"/>
                </a:lnTo>
                <a:lnTo>
                  <a:pt x="263029" y="7886"/>
                </a:lnTo>
                <a:lnTo>
                  <a:pt x="277609" y="7886"/>
                </a:lnTo>
                <a:lnTo>
                  <a:pt x="277851" y="15875"/>
                </a:lnTo>
                <a:lnTo>
                  <a:pt x="277915" y="18008"/>
                </a:lnTo>
                <a:lnTo>
                  <a:pt x="278041" y="22174"/>
                </a:lnTo>
                <a:lnTo>
                  <a:pt x="278143" y="25552"/>
                </a:lnTo>
                <a:lnTo>
                  <a:pt x="278218" y="28028"/>
                </a:lnTo>
                <a:lnTo>
                  <a:pt x="278302" y="30810"/>
                </a:lnTo>
                <a:lnTo>
                  <a:pt x="278409" y="34328"/>
                </a:lnTo>
                <a:lnTo>
                  <a:pt x="304850" y="34328"/>
                </a:lnTo>
                <a:lnTo>
                  <a:pt x="304850" y="48120"/>
                </a:lnTo>
                <a:close/>
              </a:path>
              <a:path extrusionOk="0" h="135889" w="682625">
                <a:moveTo>
                  <a:pt x="279400" y="135191"/>
                </a:moveTo>
                <a:lnTo>
                  <a:pt x="267589" y="135191"/>
                </a:lnTo>
                <a:lnTo>
                  <a:pt x="262089" y="133502"/>
                </a:lnTo>
                <a:lnTo>
                  <a:pt x="258470" y="130073"/>
                </a:lnTo>
                <a:lnTo>
                  <a:pt x="254800" y="126657"/>
                </a:lnTo>
                <a:lnTo>
                  <a:pt x="252958" y="121094"/>
                </a:lnTo>
                <a:lnTo>
                  <a:pt x="252958" y="48120"/>
                </a:lnTo>
                <a:lnTo>
                  <a:pt x="278561" y="48120"/>
                </a:lnTo>
                <a:lnTo>
                  <a:pt x="278561" y="104432"/>
                </a:lnTo>
                <a:lnTo>
                  <a:pt x="278803" y="109042"/>
                </a:lnTo>
                <a:lnTo>
                  <a:pt x="279692" y="114846"/>
                </a:lnTo>
                <a:lnTo>
                  <a:pt x="280644" y="116636"/>
                </a:lnTo>
                <a:lnTo>
                  <a:pt x="283413" y="118122"/>
                </a:lnTo>
                <a:lnTo>
                  <a:pt x="285457" y="118516"/>
                </a:lnTo>
                <a:lnTo>
                  <a:pt x="305942" y="118516"/>
                </a:lnTo>
                <a:lnTo>
                  <a:pt x="308228" y="125272"/>
                </a:lnTo>
                <a:lnTo>
                  <a:pt x="283768" y="134696"/>
                </a:lnTo>
                <a:lnTo>
                  <a:pt x="279400" y="135191"/>
                </a:lnTo>
                <a:close/>
              </a:path>
              <a:path extrusionOk="0" h="135889" w="682625">
                <a:moveTo>
                  <a:pt x="305942" y="118516"/>
                </a:moveTo>
                <a:lnTo>
                  <a:pt x="291109" y="118516"/>
                </a:lnTo>
                <a:lnTo>
                  <a:pt x="294638" y="118122"/>
                </a:lnTo>
                <a:lnTo>
                  <a:pt x="294412" y="118122"/>
                </a:lnTo>
                <a:lnTo>
                  <a:pt x="300431" y="116789"/>
                </a:lnTo>
                <a:lnTo>
                  <a:pt x="302920" y="116039"/>
                </a:lnTo>
                <a:lnTo>
                  <a:pt x="304850" y="115290"/>
                </a:lnTo>
                <a:lnTo>
                  <a:pt x="305942" y="118516"/>
                </a:lnTo>
                <a:close/>
              </a:path>
              <a:path extrusionOk="0" h="135889" w="682625">
                <a:moveTo>
                  <a:pt x="364032" y="135483"/>
                </a:moveTo>
                <a:lnTo>
                  <a:pt x="358622" y="135483"/>
                </a:lnTo>
                <a:lnTo>
                  <a:pt x="350858" y="135065"/>
                </a:lnTo>
                <a:lnTo>
                  <a:pt x="316852" y="110528"/>
                </a:lnTo>
                <a:lnTo>
                  <a:pt x="312054" y="85382"/>
                </a:lnTo>
                <a:lnTo>
                  <a:pt x="312101" y="74968"/>
                </a:lnTo>
                <a:lnTo>
                  <a:pt x="334619" y="37655"/>
                </a:lnTo>
                <a:lnTo>
                  <a:pt x="352869" y="31699"/>
                </a:lnTo>
                <a:lnTo>
                  <a:pt x="360019" y="31699"/>
                </a:lnTo>
                <a:lnTo>
                  <a:pt x="389352" y="43218"/>
                </a:lnTo>
                <a:lnTo>
                  <a:pt x="354558" y="43218"/>
                </a:lnTo>
                <a:lnTo>
                  <a:pt x="352132" y="43713"/>
                </a:lnTo>
                <a:lnTo>
                  <a:pt x="338239" y="74472"/>
                </a:lnTo>
                <a:lnTo>
                  <a:pt x="397630" y="74472"/>
                </a:lnTo>
                <a:lnTo>
                  <a:pt x="397565" y="75653"/>
                </a:lnTo>
                <a:lnTo>
                  <a:pt x="397128" y="80721"/>
                </a:lnTo>
                <a:lnTo>
                  <a:pt x="396773" y="83248"/>
                </a:lnTo>
                <a:lnTo>
                  <a:pt x="396278" y="85382"/>
                </a:lnTo>
                <a:lnTo>
                  <a:pt x="338340" y="85382"/>
                </a:lnTo>
                <a:lnTo>
                  <a:pt x="338531" y="90741"/>
                </a:lnTo>
                <a:lnTo>
                  <a:pt x="357369" y="118719"/>
                </a:lnTo>
                <a:lnTo>
                  <a:pt x="357053" y="118719"/>
                </a:lnTo>
                <a:lnTo>
                  <a:pt x="361403" y="119557"/>
                </a:lnTo>
                <a:lnTo>
                  <a:pt x="395411" y="119557"/>
                </a:lnTo>
                <a:lnTo>
                  <a:pt x="396278" y="121450"/>
                </a:lnTo>
                <a:lnTo>
                  <a:pt x="369239" y="134747"/>
                </a:lnTo>
                <a:lnTo>
                  <a:pt x="364032" y="135483"/>
                </a:lnTo>
                <a:close/>
              </a:path>
              <a:path extrusionOk="0" h="135889" w="682625">
                <a:moveTo>
                  <a:pt x="397630" y="74472"/>
                </a:moveTo>
                <a:lnTo>
                  <a:pt x="372516" y="74472"/>
                </a:lnTo>
                <a:lnTo>
                  <a:pt x="372618" y="73278"/>
                </a:lnTo>
                <a:lnTo>
                  <a:pt x="372668" y="72034"/>
                </a:lnTo>
                <a:lnTo>
                  <a:pt x="372748" y="59042"/>
                </a:lnTo>
                <a:lnTo>
                  <a:pt x="371728" y="54076"/>
                </a:lnTo>
                <a:lnTo>
                  <a:pt x="369392" y="49758"/>
                </a:lnTo>
                <a:lnTo>
                  <a:pt x="367206" y="45593"/>
                </a:lnTo>
                <a:lnTo>
                  <a:pt x="367106" y="45402"/>
                </a:lnTo>
                <a:lnTo>
                  <a:pt x="362991" y="43218"/>
                </a:lnTo>
                <a:lnTo>
                  <a:pt x="389352" y="43218"/>
                </a:lnTo>
                <a:lnTo>
                  <a:pt x="391917" y="46379"/>
                </a:lnTo>
                <a:lnTo>
                  <a:pt x="394993" y="52535"/>
                </a:lnTo>
                <a:lnTo>
                  <a:pt x="396924" y="59645"/>
                </a:lnTo>
                <a:lnTo>
                  <a:pt x="397713" y="67716"/>
                </a:lnTo>
                <a:lnTo>
                  <a:pt x="397630" y="74472"/>
                </a:lnTo>
                <a:close/>
              </a:path>
              <a:path extrusionOk="0" h="135889" w="682625">
                <a:moveTo>
                  <a:pt x="395411" y="119557"/>
                </a:moveTo>
                <a:lnTo>
                  <a:pt x="370636" y="119557"/>
                </a:lnTo>
                <a:lnTo>
                  <a:pt x="375539" y="118719"/>
                </a:lnTo>
                <a:lnTo>
                  <a:pt x="385368" y="115341"/>
                </a:lnTo>
                <a:lnTo>
                  <a:pt x="389288" y="113461"/>
                </a:lnTo>
                <a:lnTo>
                  <a:pt x="391820" y="111721"/>
                </a:lnTo>
                <a:lnTo>
                  <a:pt x="395411" y="119557"/>
                </a:lnTo>
                <a:close/>
              </a:path>
              <a:path extrusionOk="0" h="135889" w="682625">
                <a:moveTo>
                  <a:pt x="452932" y="135483"/>
                </a:moveTo>
                <a:lnTo>
                  <a:pt x="448767" y="135483"/>
                </a:lnTo>
                <a:lnTo>
                  <a:pt x="440064" y="134886"/>
                </a:lnTo>
                <a:lnTo>
                  <a:pt x="440570" y="134886"/>
                </a:lnTo>
                <a:lnTo>
                  <a:pt x="433715" y="133210"/>
                </a:lnTo>
                <a:lnTo>
                  <a:pt x="433872" y="133210"/>
                </a:lnTo>
                <a:lnTo>
                  <a:pt x="428520" y="130527"/>
                </a:lnTo>
                <a:lnTo>
                  <a:pt x="424256" y="126657"/>
                </a:lnTo>
                <a:lnTo>
                  <a:pt x="421065" y="121540"/>
                </a:lnTo>
                <a:lnTo>
                  <a:pt x="418787" y="114977"/>
                </a:lnTo>
                <a:lnTo>
                  <a:pt x="417546" y="107708"/>
                </a:lnTo>
                <a:lnTo>
                  <a:pt x="417421" y="106974"/>
                </a:lnTo>
                <a:lnTo>
                  <a:pt x="416966" y="97536"/>
                </a:lnTo>
                <a:lnTo>
                  <a:pt x="416966" y="47078"/>
                </a:lnTo>
                <a:lnTo>
                  <a:pt x="408038" y="44551"/>
                </a:lnTo>
                <a:lnTo>
                  <a:pt x="408038" y="34480"/>
                </a:lnTo>
                <a:lnTo>
                  <a:pt x="438403" y="32156"/>
                </a:lnTo>
                <a:lnTo>
                  <a:pt x="438594" y="32156"/>
                </a:lnTo>
                <a:lnTo>
                  <a:pt x="442315" y="34480"/>
                </a:lnTo>
                <a:lnTo>
                  <a:pt x="442315" y="103136"/>
                </a:lnTo>
                <a:lnTo>
                  <a:pt x="442688" y="106974"/>
                </a:lnTo>
                <a:lnTo>
                  <a:pt x="442760" y="107708"/>
                </a:lnTo>
                <a:lnTo>
                  <a:pt x="443661" y="111023"/>
                </a:lnTo>
                <a:lnTo>
                  <a:pt x="444550" y="114401"/>
                </a:lnTo>
                <a:lnTo>
                  <a:pt x="446087" y="116839"/>
                </a:lnTo>
                <a:lnTo>
                  <a:pt x="450456" y="119913"/>
                </a:lnTo>
                <a:lnTo>
                  <a:pt x="453018" y="120548"/>
                </a:lnTo>
                <a:lnTo>
                  <a:pt x="479577" y="120548"/>
                </a:lnTo>
                <a:lnTo>
                  <a:pt x="477685" y="122885"/>
                </a:lnTo>
                <a:lnTo>
                  <a:pt x="456996" y="134696"/>
                </a:lnTo>
                <a:lnTo>
                  <a:pt x="452932" y="135483"/>
                </a:lnTo>
                <a:close/>
              </a:path>
              <a:path extrusionOk="0" h="135889" w="682625">
                <a:moveTo>
                  <a:pt x="495503" y="135191"/>
                </a:moveTo>
                <a:lnTo>
                  <a:pt x="486918" y="135191"/>
                </a:lnTo>
                <a:lnTo>
                  <a:pt x="484035" y="134391"/>
                </a:lnTo>
                <a:lnTo>
                  <a:pt x="480466" y="131127"/>
                </a:lnTo>
                <a:lnTo>
                  <a:pt x="479577" y="128638"/>
                </a:lnTo>
                <a:lnTo>
                  <a:pt x="479577" y="120548"/>
                </a:lnTo>
                <a:lnTo>
                  <a:pt x="460971" y="120548"/>
                </a:lnTo>
                <a:lnTo>
                  <a:pt x="476694" y="112623"/>
                </a:lnTo>
                <a:lnTo>
                  <a:pt x="476694" y="47078"/>
                </a:lnTo>
                <a:lnTo>
                  <a:pt x="464845" y="44310"/>
                </a:lnTo>
                <a:lnTo>
                  <a:pt x="464845" y="34480"/>
                </a:lnTo>
                <a:lnTo>
                  <a:pt x="497230" y="32156"/>
                </a:lnTo>
                <a:lnTo>
                  <a:pt x="497687" y="32156"/>
                </a:lnTo>
                <a:lnTo>
                  <a:pt x="501903" y="34480"/>
                </a:lnTo>
                <a:lnTo>
                  <a:pt x="501903" y="122339"/>
                </a:lnTo>
                <a:lnTo>
                  <a:pt x="511822" y="122339"/>
                </a:lnTo>
                <a:lnTo>
                  <a:pt x="511721" y="132511"/>
                </a:lnTo>
                <a:lnTo>
                  <a:pt x="509587" y="133007"/>
                </a:lnTo>
                <a:lnTo>
                  <a:pt x="499567" y="134886"/>
                </a:lnTo>
                <a:lnTo>
                  <a:pt x="495503" y="135191"/>
                </a:lnTo>
                <a:close/>
              </a:path>
              <a:path extrusionOk="0" h="135889" w="682625">
                <a:moveTo>
                  <a:pt x="580872" y="133502"/>
                </a:moveTo>
                <a:lnTo>
                  <a:pt x="523036" y="133502"/>
                </a:lnTo>
                <a:lnTo>
                  <a:pt x="523036" y="122885"/>
                </a:lnTo>
                <a:lnTo>
                  <a:pt x="535615" y="121348"/>
                </a:lnTo>
                <a:lnTo>
                  <a:pt x="534784" y="121348"/>
                </a:lnTo>
                <a:lnTo>
                  <a:pt x="534784" y="51244"/>
                </a:lnTo>
                <a:lnTo>
                  <a:pt x="523379" y="47980"/>
                </a:lnTo>
                <a:lnTo>
                  <a:pt x="523379" y="35471"/>
                </a:lnTo>
                <a:lnTo>
                  <a:pt x="524170" y="35471"/>
                </a:lnTo>
                <a:lnTo>
                  <a:pt x="551167" y="32003"/>
                </a:lnTo>
                <a:lnTo>
                  <a:pt x="551662" y="32003"/>
                </a:lnTo>
                <a:lnTo>
                  <a:pt x="556323" y="35471"/>
                </a:lnTo>
                <a:lnTo>
                  <a:pt x="556248" y="41528"/>
                </a:lnTo>
                <a:lnTo>
                  <a:pt x="556158" y="44107"/>
                </a:lnTo>
                <a:lnTo>
                  <a:pt x="556070" y="46634"/>
                </a:lnTo>
                <a:lnTo>
                  <a:pt x="555985" y="49072"/>
                </a:lnTo>
                <a:lnTo>
                  <a:pt x="555898" y="51549"/>
                </a:lnTo>
                <a:lnTo>
                  <a:pt x="555777" y="55016"/>
                </a:lnTo>
                <a:lnTo>
                  <a:pt x="595807" y="55016"/>
                </a:lnTo>
                <a:lnTo>
                  <a:pt x="595807" y="56553"/>
                </a:lnTo>
                <a:lnTo>
                  <a:pt x="578739" y="56553"/>
                </a:lnTo>
                <a:lnTo>
                  <a:pt x="575424" y="56959"/>
                </a:lnTo>
                <a:lnTo>
                  <a:pt x="572541" y="57848"/>
                </a:lnTo>
                <a:lnTo>
                  <a:pt x="569671" y="58686"/>
                </a:lnTo>
                <a:lnTo>
                  <a:pt x="567181" y="59689"/>
                </a:lnTo>
                <a:lnTo>
                  <a:pt x="563118" y="61861"/>
                </a:lnTo>
                <a:lnTo>
                  <a:pt x="561479" y="62903"/>
                </a:lnTo>
                <a:lnTo>
                  <a:pt x="560146" y="63855"/>
                </a:lnTo>
                <a:lnTo>
                  <a:pt x="560146" y="121348"/>
                </a:lnTo>
                <a:lnTo>
                  <a:pt x="579587" y="122885"/>
                </a:lnTo>
                <a:lnTo>
                  <a:pt x="580872" y="122885"/>
                </a:lnTo>
                <a:lnTo>
                  <a:pt x="580872" y="133502"/>
                </a:lnTo>
                <a:close/>
              </a:path>
              <a:path extrusionOk="0" h="135889" w="682625">
                <a:moveTo>
                  <a:pt x="595807" y="55016"/>
                </a:moveTo>
                <a:lnTo>
                  <a:pt x="556323" y="55016"/>
                </a:lnTo>
                <a:lnTo>
                  <a:pt x="556869" y="53530"/>
                </a:lnTo>
                <a:lnTo>
                  <a:pt x="584250" y="32550"/>
                </a:lnTo>
                <a:lnTo>
                  <a:pt x="591419" y="32550"/>
                </a:lnTo>
                <a:lnTo>
                  <a:pt x="594220" y="33147"/>
                </a:lnTo>
                <a:lnTo>
                  <a:pt x="595109" y="33388"/>
                </a:lnTo>
                <a:lnTo>
                  <a:pt x="595807" y="33693"/>
                </a:lnTo>
                <a:lnTo>
                  <a:pt x="595807" y="55016"/>
                </a:lnTo>
                <a:close/>
              </a:path>
              <a:path extrusionOk="0" h="135889" w="682625">
                <a:moveTo>
                  <a:pt x="595807" y="59385"/>
                </a:moveTo>
                <a:lnTo>
                  <a:pt x="594664" y="58547"/>
                </a:lnTo>
                <a:lnTo>
                  <a:pt x="592830" y="57848"/>
                </a:lnTo>
                <a:lnTo>
                  <a:pt x="588810" y="56807"/>
                </a:lnTo>
                <a:lnTo>
                  <a:pt x="586041" y="56553"/>
                </a:lnTo>
                <a:lnTo>
                  <a:pt x="595807" y="56553"/>
                </a:lnTo>
                <a:lnTo>
                  <a:pt x="595807" y="59385"/>
                </a:lnTo>
                <a:close/>
              </a:path>
              <a:path extrusionOk="0" h="135889" w="682625">
                <a:moveTo>
                  <a:pt x="671017" y="64490"/>
                </a:moveTo>
                <a:lnTo>
                  <a:pt x="662381" y="64490"/>
                </a:lnTo>
                <a:lnTo>
                  <a:pt x="658959" y="63157"/>
                </a:lnTo>
                <a:lnTo>
                  <a:pt x="653453" y="58140"/>
                </a:lnTo>
                <a:lnTo>
                  <a:pt x="652018" y="54927"/>
                </a:lnTo>
                <a:lnTo>
                  <a:pt x="652018" y="46443"/>
                </a:lnTo>
                <a:lnTo>
                  <a:pt x="653656" y="42811"/>
                </a:lnTo>
                <a:lnTo>
                  <a:pt x="660158" y="37211"/>
                </a:lnTo>
                <a:lnTo>
                  <a:pt x="663917" y="35826"/>
                </a:lnTo>
                <a:lnTo>
                  <a:pt x="672807" y="35826"/>
                </a:lnTo>
                <a:lnTo>
                  <a:pt x="676275" y="37211"/>
                </a:lnTo>
                <a:lnTo>
                  <a:pt x="678700" y="40043"/>
                </a:lnTo>
                <a:lnTo>
                  <a:pt x="681189" y="42811"/>
                </a:lnTo>
                <a:lnTo>
                  <a:pt x="682383" y="45986"/>
                </a:lnTo>
                <a:lnTo>
                  <a:pt x="682383" y="54178"/>
                </a:lnTo>
                <a:lnTo>
                  <a:pt x="680885" y="57848"/>
                </a:lnTo>
                <a:lnTo>
                  <a:pt x="674890" y="63157"/>
                </a:lnTo>
                <a:lnTo>
                  <a:pt x="671017" y="64490"/>
                </a:lnTo>
                <a:close/>
              </a:path>
              <a:path extrusionOk="0" h="135889" w="682625">
                <a:moveTo>
                  <a:pt x="671017" y="135089"/>
                </a:moveTo>
                <a:lnTo>
                  <a:pt x="662381" y="135089"/>
                </a:lnTo>
                <a:lnTo>
                  <a:pt x="658775" y="133756"/>
                </a:lnTo>
                <a:lnTo>
                  <a:pt x="658919" y="133756"/>
                </a:lnTo>
                <a:lnTo>
                  <a:pt x="653453" y="128689"/>
                </a:lnTo>
                <a:lnTo>
                  <a:pt x="652018" y="125412"/>
                </a:lnTo>
                <a:lnTo>
                  <a:pt x="652018" y="117030"/>
                </a:lnTo>
                <a:lnTo>
                  <a:pt x="653714" y="113360"/>
                </a:lnTo>
                <a:lnTo>
                  <a:pt x="656882" y="110578"/>
                </a:lnTo>
                <a:lnTo>
                  <a:pt x="660158" y="107759"/>
                </a:lnTo>
                <a:lnTo>
                  <a:pt x="663917" y="106362"/>
                </a:lnTo>
                <a:lnTo>
                  <a:pt x="672807" y="106362"/>
                </a:lnTo>
                <a:lnTo>
                  <a:pt x="676275" y="107759"/>
                </a:lnTo>
                <a:lnTo>
                  <a:pt x="681189" y="113360"/>
                </a:lnTo>
                <a:lnTo>
                  <a:pt x="682383" y="116535"/>
                </a:lnTo>
                <a:lnTo>
                  <a:pt x="682383" y="124777"/>
                </a:lnTo>
                <a:lnTo>
                  <a:pt x="680885" y="128397"/>
                </a:lnTo>
                <a:lnTo>
                  <a:pt x="677862" y="131076"/>
                </a:lnTo>
                <a:lnTo>
                  <a:pt x="674890" y="133756"/>
                </a:lnTo>
                <a:lnTo>
                  <a:pt x="671017" y="135089"/>
                </a:lnTo>
                <a:close/>
              </a:path>
            </a:pathLst>
          </a:custGeom>
          <a:solidFill>
            <a:srgbClr val="00958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55812" y="5881938"/>
            <a:ext cx="1216418" cy="155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574437" y="6301483"/>
            <a:ext cx="1995043" cy="204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40632" y="6584604"/>
            <a:ext cx="726338" cy="9986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-38100" y="7621128"/>
            <a:ext cx="523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sur 20</a:t>
            </a:r>
            <a:endParaRPr/>
          </a:p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9114472" y="7621128"/>
            <a:ext cx="95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08/06/2026, 22:37</a:t>
            </a:r>
            <a:endParaRPr/>
          </a:p>
        </p:txBody>
      </p:sp>
      <p:sp>
        <p:nvSpPr>
          <p:cNvPr id="69" name="Google Shape;69;p9"/>
          <p:cNvSpPr txBox="1"/>
          <p:nvPr/>
        </p:nvSpPr>
        <p:spPr>
          <a:xfrm>
            <a:off x="4088024" y="7591793"/>
            <a:ext cx="16143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A31"/>
                </a:solidFill>
                <a:latin typeface="Trebuchet MS"/>
                <a:ea typeface="Trebuchet MS"/>
                <a:cs typeface="Trebuchet MS"/>
                <a:sym typeface="Trebuchet MS"/>
              </a:rPr>
              <a:t>SAN-Log_it – Modélisation ESN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0" name="Google Shape;70;p9" title="1000004042.jp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422540" y="778910"/>
            <a:ext cx="1925449" cy="1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 txBox="1"/>
          <p:nvPr/>
        </p:nvSpPr>
        <p:spPr>
          <a:xfrm>
            <a:off x="7206147" y="5214475"/>
            <a:ext cx="2513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Soutenance du 23 juin 2026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394237" y="5067100"/>
            <a:ext cx="28527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latin typeface="Times New Roman"/>
                <a:ea typeface="Times New Roman"/>
                <a:cs typeface="Times New Roman"/>
                <a:sym typeface="Times New Roman"/>
              </a:rPr>
              <a:t>SAN-log_it</a:t>
            </a:r>
            <a:endParaRPr b="1" sz="3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/>
          <p:nvPr/>
        </p:nvSpPr>
        <p:spPr>
          <a:xfrm>
            <a:off x="483844" y="1820811"/>
            <a:ext cx="38100" cy="511809"/>
          </a:xfrm>
          <a:custGeom>
            <a:rect b="b" l="l" r="r" t="t"/>
            <a:pathLst>
              <a:path extrusionOk="0" h="511810" w="38100">
                <a:moveTo>
                  <a:pt x="37896" y="511327"/>
                </a:moveTo>
                <a:lnTo>
                  <a:pt x="0" y="511378"/>
                </a:lnTo>
                <a:lnTo>
                  <a:pt x="0" y="0"/>
                </a:lnTo>
                <a:lnTo>
                  <a:pt x="37896" y="0"/>
                </a:lnTo>
                <a:lnTo>
                  <a:pt x="37896" y="511327"/>
                </a:lnTo>
                <a:close/>
              </a:path>
            </a:pathLst>
          </a:custGeom>
          <a:solidFill>
            <a:srgbClr val="E9570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0"/>
          <p:cNvSpPr/>
          <p:nvPr/>
        </p:nvSpPr>
        <p:spPr>
          <a:xfrm>
            <a:off x="483844" y="3387331"/>
            <a:ext cx="9091295" cy="5715"/>
          </a:xfrm>
          <a:custGeom>
            <a:rect b="b" l="l" r="r" t="t"/>
            <a:pathLst>
              <a:path extrusionOk="0" h="5714" w="9091295">
                <a:moveTo>
                  <a:pt x="9090672" y="5410"/>
                </a:moveTo>
                <a:lnTo>
                  <a:pt x="0" y="5410"/>
                </a:lnTo>
                <a:lnTo>
                  <a:pt x="0" y="0"/>
                </a:lnTo>
                <a:lnTo>
                  <a:pt x="9090672" y="0"/>
                </a:lnTo>
                <a:lnTo>
                  <a:pt x="9090672" y="5410"/>
                </a:lnTo>
                <a:close/>
              </a:path>
            </a:pathLst>
          </a:custGeom>
          <a:solidFill>
            <a:srgbClr val="E2E8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0"/>
          <p:cNvSpPr/>
          <p:nvPr/>
        </p:nvSpPr>
        <p:spPr>
          <a:xfrm>
            <a:off x="483844" y="4050157"/>
            <a:ext cx="9091295" cy="5715"/>
          </a:xfrm>
          <a:custGeom>
            <a:rect b="b" l="l" r="r" t="t"/>
            <a:pathLst>
              <a:path extrusionOk="0" h="5714" w="9091295">
                <a:moveTo>
                  <a:pt x="9090672" y="5410"/>
                </a:moveTo>
                <a:lnTo>
                  <a:pt x="0" y="5410"/>
                </a:lnTo>
                <a:lnTo>
                  <a:pt x="0" y="0"/>
                </a:lnTo>
                <a:lnTo>
                  <a:pt x="9090672" y="0"/>
                </a:lnTo>
                <a:lnTo>
                  <a:pt x="9090672" y="5410"/>
                </a:lnTo>
                <a:close/>
              </a:path>
            </a:pathLst>
          </a:custGeom>
          <a:solidFill>
            <a:srgbClr val="E2E8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0"/>
          <p:cNvSpPr/>
          <p:nvPr/>
        </p:nvSpPr>
        <p:spPr>
          <a:xfrm>
            <a:off x="521950" y="4847140"/>
            <a:ext cx="9091295" cy="210818"/>
          </a:xfrm>
          <a:custGeom>
            <a:rect b="b" l="l" r="r" t="t"/>
            <a:pathLst>
              <a:path extrusionOk="0" h="5714" w="9091295">
                <a:moveTo>
                  <a:pt x="9090672" y="5410"/>
                </a:moveTo>
                <a:lnTo>
                  <a:pt x="0" y="5410"/>
                </a:lnTo>
                <a:lnTo>
                  <a:pt x="0" y="0"/>
                </a:lnTo>
                <a:lnTo>
                  <a:pt x="9090672" y="0"/>
                </a:lnTo>
                <a:lnTo>
                  <a:pt x="9090672" y="5410"/>
                </a:lnTo>
                <a:close/>
              </a:path>
            </a:pathLst>
          </a:custGeom>
          <a:solidFill>
            <a:srgbClr val="E2E8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0"/>
          <p:cNvSpPr txBox="1"/>
          <p:nvPr/>
        </p:nvSpPr>
        <p:spPr>
          <a:xfrm>
            <a:off x="592900" y="3061450"/>
            <a:ext cx="3952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non obligatoire, pas de mission terrain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0"/>
          <p:cNvSpPr txBox="1"/>
          <p:nvPr/>
        </p:nvSpPr>
        <p:spPr>
          <a:xfrm>
            <a:off x="5274326" y="3061450"/>
            <a:ext cx="3783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Mémoire prospectif de modélisation d'entreprise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0"/>
          <p:cNvSpPr txBox="1"/>
          <p:nvPr/>
        </p:nvSpPr>
        <p:spPr>
          <a:xfrm>
            <a:off x="592900" y="3446725"/>
            <a:ext cx="41028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SARL SAN-log_it existe (SIRET 987 619 145 00012)</a:t>
            </a:r>
            <a:endParaRPr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actuellement </a:t>
            </a: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sans client</a:t>
            </a:r>
            <a:endParaRPr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0"/>
          <p:cNvSpPr txBox="1"/>
          <p:nvPr/>
        </p:nvSpPr>
        <p:spPr>
          <a:xfrm>
            <a:off x="5274326" y="3446725"/>
            <a:ext cx="36936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au Jour 0 – activité réelle à lancer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0"/>
          <p:cNvSpPr txBox="1"/>
          <p:nvPr/>
        </p:nvSpPr>
        <p:spPr>
          <a:xfrm>
            <a:off x="580815" y="4184325"/>
            <a:ext cx="31746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 de retour d'expérience client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0"/>
          <p:cNvSpPr txBox="1"/>
          <p:nvPr/>
        </p:nvSpPr>
        <p:spPr>
          <a:xfrm>
            <a:off x="5274325" y="4109575"/>
            <a:ext cx="36936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26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 par preuves de concept :</a:t>
            </a:r>
            <a:endParaRPr b="1">
              <a:solidFill>
                <a:srgbClr val="33415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26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(site web, simulateur, labo virtuel</a:t>
            </a: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0"/>
          <p:cNvSpPr/>
          <p:nvPr/>
        </p:nvSpPr>
        <p:spPr>
          <a:xfrm>
            <a:off x="11873766" y="822402"/>
            <a:ext cx="278765" cy="186055"/>
          </a:xfrm>
          <a:custGeom>
            <a:rect b="b" l="l" r="r" t="t"/>
            <a:pathLst>
              <a:path extrusionOk="0" h="186055" w="278765">
                <a:moveTo>
                  <a:pt x="92824" y="185686"/>
                </a:moveTo>
                <a:lnTo>
                  <a:pt x="0" y="185686"/>
                </a:lnTo>
                <a:lnTo>
                  <a:pt x="0" y="0"/>
                </a:lnTo>
                <a:lnTo>
                  <a:pt x="92824" y="0"/>
                </a:lnTo>
                <a:lnTo>
                  <a:pt x="148529" y="69608"/>
                </a:lnTo>
                <a:lnTo>
                  <a:pt x="92824" y="69608"/>
                </a:lnTo>
                <a:lnTo>
                  <a:pt x="92824" y="185686"/>
                </a:lnTo>
                <a:close/>
              </a:path>
              <a:path extrusionOk="0" h="186055" w="278765">
                <a:moveTo>
                  <a:pt x="278561" y="116039"/>
                </a:moveTo>
                <a:lnTo>
                  <a:pt x="185686" y="116039"/>
                </a:lnTo>
                <a:lnTo>
                  <a:pt x="185686" y="0"/>
                </a:lnTo>
                <a:lnTo>
                  <a:pt x="278561" y="0"/>
                </a:lnTo>
                <a:lnTo>
                  <a:pt x="278561" y="116039"/>
                </a:lnTo>
                <a:close/>
              </a:path>
              <a:path extrusionOk="0" h="186055" w="278765">
                <a:moveTo>
                  <a:pt x="278561" y="185686"/>
                </a:moveTo>
                <a:lnTo>
                  <a:pt x="185686" y="185686"/>
                </a:lnTo>
                <a:lnTo>
                  <a:pt x="92824" y="69608"/>
                </a:lnTo>
                <a:lnTo>
                  <a:pt x="148529" y="69608"/>
                </a:lnTo>
                <a:lnTo>
                  <a:pt x="185686" y="116039"/>
                </a:lnTo>
                <a:lnTo>
                  <a:pt x="278561" y="116039"/>
                </a:lnTo>
                <a:lnTo>
                  <a:pt x="278561" y="185686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"/>
          <p:cNvSpPr/>
          <p:nvPr/>
        </p:nvSpPr>
        <p:spPr>
          <a:xfrm>
            <a:off x="12198760" y="822402"/>
            <a:ext cx="162559" cy="186055"/>
          </a:xfrm>
          <a:custGeom>
            <a:rect b="b" l="l" r="r" t="t"/>
            <a:pathLst>
              <a:path extrusionOk="0" h="186055" w="162559">
                <a:moveTo>
                  <a:pt x="129971" y="92824"/>
                </a:moveTo>
                <a:lnTo>
                  <a:pt x="128320" y="84709"/>
                </a:lnTo>
                <a:lnTo>
                  <a:pt x="123837" y="78066"/>
                </a:lnTo>
                <a:lnTo>
                  <a:pt x="117208" y="73583"/>
                </a:lnTo>
                <a:lnTo>
                  <a:pt x="109093" y="71932"/>
                </a:lnTo>
                <a:lnTo>
                  <a:pt x="20891" y="71932"/>
                </a:lnTo>
                <a:lnTo>
                  <a:pt x="12738" y="73583"/>
                </a:lnTo>
                <a:lnTo>
                  <a:pt x="6096" y="78066"/>
                </a:lnTo>
                <a:lnTo>
                  <a:pt x="1625" y="84709"/>
                </a:lnTo>
                <a:lnTo>
                  <a:pt x="0" y="92824"/>
                </a:lnTo>
                <a:lnTo>
                  <a:pt x="1625" y="100965"/>
                </a:lnTo>
                <a:lnTo>
                  <a:pt x="6096" y="107607"/>
                </a:lnTo>
                <a:lnTo>
                  <a:pt x="12738" y="112077"/>
                </a:lnTo>
                <a:lnTo>
                  <a:pt x="20891" y="113703"/>
                </a:lnTo>
                <a:lnTo>
                  <a:pt x="109093" y="113703"/>
                </a:lnTo>
                <a:lnTo>
                  <a:pt x="117208" y="112077"/>
                </a:lnTo>
                <a:lnTo>
                  <a:pt x="123837" y="107607"/>
                </a:lnTo>
                <a:lnTo>
                  <a:pt x="128320" y="100965"/>
                </a:lnTo>
                <a:lnTo>
                  <a:pt x="129971" y="92824"/>
                </a:lnTo>
                <a:close/>
              </a:path>
              <a:path extrusionOk="0" h="186055" w="162559">
                <a:moveTo>
                  <a:pt x="162471" y="164807"/>
                </a:moveTo>
                <a:lnTo>
                  <a:pt x="160820" y="156667"/>
                </a:lnTo>
                <a:lnTo>
                  <a:pt x="156337" y="150025"/>
                </a:lnTo>
                <a:lnTo>
                  <a:pt x="149694" y="145554"/>
                </a:lnTo>
                <a:lnTo>
                  <a:pt x="141579" y="143916"/>
                </a:lnTo>
                <a:lnTo>
                  <a:pt x="20891" y="143916"/>
                </a:lnTo>
                <a:lnTo>
                  <a:pt x="12738" y="145554"/>
                </a:lnTo>
                <a:lnTo>
                  <a:pt x="6096" y="150025"/>
                </a:lnTo>
                <a:lnTo>
                  <a:pt x="1625" y="156667"/>
                </a:lnTo>
                <a:lnTo>
                  <a:pt x="0" y="164807"/>
                </a:lnTo>
                <a:lnTo>
                  <a:pt x="1625" y="172935"/>
                </a:lnTo>
                <a:lnTo>
                  <a:pt x="6096" y="179565"/>
                </a:lnTo>
                <a:lnTo>
                  <a:pt x="12738" y="184048"/>
                </a:lnTo>
                <a:lnTo>
                  <a:pt x="20891" y="185686"/>
                </a:lnTo>
                <a:lnTo>
                  <a:pt x="141579" y="185686"/>
                </a:lnTo>
                <a:lnTo>
                  <a:pt x="149694" y="184048"/>
                </a:lnTo>
                <a:lnTo>
                  <a:pt x="156337" y="179565"/>
                </a:lnTo>
                <a:lnTo>
                  <a:pt x="160820" y="172935"/>
                </a:lnTo>
                <a:lnTo>
                  <a:pt x="162471" y="164807"/>
                </a:lnTo>
                <a:close/>
              </a:path>
              <a:path extrusionOk="0" h="186055" w="162559">
                <a:moveTo>
                  <a:pt x="162471" y="20891"/>
                </a:moveTo>
                <a:lnTo>
                  <a:pt x="160820" y="12750"/>
                </a:lnTo>
                <a:lnTo>
                  <a:pt x="156337" y="6108"/>
                </a:lnTo>
                <a:lnTo>
                  <a:pt x="149694" y="1638"/>
                </a:lnTo>
                <a:lnTo>
                  <a:pt x="141579" y="0"/>
                </a:lnTo>
                <a:lnTo>
                  <a:pt x="20891" y="0"/>
                </a:lnTo>
                <a:lnTo>
                  <a:pt x="12738" y="1638"/>
                </a:lnTo>
                <a:lnTo>
                  <a:pt x="6096" y="6108"/>
                </a:lnTo>
                <a:lnTo>
                  <a:pt x="1625" y="12750"/>
                </a:lnTo>
                <a:lnTo>
                  <a:pt x="0" y="20891"/>
                </a:lnTo>
                <a:lnTo>
                  <a:pt x="1625" y="29019"/>
                </a:lnTo>
                <a:lnTo>
                  <a:pt x="6096" y="35648"/>
                </a:lnTo>
                <a:lnTo>
                  <a:pt x="12738" y="40132"/>
                </a:lnTo>
                <a:lnTo>
                  <a:pt x="20891" y="41770"/>
                </a:lnTo>
                <a:lnTo>
                  <a:pt x="141579" y="41770"/>
                </a:lnTo>
                <a:lnTo>
                  <a:pt x="149694" y="40132"/>
                </a:lnTo>
                <a:lnTo>
                  <a:pt x="156337" y="35648"/>
                </a:lnTo>
                <a:lnTo>
                  <a:pt x="160820" y="29019"/>
                </a:lnTo>
                <a:lnTo>
                  <a:pt x="162471" y="20891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" name="Google Shape;89;p10"/>
          <p:cNvGrpSpPr/>
          <p:nvPr/>
        </p:nvGrpSpPr>
        <p:grpSpPr>
          <a:xfrm>
            <a:off x="12431468" y="822402"/>
            <a:ext cx="440620" cy="186055"/>
            <a:chOff x="8995162" y="1120228"/>
            <a:chExt cx="440620" cy="186055"/>
          </a:xfrm>
        </p:grpSpPr>
        <p:pic>
          <p:nvPicPr>
            <p:cNvPr id="90" name="Google Shape;90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995162" y="1132405"/>
              <a:ext cx="161312" cy="16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10"/>
            <p:cNvSpPr/>
            <p:nvPr/>
          </p:nvSpPr>
          <p:spPr>
            <a:xfrm>
              <a:off x="9110662" y="1120228"/>
              <a:ext cx="325120" cy="186055"/>
            </a:xfrm>
            <a:custGeom>
              <a:rect b="b" l="l" r="r" t="t"/>
              <a:pathLst>
                <a:path extrusionOk="0" h="186055" w="325120">
                  <a:moveTo>
                    <a:pt x="92824" y="185686"/>
                  </a:moveTo>
                  <a:lnTo>
                    <a:pt x="0" y="185686"/>
                  </a:lnTo>
                  <a:lnTo>
                    <a:pt x="208902" y="0"/>
                  </a:lnTo>
                  <a:lnTo>
                    <a:pt x="237899" y="46380"/>
                  </a:lnTo>
                  <a:lnTo>
                    <a:pt x="162471" y="46380"/>
                  </a:lnTo>
                  <a:lnTo>
                    <a:pt x="129971" y="102095"/>
                  </a:lnTo>
                  <a:lnTo>
                    <a:pt x="272731" y="102095"/>
                  </a:lnTo>
                  <a:lnTo>
                    <a:pt x="287246" y="125310"/>
                  </a:lnTo>
                  <a:lnTo>
                    <a:pt x="125310" y="125310"/>
                  </a:lnTo>
                  <a:lnTo>
                    <a:pt x="92824" y="185686"/>
                  </a:lnTo>
                  <a:close/>
                </a:path>
                <a:path extrusionOk="0" h="186055" w="325120">
                  <a:moveTo>
                    <a:pt x="272731" y="102095"/>
                  </a:moveTo>
                  <a:lnTo>
                    <a:pt x="194970" y="102095"/>
                  </a:lnTo>
                  <a:lnTo>
                    <a:pt x="162471" y="46380"/>
                  </a:lnTo>
                  <a:lnTo>
                    <a:pt x="237899" y="46380"/>
                  </a:lnTo>
                  <a:lnTo>
                    <a:pt x="272731" y="102095"/>
                  </a:lnTo>
                  <a:close/>
                </a:path>
                <a:path extrusionOk="0" h="186055" w="325120">
                  <a:moveTo>
                    <a:pt x="324993" y="185686"/>
                  </a:moveTo>
                  <a:lnTo>
                    <a:pt x="232117" y="185686"/>
                  </a:lnTo>
                  <a:lnTo>
                    <a:pt x="199631" y="125310"/>
                  </a:lnTo>
                  <a:lnTo>
                    <a:pt x="287246" y="125310"/>
                  </a:lnTo>
                  <a:lnTo>
                    <a:pt x="324993" y="185686"/>
                  </a:lnTo>
                  <a:close/>
                </a:path>
              </a:pathLst>
            </a:custGeom>
            <a:solidFill>
              <a:srgbClr val="2F0D6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p10"/>
          <p:cNvSpPr txBox="1"/>
          <p:nvPr/>
        </p:nvSpPr>
        <p:spPr>
          <a:xfrm>
            <a:off x="598310" y="5307191"/>
            <a:ext cx="87288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 mémoire n'est pas un rapport de stage.</a:t>
            </a:r>
            <a:r>
              <a:rPr lang="en-US">
                <a:solidFill>
                  <a:srgbClr val="7E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C'est un </a:t>
            </a:r>
            <a:r>
              <a:rPr b="1" lang="en-US">
                <a:solidFill>
                  <a:srgbClr val="7E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plan technique et stratégique </a:t>
            </a:r>
            <a:r>
              <a:rPr lang="en-US">
                <a:solidFill>
                  <a:srgbClr val="7E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pour une </a:t>
            </a:r>
            <a:r>
              <a:rPr b="1" lang="en-US">
                <a:solidFill>
                  <a:srgbClr val="7E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ESN en création</a:t>
            </a:r>
            <a:r>
              <a:rPr lang="en-US">
                <a:solidFill>
                  <a:srgbClr val="7E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que j'ai construite légalement mais qui n'a pas encore de contrat. Toutes les affirmations techniques sont étayées par des preuves de concept.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0"/>
          <p:cNvSpPr txBox="1"/>
          <p:nvPr>
            <p:ph idx="12" type="sldNum"/>
          </p:nvPr>
        </p:nvSpPr>
        <p:spPr>
          <a:xfrm>
            <a:off x="-38100" y="7621128"/>
            <a:ext cx="523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sur 20</a:t>
            </a:r>
            <a:endParaRPr/>
          </a:p>
        </p:txBody>
      </p:sp>
      <p:sp>
        <p:nvSpPr>
          <p:cNvPr id="94" name="Google Shape;94;p10"/>
          <p:cNvSpPr txBox="1"/>
          <p:nvPr/>
        </p:nvSpPr>
        <p:spPr>
          <a:xfrm>
            <a:off x="4088024" y="7591793"/>
            <a:ext cx="16143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A31"/>
                </a:solidFill>
                <a:latin typeface="Trebuchet MS"/>
                <a:ea typeface="Trebuchet MS"/>
                <a:cs typeface="Trebuchet MS"/>
                <a:sym typeface="Trebuchet MS"/>
              </a:rPr>
              <a:t>SAN-Log_it – Modélisation ESN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5" name="Google Shape;95;p10" title="logo-decoupe-sans-blan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38626" y="1309159"/>
            <a:ext cx="692860" cy="695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0" title="100000404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2540" y="778910"/>
            <a:ext cx="1925449" cy="1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0"/>
          <p:cNvSpPr txBox="1"/>
          <p:nvPr/>
        </p:nvSpPr>
        <p:spPr>
          <a:xfrm>
            <a:off x="418881" y="915378"/>
            <a:ext cx="3746700" cy="6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F0D6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Contextes et contraintes</a:t>
            </a:r>
            <a:endParaRPr b="1" sz="2500">
              <a:solidFill>
                <a:srgbClr val="2F0D6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0"/>
          <p:cNvSpPr txBox="1"/>
          <p:nvPr/>
        </p:nvSpPr>
        <p:spPr>
          <a:xfrm>
            <a:off x="512974" y="2521674"/>
            <a:ext cx="9570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Constat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0"/>
          <p:cNvSpPr txBox="1"/>
          <p:nvPr/>
        </p:nvSpPr>
        <p:spPr>
          <a:xfrm>
            <a:off x="5173485" y="2513468"/>
            <a:ext cx="17796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Réponse apportée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0"/>
          <p:cNvSpPr txBox="1"/>
          <p:nvPr/>
        </p:nvSpPr>
        <p:spPr>
          <a:xfrm>
            <a:off x="575037" y="1982350"/>
            <a:ext cx="50487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 clef : </a:t>
            </a:r>
            <a:r>
              <a:rPr lang="en-US" sz="1600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J’assume la nature spéculative du mémoire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0"/>
          <p:cNvSpPr txBox="1"/>
          <p:nvPr>
            <p:ph idx="11" type="ftr"/>
          </p:nvPr>
        </p:nvSpPr>
        <p:spPr>
          <a:xfrm>
            <a:off x="9114472" y="7621128"/>
            <a:ext cx="95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08/06/2026, 22:37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443" y="1059371"/>
            <a:ext cx="4185348" cy="36770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1"/>
          <p:cNvSpPr/>
          <p:nvPr/>
        </p:nvSpPr>
        <p:spPr>
          <a:xfrm>
            <a:off x="483844" y="1815058"/>
            <a:ext cx="38100" cy="1506854"/>
          </a:xfrm>
          <a:custGeom>
            <a:rect b="b" l="l" r="r" t="t"/>
            <a:pathLst>
              <a:path extrusionOk="0" h="1506854" w="38100">
                <a:moveTo>
                  <a:pt x="37896" y="1506435"/>
                </a:moveTo>
                <a:lnTo>
                  <a:pt x="0" y="1506435"/>
                </a:lnTo>
                <a:lnTo>
                  <a:pt x="0" y="0"/>
                </a:lnTo>
                <a:lnTo>
                  <a:pt x="37896" y="0"/>
                </a:lnTo>
                <a:lnTo>
                  <a:pt x="37896" y="1506435"/>
                </a:ln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63" y="1836177"/>
            <a:ext cx="8513621" cy="201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6875" y="2108289"/>
            <a:ext cx="7085800" cy="205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23879" y="2400331"/>
            <a:ext cx="5751804" cy="20111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1"/>
          <p:cNvSpPr/>
          <p:nvPr/>
        </p:nvSpPr>
        <p:spPr>
          <a:xfrm>
            <a:off x="12184048" y="982459"/>
            <a:ext cx="278765" cy="186055"/>
          </a:xfrm>
          <a:custGeom>
            <a:rect b="b" l="l" r="r" t="t"/>
            <a:pathLst>
              <a:path extrusionOk="0" h="186055" w="278765">
                <a:moveTo>
                  <a:pt x="92824" y="185686"/>
                </a:moveTo>
                <a:lnTo>
                  <a:pt x="0" y="185686"/>
                </a:lnTo>
                <a:lnTo>
                  <a:pt x="0" y="0"/>
                </a:lnTo>
                <a:lnTo>
                  <a:pt x="92824" y="0"/>
                </a:lnTo>
                <a:lnTo>
                  <a:pt x="148529" y="69608"/>
                </a:lnTo>
                <a:lnTo>
                  <a:pt x="92824" y="69608"/>
                </a:lnTo>
                <a:lnTo>
                  <a:pt x="92824" y="185686"/>
                </a:lnTo>
                <a:close/>
              </a:path>
              <a:path extrusionOk="0" h="186055" w="278765">
                <a:moveTo>
                  <a:pt x="278561" y="116039"/>
                </a:moveTo>
                <a:lnTo>
                  <a:pt x="185686" y="116039"/>
                </a:lnTo>
                <a:lnTo>
                  <a:pt x="185686" y="0"/>
                </a:lnTo>
                <a:lnTo>
                  <a:pt x="278561" y="0"/>
                </a:lnTo>
                <a:lnTo>
                  <a:pt x="278561" y="116039"/>
                </a:lnTo>
                <a:close/>
              </a:path>
              <a:path extrusionOk="0" h="186055" w="278765">
                <a:moveTo>
                  <a:pt x="278561" y="185686"/>
                </a:moveTo>
                <a:lnTo>
                  <a:pt x="185686" y="185686"/>
                </a:lnTo>
                <a:lnTo>
                  <a:pt x="92824" y="69608"/>
                </a:lnTo>
                <a:lnTo>
                  <a:pt x="148529" y="69608"/>
                </a:lnTo>
                <a:lnTo>
                  <a:pt x="185686" y="116039"/>
                </a:lnTo>
                <a:lnTo>
                  <a:pt x="278561" y="116039"/>
                </a:lnTo>
                <a:lnTo>
                  <a:pt x="278561" y="185686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1"/>
          <p:cNvSpPr/>
          <p:nvPr/>
        </p:nvSpPr>
        <p:spPr>
          <a:xfrm>
            <a:off x="12509042" y="982459"/>
            <a:ext cx="162559" cy="186055"/>
          </a:xfrm>
          <a:custGeom>
            <a:rect b="b" l="l" r="r" t="t"/>
            <a:pathLst>
              <a:path extrusionOk="0" h="186055" w="162559">
                <a:moveTo>
                  <a:pt x="129971" y="92824"/>
                </a:moveTo>
                <a:lnTo>
                  <a:pt x="128320" y="84709"/>
                </a:lnTo>
                <a:lnTo>
                  <a:pt x="123837" y="78066"/>
                </a:lnTo>
                <a:lnTo>
                  <a:pt x="117208" y="73583"/>
                </a:lnTo>
                <a:lnTo>
                  <a:pt x="109093" y="71932"/>
                </a:lnTo>
                <a:lnTo>
                  <a:pt x="20891" y="71932"/>
                </a:lnTo>
                <a:lnTo>
                  <a:pt x="12738" y="73583"/>
                </a:lnTo>
                <a:lnTo>
                  <a:pt x="6096" y="78066"/>
                </a:lnTo>
                <a:lnTo>
                  <a:pt x="1625" y="84709"/>
                </a:lnTo>
                <a:lnTo>
                  <a:pt x="0" y="92824"/>
                </a:lnTo>
                <a:lnTo>
                  <a:pt x="1625" y="100965"/>
                </a:lnTo>
                <a:lnTo>
                  <a:pt x="6096" y="107607"/>
                </a:lnTo>
                <a:lnTo>
                  <a:pt x="12738" y="112077"/>
                </a:lnTo>
                <a:lnTo>
                  <a:pt x="20891" y="113703"/>
                </a:lnTo>
                <a:lnTo>
                  <a:pt x="109093" y="113703"/>
                </a:lnTo>
                <a:lnTo>
                  <a:pt x="117208" y="112077"/>
                </a:lnTo>
                <a:lnTo>
                  <a:pt x="123837" y="107607"/>
                </a:lnTo>
                <a:lnTo>
                  <a:pt x="128320" y="100965"/>
                </a:lnTo>
                <a:lnTo>
                  <a:pt x="129971" y="92824"/>
                </a:lnTo>
                <a:close/>
              </a:path>
              <a:path extrusionOk="0" h="186055" w="162559">
                <a:moveTo>
                  <a:pt x="162471" y="164807"/>
                </a:moveTo>
                <a:lnTo>
                  <a:pt x="160820" y="156667"/>
                </a:lnTo>
                <a:lnTo>
                  <a:pt x="156337" y="150025"/>
                </a:lnTo>
                <a:lnTo>
                  <a:pt x="149694" y="145554"/>
                </a:lnTo>
                <a:lnTo>
                  <a:pt x="141579" y="143916"/>
                </a:lnTo>
                <a:lnTo>
                  <a:pt x="20891" y="143916"/>
                </a:lnTo>
                <a:lnTo>
                  <a:pt x="12738" y="145554"/>
                </a:lnTo>
                <a:lnTo>
                  <a:pt x="6096" y="150025"/>
                </a:lnTo>
                <a:lnTo>
                  <a:pt x="1625" y="156667"/>
                </a:lnTo>
                <a:lnTo>
                  <a:pt x="0" y="164807"/>
                </a:lnTo>
                <a:lnTo>
                  <a:pt x="1625" y="172935"/>
                </a:lnTo>
                <a:lnTo>
                  <a:pt x="6096" y="179565"/>
                </a:lnTo>
                <a:lnTo>
                  <a:pt x="12738" y="184048"/>
                </a:lnTo>
                <a:lnTo>
                  <a:pt x="20891" y="185686"/>
                </a:lnTo>
                <a:lnTo>
                  <a:pt x="141579" y="185686"/>
                </a:lnTo>
                <a:lnTo>
                  <a:pt x="149694" y="184048"/>
                </a:lnTo>
                <a:lnTo>
                  <a:pt x="156337" y="179565"/>
                </a:lnTo>
                <a:lnTo>
                  <a:pt x="160820" y="172935"/>
                </a:lnTo>
                <a:lnTo>
                  <a:pt x="162471" y="164807"/>
                </a:lnTo>
                <a:close/>
              </a:path>
              <a:path extrusionOk="0" h="186055" w="162559">
                <a:moveTo>
                  <a:pt x="162471" y="20891"/>
                </a:moveTo>
                <a:lnTo>
                  <a:pt x="160820" y="12750"/>
                </a:lnTo>
                <a:lnTo>
                  <a:pt x="156337" y="6108"/>
                </a:lnTo>
                <a:lnTo>
                  <a:pt x="149694" y="1638"/>
                </a:lnTo>
                <a:lnTo>
                  <a:pt x="141579" y="0"/>
                </a:lnTo>
                <a:lnTo>
                  <a:pt x="20891" y="0"/>
                </a:lnTo>
                <a:lnTo>
                  <a:pt x="12738" y="1638"/>
                </a:lnTo>
                <a:lnTo>
                  <a:pt x="6096" y="6108"/>
                </a:lnTo>
                <a:lnTo>
                  <a:pt x="1625" y="12750"/>
                </a:lnTo>
                <a:lnTo>
                  <a:pt x="0" y="20891"/>
                </a:lnTo>
                <a:lnTo>
                  <a:pt x="1625" y="29019"/>
                </a:lnTo>
                <a:lnTo>
                  <a:pt x="6096" y="35648"/>
                </a:lnTo>
                <a:lnTo>
                  <a:pt x="12738" y="40132"/>
                </a:lnTo>
                <a:lnTo>
                  <a:pt x="20891" y="41770"/>
                </a:lnTo>
                <a:lnTo>
                  <a:pt x="141579" y="41770"/>
                </a:lnTo>
                <a:lnTo>
                  <a:pt x="149694" y="40132"/>
                </a:lnTo>
                <a:lnTo>
                  <a:pt x="156337" y="35648"/>
                </a:lnTo>
                <a:lnTo>
                  <a:pt x="160820" y="29019"/>
                </a:lnTo>
                <a:lnTo>
                  <a:pt x="162471" y="20891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" name="Google Shape;113;p11"/>
          <p:cNvGrpSpPr/>
          <p:nvPr/>
        </p:nvGrpSpPr>
        <p:grpSpPr>
          <a:xfrm>
            <a:off x="12741750" y="982459"/>
            <a:ext cx="440620" cy="186055"/>
            <a:chOff x="8995162" y="1120228"/>
            <a:chExt cx="440620" cy="186055"/>
          </a:xfrm>
        </p:grpSpPr>
        <p:pic>
          <p:nvPicPr>
            <p:cNvPr id="114" name="Google Shape;114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995162" y="1132405"/>
              <a:ext cx="161312" cy="16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" name="Google Shape;115;p11"/>
            <p:cNvSpPr/>
            <p:nvPr/>
          </p:nvSpPr>
          <p:spPr>
            <a:xfrm>
              <a:off x="9110662" y="1120228"/>
              <a:ext cx="325120" cy="186055"/>
            </a:xfrm>
            <a:custGeom>
              <a:rect b="b" l="l" r="r" t="t"/>
              <a:pathLst>
                <a:path extrusionOk="0" h="186055" w="325120">
                  <a:moveTo>
                    <a:pt x="92824" y="185686"/>
                  </a:moveTo>
                  <a:lnTo>
                    <a:pt x="0" y="185686"/>
                  </a:lnTo>
                  <a:lnTo>
                    <a:pt x="208902" y="0"/>
                  </a:lnTo>
                  <a:lnTo>
                    <a:pt x="237899" y="46380"/>
                  </a:lnTo>
                  <a:lnTo>
                    <a:pt x="162471" y="46380"/>
                  </a:lnTo>
                  <a:lnTo>
                    <a:pt x="129971" y="102095"/>
                  </a:lnTo>
                  <a:lnTo>
                    <a:pt x="272731" y="102095"/>
                  </a:lnTo>
                  <a:lnTo>
                    <a:pt x="287246" y="125310"/>
                  </a:lnTo>
                  <a:lnTo>
                    <a:pt x="125310" y="125310"/>
                  </a:lnTo>
                  <a:lnTo>
                    <a:pt x="92824" y="185686"/>
                  </a:lnTo>
                  <a:close/>
                </a:path>
                <a:path extrusionOk="0" h="186055" w="325120">
                  <a:moveTo>
                    <a:pt x="272731" y="102095"/>
                  </a:moveTo>
                  <a:lnTo>
                    <a:pt x="194970" y="102095"/>
                  </a:lnTo>
                  <a:lnTo>
                    <a:pt x="162471" y="46380"/>
                  </a:lnTo>
                  <a:lnTo>
                    <a:pt x="237899" y="46380"/>
                  </a:lnTo>
                  <a:lnTo>
                    <a:pt x="272731" y="102095"/>
                  </a:lnTo>
                  <a:close/>
                </a:path>
                <a:path extrusionOk="0" h="186055" w="325120">
                  <a:moveTo>
                    <a:pt x="324993" y="185686"/>
                  </a:moveTo>
                  <a:lnTo>
                    <a:pt x="232117" y="185686"/>
                  </a:lnTo>
                  <a:lnTo>
                    <a:pt x="199631" y="125310"/>
                  </a:lnTo>
                  <a:lnTo>
                    <a:pt x="287246" y="125310"/>
                  </a:lnTo>
                  <a:lnTo>
                    <a:pt x="324993" y="185686"/>
                  </a:lnTo>
                  <a:close/>
                </a:path>
              </a:pathLst>
            </a:custGeom>
            <a:solidFill>
              <a:srgbClr val="2F0D6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1"/>
          <p:cNvSpPr txBox="1"/>
          <p:nvPr>
            <p:ph idx="12" type="sldNum"/>
          </p:nvPr>
        </p:nvSpPr>
        <p:spPr>
          <a:xfrm>
            <a:off x="-38100" y="7621128"/>
            <a:ext cx="523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sur 20</a:t>
            </a:r>
            <a:endParaRPr/>
          </a:p>
        </p:txBody>
      </p:sp>
      <p:sp>
        <p:nvSpPr>
          <p:cNvPr id="117" name="Google Shape;117;p11"/>
          <p:cNvSpPr txBox="1"/>
          <p:nvPr/>
        </p:nvSpPr>
        <p:spPr>
          <a:xfrm>
            <a:off x="3611825" y="2642562"/>
            <a:ext cx="23424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Annexes et livrables</a:t>
            </a:r>
            <a:endParaRPr b="1" sz="1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1"/>
          <p:cNvSpPr txBox="1"/>
          <p:nvPr/>
        </p:nvSpPr>
        <p:spPr>
          <a:xfrm>
            <a:off x="4088024" y="7591793"/>
            <a:ext cx="16143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A31"/>
                </a:solidFill>
                <a:latin typeface="Trebuchet MS"/>
                <a:ea typeface="Trebuchet MS"/>
                <a:cs typeface="Trebuchet MS"/>
                <a:sym typeface="Trebuchet MS"/>
              </a:rPr>
              <a:t>SAN-Log_it – Modélisation ESN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9" name="Google Shape;119;p11"/>
          <p:cNvSpPr txBox="1"/>
          <p:nvPr/>
        </p:nvSpPr>
        <p:spPr>
          <a:xfrm>
            <a:off x="295275" y="152250"/>
            <a:ext cx="5334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Alerte insérer la page Github des dépôts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1" title="logo-decoupe-sans-blanc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230451" y="2100353"/>
            <a:ext cx="692860" cy="69557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1"/>
          <p:cNvSpPr txBox="1"/>
          <p:nvPr/>
        </p:nvSpPr>
        <p:spPr>
          <a:xfrm>
            <a:off x="2109001" y="3083763"/>
            <a:ext cx="51438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https://github.com/001418-M1/SAN-log_it-Master-1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1" title="1000004042.jp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422540" y="778910"/>
            <a:ext cx="1925449" cy="1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1"/>
          <p:cNvSpPr txBox="1"/>
          <p:nvPr/>
        </p:nvSpPr>
        <p:spPr>
          <a:xfrm>
            <a:off x="1396234" y="3581353"/>
            <a:ext cx="64926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15A34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lang="en-US" sz="1800">
                <a:solidFill>
                  <a:srgbClr val="15A34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 web déployé sur Hostinger :</a:t>
            </a:r>
            <a:r>
              <a:rPr b="1" lang="en-US" sz="18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1" lang="en-US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1"/>
              </a:rPr>
              <a:t>https://san-log-it.com/</a:t>
            </a:r>
            <a:endParaRPr b="1" sz="2000">
              <a:solidFill>
                <a:srgbClr val="009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1"/>
          <p:cNvSpPr txBox="1"/>
          <p:nvPr/>
        </p:nvSpPr>
        <p:spPr>
          <a:xfrm>
            <a:off x="668675" y="4919624"/>
            <a:ext cx="7753800" cy="22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Sous-questions explorées: 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Quelles prestations ? </a:t>
            </a:r>
            <a:r>
              <a:rPr b="1" lang="en-US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</a:rPr>
              <a:t>catalogue de services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Quels référentiels ?  </a:t>
            </a:r>
            <a:r>
              <a:rPr b="1" lang="en-US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</a:rPr>
              <a:t>ANSSI, CIS, NIST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Quel modèle économique ? </a:t>
            </a:r>
            <a:r>
              <a:rPr b="1" lang="en-US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</a:rPr>
              <a:t>CAPEX/OPEX, RO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Quelles preuves de compétence sans mission réelle ?	</a:t>
            </a:r>
            <a:r>
              <a:rPr b="1" lang="en-US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</a:rPr>
              <a:t>site web, simula</a:t>
            </a:r>
            <a:r>
              <a:rPr b="1" lang="en-US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teur</a:t>
            </a:r>
            <a:endParaRPr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1"/>
          <p:cNvSpPr txBox="1"/>
          <p:nvPr/>
        </p:nvSpPr>
        <p:spPr>
          <a:xfrm>
            <a:off x="1401249" y="4098056"/>
            <a:ext cx="82680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15A34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 GitHub de déploiement :</a:t>
            </a:r>
            <a:r>
              <a:rPr b="1" lang="en-US" sz="18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https://github.com/001418-M1/SAN-log_it-Website</a:t>
            </a:r>
            <a:endParaRPr b="1" sz="2000">
              <a:solidFill>
                <a:srgbClr val="009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1"/>
          <p:cNvSpPr txBox="1"/>
          <p:nvPr>
            <p:ph idx="11" type="ftr"/>
          </p:nvPr>
        </p:nvSpPr>
        <p:spPr>
          <a:xfrm>
            <a:off x="9114472" y="7621128"/>
            <a:ext cx="95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08/06/2026, 22:37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"/>
          <p:cNvSpPr txBox="1"/>
          <p:nvPr/>
        </p:nvSpPr>
        <p:spPr>
          <a:xfrm>
            <a:off x="427326" y="2159536"/>
            <a:ext cx="4974000" cy="38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0815" lvl="0" marL="182880" marR="699770" rtl="0" algn="just">
              <a:lnSpc>
                <a:spcPct val="125499"/>
              </a:lnSpc>
              <a:spcBef>
                <a:spcPts val="0"/>
              </a:spcBef>
              <a:spcAft>
                <a:spcPts val="0"/>
              </a:spcAft>
              <a:buClr>
                <a:srgbClr val="334154"/>
              </a:buClr>
              <a:buSzPts val="1400"/>
              <a:buFont typeface="Arial"/>
              <a:buChar char="•"/>
            </a:pPr>
            <a:r>
              <a:rPr b="1"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Modélisation d'une offre de services </a:t>
            </a:r>
            <a:r>
              <a:rPr b="1"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(packages)</a:t>
            </a:r>
            <a:endParaRPr>
              <a:solidFill>
                <a:srgbClr val="33415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699770" rtl="0" algn="just">
              <a:lnSpc>
                <a:spcPct val="125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415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0815" lvl="0" marL="182880" marR="142240" rtl="0" algn="just">
              <a:lnSpc>
                <a:spcPct val="125499"/>
              </a:lnSpc>
              <a:spcBef>
                <a:spcPts val="680"/>
              </a:spcBef>
              <a:spcAft>
                <a:spcPts val="0"/>
              </a:spcAft>
              <a:buClr>
                <a:srgbClr val="334154"/>
              </a:buClr>
              <a:buSzPts val="1400"/>
              <a:buFont typeface="Arial"/>
              <a:buChar char="•"/>
            </a:pPr>
            <a:r>
              <a:rPr b="1"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technique de référence 	</a:t>
            </a:r>
            <a:r>
              <a:rPr b="1"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33415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42240" rtl="0" algn="just">
              <a:lnSpc>
                <a:spcPct val="125499"/>
              </a:lnSpc>
              <a:spcBef>
                <a:spcPts val="68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VLAN, pfSense, AD, supervision</a:t>
            </a: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rgbClr val="33415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42240" rtl="0" algn="just">
              <a:lnSpc>
                <a:spcPct val="125499"/>
              </a:lnSpc>
              <a:spcBef>
                <a:spcPts val="6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415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0815" lvl="0" marL="182880" marR="351155" rtl="0" algn="just">
              <a:lnSpc>
                <a:spcPct val="125499"/>
              </a:lnSpc>
              <a:spcBef>
                <a:spcPts val="685"/>
              </a:spcBef>
              <a:spcAft>
                <a:spcPts val="0"/>
              </a:spcAft>
              <a:buClr>
                <a:srgbClr val="334154"/>
              </a:buClr>
              <a:buSzPts val="1400"/>
              <a:buFont typeface="Arial"/>
              <a:buChar char="•"/>
            </a:pPr>
            <a:r>
              <a:rPr b="1"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Conformité réglementaire :</a:t>
            </a: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endParaRPr>
              <a:solidFill>
                <a:srgbClr val="33415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351155" rtl="0" algn="just">
              <a:lnSpc>
                <a:spcPct val="125499"/>
              </a:lnSpc>
              <a:spcBef>
                <a:spcPts val="685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RGPD, NIS2 – niveau compliance-ready</a:t>
            </a: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0815" lvl="0" marL="183515" rtl="0" algn="just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>
                <a:srgbClr val="334154"/>
              </a:buClr>
              <a:buSzPts val="1400"/>
              <a:buFont typeface="Arial"/>
              <a:buChar char="•"/>
            </a:pPr>
            <a:r>
              <a:rPr b="1"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Modèle économique </a:t>
            </a: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devis, CAPEX/OPEX</a:t>
            </a: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			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0815" lvl="0" marL="183515" rtl="0" algn="just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>
                <a:srgbClr val="334154"/>
              </a:buClr>
              <a:buSzPts val="1400"/>
              <a:buFont typeface="Arial"/>
              <a:buChar char="•"/>
            </a:pPr>
            <a:r>
              <a:rPr b="1"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Preuve de concept technique </a:t>
            </a:r>
            <a:r>
              <a:rPr b="1"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(site web React</a:t>
            </a: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simulateur)	</a:t>
            </a:r>
            <a:endParaRPr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0815" lvl="0" marL="183515" rtl="0" algn="just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Times New Roman"/>
              <a:buChar char="•"/>
            </a:pPr>
            <a:r>
              <a:rPr b="1"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https://san-log-it.com/</a:t>
            </a: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-US">
                <a:solidFill>
                  <a:srgbClr val="15A34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 site en Français &amp; en Anglais)</a:t>
            </a:r>
            <a:endParaRPr b="1">
              <a:solidFill>
                <a:srgbClr val="15A34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5703285" y="2520456"/>
            <a:ext cx="3649200" cy="23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170815" lvl="0" marL="183515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4154"/>
              </a:buClr>
              <a:buSzPts val="1400"/>
              <a:buChar char="•"/>
            </a:pPr>
            <a:r>
              <a:rPr b="1" lang="en-US" sz="1400">
                <a:solidFill>
                  <a:srgbClr val="334154"/>
                </a:solidFill>
                <a:latin typeface="Trebuchet MS"/>
                <a:ea typeface="Trebuchet MS"/>
                <a:cs typeface="Trebuchet MS"/>
                <a:sym typeface="Trebuchet MS"/>
              </a:rPr>
              <a:t>Mission client réelle</a:t>
            </a:r>
            <a:endParaRPr b="1"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70815" lvl="0" marL="183515" rtl="0" algn="l">
              <a:lnSpc>
                <a:spcPct val="200000"/>
              </a:lnSpc>
              <a:spcBef>
                <a:spcPts val="1110"/>
              </a:spcBef>
              <a:spcAft>
                <a:spcPts val="0"/>
              </a:spcAft>
              <a:buClr>
                <a:srgbClr val="334154"/>
              </a:buClr>
              <a:buSzPts val="1400"/>
              <a:buChar char="•"/>
            </a:pPr>
            <a:r>
              <a:rPr b="1" lang="en-US" sz="1400">
                <a:solidFill>
                  <a:srgbClr val="334154"/>
                </a:solidFill>
                <a:latin typeface="Trebuchet MS"/>
                <a:ea typeface="Trebuchet MS"/>
                <a:cs typeface="Trebuchet MS"/>
                <a:sym typeface="Trebuchet MS"/>
              </a:rPr>
              <a:t>SLA contractuel</a:t>
            </a:r>
            <a:endParaRPr b="1"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70815" lvl="0" marL="183515" rtl="0" algn="l">
              <a:lnSpc>
                <a:spcPct val="200000"/>
              </a:lnSpc>
              <a:spcBef>
                <a:spcPts val="1110"/>
              </a:spcBef>
              <a:spcAft>
                <a:spcPts val="0"/>
              </a:spcAft>
              <a:buClr>
                <a:srgbClr val="334154"/>
              </a:buClr>
              <a:buSzPts val="1400"/>
              <a:buChar char="•"/>
            </a:pPr>
            <a:r>
              <a:rPr b="1" lang="en-US" sz="1400">
                <a:solidFill>
                  <a:srgbClr val="334154"/>
                </a:solidFill>
                <a:latin typeface="Trebuchet MS"/>
                <a:ea typeface="Trebuchet MS"/>
                <a:cs typeface="Trebuchet MS"/>
                <a:sym typeface="Trebuchet MS"/>
              </a:rPr>
              <a:t>Supervision 24/7 (SOC)</a:t>
            </a:r>
            <a:endParaRPr b="1"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70815" lvl="0" marL="182880" marR="5080" rtl="0" algn="l">
              <a:lnSpc>
                <a:spcPct val="200000"/>
              </a:lnSpc>
              <a:spcBef>
                <a:spcPts val="685"/>
              </a:spcBef>
              <a:spcAft>
                <a:spcPts val="0"/>
              </a:spcAft>
              <a:buClr>
                <a:srgbClr val="334154"/>
              </a:buClr>
              <a:buSzPts val="1400"/>
              <a:buChar char="•"/>
            </a:pPr>
            <a:r>
              <a:rPr b="1" lang="en-US" sz="1400">
                <a:solidFill>
                  <a:srgbClr val="334154"/>
                </a:solidFill>
                <a:latin typeface="Trebuchet MS"/>
                <a:ea typeface="Trebuchet MS"/>
                <a:cs typeface="Trebuchet MS"/>
                <a:sym typeface="Trebuchet MS"/>
              </a:rPr>
              <a:t>Retour d'expérience terrain et KPIs </a:t>
            </a:r>
            <a:r>
              <a:rPr b="1" lang="en-US">
                <a:solidFill>
                  <a:srgbClr val="334154"/>
                </a:solidFill>
                <a:latin typeface="Trebuchet MS"/>
                <a:ea typeface="Trebuchet MS"/>
                <a:cs typeface="Trebuchet MS"/>
                <a:sym typeface="Trebuchet MS"/>
              </a:rPr>
              <a:t>		</a:t>
            </a:r>
            <a:r>
              <a:rPr b="1" lang="en-US" sz="1400">
                <a:solidFill>
                  <a:srgbClr val="334154"/>
                </a:solidFill>
                <a:latin typeface="Trebuchet MS"/>
                <a:ea typeface="Trebuchet MS"/>
                <a:cs typeface="Trebuchet MS"/>
                <a:sym typeface="Trebuchet MS"/>
              </a:rPr>
              <a:t>de</a:t>
            </a:r>
            <a:r>
              <a:rPr b="1" lang="en-US">
                <a:solidFill>
                  <a:srgbClr val="334154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lang="en-US" sz="1400">
                <a:solidFill>
                  <a:srgbClr val="334154"/>
                </a:solidFill>
                <a:latin typeface="Trebuchet MS"/>
                <a:ea typeface="Trebuchet MS"/>
                <a:cs typeface="Trebuchet MS"/>
                <a:sym typeface="Trebuchet MS"/>
              </a:rPr>
              <a:t>production</a:t>
            </a:r>
            <a:endParaRPr b="1"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3" name="Google Shape;133;p12"/>
          <p:cNvSpPr/>
          <p:nvPr/>
        </p:nvSpPr>
        <p:spPr>
          <a:xfrm>
            <a:off x="483844" y="5808764"/>
            <a:ext cx="9091295" cy="5715"/>
          </a:xfrm>
          <a:custGeom>
            <a:rect b="b" l="l" r="r" t="t"/>
            <a:pathLst>
              <a:path extrusionOk="0" h="5714" w="9091295">
                <a:moveTo>
                  <a:pt x="9090672" y="5410"/>
                </a:moveTo>
                <a:lnTo>
                  <a:pt x="0" y="5410"/>
                </a:lnTo>
                <a:lnTo>
                  <a:pt x="0" y="0"/>
                </a:lnTo>
                <a:lnTo>
                  <a:pt x="9090672" y="0"/>
                </a:lnTo>
                <a:lnTo>
                  <a:pt x="9090672" y="5410"/>
                </a:lnTo>
                <a:close/>
              </a:path>
            </a:pathLst>
          </a:custGeom>
          <a:solidFill>
            <a:srgbClr val="E2E8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2"/>
          <p:cNvSpPr/>
          <p:nvPr/>
        </p:nvSpPr>
        <p:spPr>
          <a:xfrm>
            <a:off x="10368924" y="1042659"/>
            <a:ext cx="278765" cy="186055"/>
          </a:xfrm>
          <a:custGeom>
            <a:rect b="b" l="l" r="r" t="t"/>
            <a:pathLst>
              <a:path extrusionOk="0" h="186055" w="278765">
                <a:moveTo>
                  <a:pt x="92824" y="185686"/>
                </a:moveTo>
                <a:lnTo>
                  <a:pt x="0" y="185686"/>
                </a:lnTo>
                <a:lnTo>
                  <a:pt x="0" y="0"/>
                </a:lnTo>
                <a:lnTo>
                  <a:pt x="92824" y="0"/>
                </a:lnTo>
                <a:lnTo>
                  <a:pt x="148529" y="69608"/>
                </a:lnTo>
                <a:lnTo>
                  <a:pt x="92824" y="69608"/>
                </a:lnTo>
                <a:lnTo>
                  <a:pt x="92824" y="185686"/>
                </a:lnTo>
                <a:close/>
              </a:path>
              <a:path extrusionOk="0" h="186055" w="278765">
                <a:moveTo>
                  <a:pt x="278561" y="116039"/>
                </a:moveTo>
                <a:lnTo>
                  <a:pt x="185686" y="116039"/>
                </a:lnTo>
                <a:lnTo>
                  <a:pt x="185686" y="0"/>
                </a:lnTo>
                <a:lnTo>
                  <a:pt x="278561" y="0"/>
                </a:lnTo>
                <a:lnTo>
                  <a:pt x="278561" y="116039"/>
                </a:lnTo>
                <a:close/>
              </a:path>
              <a:path extrusionOk="0" h="186055" w="278765">
                <a:moveTo>
                  <a:pt x="278561" y="185686"/>
                </a:moveTo>
                <a:lnTo>
                  <a:pt x="185686" y="185686"/>
                </a:lnTo>
                <a:lnTo>
                  <a:pt x="92824" y="69608"/>
                </a:lnTo>
                <a:lnTo>
                  <a:pt x="148529" y="69608"/>
                </a:lnTo>
                <a:lnTo>
                  <a:pt x="185686" y="116039"/>
                </a:lnTo>
                <a:lnTo>
                  <a:pt x="278561" y="116039"/>
                </a:lnTo>
                <a:lnTo>
                  <a:pt x="278561" y="185686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2"/>
          <p:cNvSpPr/>
          <p:nvPr/>
        </p:nvSpPr>
        <p:spPr>
          <a:xfrm>
            <a:off x="10693918" y="1042659"/>
            <a:ext cx="162559" cy="186055"/>
          </a:xfrm>
          <a:custGeom>
            <a:rect b="b" l="l" r="r" t="t"/>
            <a:pathLst>
              <a:path extrusionOk="0" h="186055" w="162559">
                <a:moveTo>
                  <a:pt x="129971" y="92824"/>
                </a:moveTo>
                <a:lnTo>
                  <a:pt x="128320" y="84709"/>
                </a:lnTo>
                <a:lnTo>
                  <a:pt x="123837" y="78066"/>
                </a:lnTo>
                <a:lnTo>
                  <a:pt x="117208" y="73583"/>
                </a:lnTo>
                <a:lnTo>
                  <a:pt x="109093" y="71932"/>
                </a:lnTo>
                <a:lnTo>
                  <a:pt x="20891" y="71932"/>
                </a:lnTo>
                <a:lnTo>
                  <a:pt x="12738" y="73583"/>
                </a:lnTo>
                <a:lnTo>
                  <a:pt x="6096" y="78066"/>
                </a:lnTo>
                <a:lnTo>
                  <a:pt x="1625" y="84709"/>
                </a:lnTo>
                <a:lnTo>
                  <a:pt x="0" y="92824"/>
                </a:lnTo>
                <a:lnTo>
                  <a:pt x="1625" y="100965"/>
                </a:lnTo>
                <a:lnTo>
                  <a:pt x="6096" y="107607"/>
                </a:lnTo>
                <a:lnTo>
                  <a:pt x="12738" y="112077"/>
                </a:lnTo>
                <a:lnTo>
                  <a:pt x="20891" y="113703"/>
                </a:lnTo>
                <a:lnTo>
                  <a:pt x="109093" y="113703"/>
                </a:lnTo>
                <a:lnTo>
                  <a:pt x="117208" y="112077"/>
                </a:lnTo>
                <a:lnTo>
                  <a:pt x="123837" y="107607"/>
                </a:lnTo>
                <a:lnTo>
                  <a:pt x="128320" y="100965"/>
                </a:lnTo>
                <a:lnTo>
                  <a:pt x="129971" y="92824"/>
                </a:lnTo>
                <a:close/>
              </a:path>
              <a:path extrusionOk="0" h="186055" w="162559">
                <a:moveTo>
                  <a:pt x="162471" y="164807"/>
                </a:moveTo>
                <a:lnTo>
                  <a:pt x="160820" y="156667"/>
                </a:lnTo>
                <a:lnTo>
                  <a:pt x="156337" y="150025"/>
                </a:lnTo>
                <a:lnTo>
                  <a:pt x="149694" y="145554"/>
                </a:lnTo>
                <a:lnTo>
                  <a:pt x="141579" y="143916"/>
                </a:lnTo>
                <a:lnTo>
                  <a:pt x="20891" y="143916"/>
                </a:lnTo>
                <a:lnTo>
                  <a:pt x="12738" y="145554"/>
                </a:lnTo>
                <a:lnTo>
                  <a:pt x="6096" y="150025"/>
                </a:lnTo>
                <a:lnTo>
                  <a:pt x="1625" y="156667"/>
                </a:lnTo>
                <a:lnTo>
                  <a:pt x="0" y="164807"/>
                </a:lnTo>
                <a:lnTo>
                  <a:pt x="1625" y="172935"/>
                </a:lnTo>
                <a:lnTo>
                  <a:pt x="6096" y="179565"/>
                </a:lnTo>
                <a:lnTo>
                  <a:pt x="12738" y="184048"/>
                </a:lnTo>
                <a:lnTo>
                  <a:pt x="20891" y="185686"/>
                </a:lnTo>
                <a:lnTo>
                  <a:pt x="141579" y="185686"/>
                </a:lnTo>
                <a:lnTo>
                  <a:pt x="149694" y="184048"/>
                </a:lnTo>
                <a:lnTo>
                  <a:pt x="156337" y="179565"/>
                </a:lnTo>
                <a:lnTo>
                  <a:pt x="160820" y="172935"/>
                </a:lnTo>
                <a:lnTo>
                  <a:pt x="162471" y="164807"/>
                </a:lnTo>
                <a:close/>
              </a:path>
              <a:path extrusionOk="0" h="186055" w="162559">
                <a:moveTo>
                  <a:pt x="162471" y="20891"/>
                </a:moveTo>
                <a:lnTo>
                  <a:pt x="160820" y="12750"/>
                </a:lnTo>
                <a:lnTo>
                  <a:pt x="156337" y="6108"/>
                </a:lnTo>
                <a:lnTo>
                  <a:pt x="149694" y="1638"/>
                </a:lnTo>
                <a:lnTo>
                  <a:pt x="141579" y="0"/>
                </a:lnTo>
                <a:lnTo>
                  <a:pt x="20891" y="0"/>
                </a:lnTo>
                <a:lnTo>
                  <a:pt x="12738" y="1638"/>
                </a:lnTo>
                <a:lnTo>
                  <a:pt x="6096" y="6108"/>
                </a:lnTo>
                <a:lnTo>
                  <a:pt x="1625" y="12750"/>
                </a:lnTo>
                <a:lnTo>
                  <a:pt x="0" y="20891"/>
                </a:lnTo>
                <a:lnTo>
                  <a:pt x="1625" y="29019"/>
                </a:lnTo>
                <a:lnTo>
                  <a:pt x="6096" y="35648"/>
                </a:lnTo>
                <a:lnTo>
                  <a:pt x="12738" y="40132"/>
                </a:lnTo>
                <a:lnTo>
                  <a:pt x="20891" y="41770"/>
                </a:lnTo>
                <a:lnTo>
                  <a:pt x="141579" y="41770"/>
                </a:lnTo>
                <a:lnTo>
                  <a:pt x="149694" y="40132"/>
                </a:lnTo>
                <a:lnTo>
                  <a:pt x="156337" y="35648"/>
                </a:lnTo>
                <a:lnTo>
                  <a:pt x="160820" y="29019"/>
                </a:lnTo>
                <a:lnTo>
                  <a:pt x="162471" y="20891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" name="Google Shape;136;p12"/>
          <p:cNvGrpSpPr/>
          <p:nvPr/>
        </p:nvGrpSpPr>
        <p:grpSpPr>
          <a:xfrm>
            <a:off x="10926626" y="1042659"/>
            <a:ext cx="440620" cy="186055"/>
            <a:chOff x="8995162" y="1120228"/>
            <a:chExt cx="440620" cy="186055"/>
          </a:xfrm>
        </p:grpSpPr>
        <p:pic>
          <p:nvPicPr>
            <p:cNvPr id="137" name="Google Shape;13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95162" y="1132405"/>
              <a:ext cx="161312" cy="16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p12"/>
            <p:cNvSpPr/>
            <p:nvPr/>
          </p:nvSpPr>
          <p:spPr>
            <a:xfrm>
              <a:off x="9110662" y="1120228"/>
              <a:ext cx="325120" cy="186055"/>
            </a:xfrm>
            <a:custGeom>
              <a:rect b="b" l="l" r="r" t="t"/>
              <a:pathLst>
                <a:path extrusionOk="0" h="186055" w="325120">
                  <a:moveTo>
                    <a:pt x="92824" y="185686"/>
                  </a:moveTo>
                  <a:lnTo>
                    <a:pt x="0" y="185686"/>
                  </a:lnTo>
                  <a:lnTo>
                    <a:pt x="208902" y="0"/>
                  </a:lnTo>
                  <a:lnTo>
                    <a:pt x="237899" y="46380"/>
                  </a:lnTo>
                  <a:lnTo>
                    <a:pt x="162471" y="46380"/>
                  </a:lnTo>
                  <a:lnTo>
                    <a:pt x="129971" y="102095"/>
                  </a:lnTo>
                  <a:lnTo>
                    <a:pt x="272731" y="102095"/>
                  </a:lnTo>
                  <a:lnTo>
                    <a:pt x="287246" y="125310"/>
                  </a:lnTo>
                  <a:lnTo>
                    <a:pt x="125310" y="125310"/>
                  </a:lnTo>
                  <a:lnTo>
                    <a:pt x="92824" y="185686"/>
                  </a:lnTo>
                  <a:close/>
                </a:path>
                <a:path extrusionOk="0" h="186055" w="325120">
                  <a:moveTo>
                    <a:pt x="272731" y="102095"/>
                  </a:moveTo>
                  <a:lnTo>
                    <a:pt x="194970" y="102095"/>
                  </a:lnTo>
                  <a:lnTo>
                    <a:pt x="162471" y="46380"/>
                  </a:lnTo>
                  <a:lnTo>
                    <a:pt x="237899" y="46380"/>
                  </a:lnTo>
                  <a:lnTo>
                    <a:pt x="272731" y="102095"/>
                  </a:lnTo>
                  <a:close/>
                </a:path>
                <a:path extrusionOk="0" h="186055" w="325120">
                  <a:moveTo>
                    <a:pt x="324993" y="185686"/>
                  </a:moveTo>
                  <a:lnTo>
                    <a:pt x="232117" y="185686"/>
                  </a:lnTo>
                  <a:lnTo>
                    <a:pt x="199631" y="125310"/>
                  </a:lnTo>
                  <a:lnTo>
                    <a:pt x="287246" y="125310"/>
                  </a:lnTo>
                  <a:lnTo>
                    <a:pt x="324993" y="185686"/>
                  </a:lnTo>
                  <a:close/>
                </a:path>
              </a:pathLst>
            </a:custGeom>
            <a:solidFill>
              <a:srgbClr val="2F0D6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2"/>
          <p:cNvSpPr txBox="1"/>
          <p:nvPr/>
        </p:nvSpPr>
        <p:spPr>
          <a:xfrm>
            <a:off x="4088024" y="7591793"/>
            <a:ext cx="16143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A31"/>
                </a:solidFill>
                <a:latin typeface="Trebuchet MS"/>
                <a:ea typeface="Trebuchet MS"/>
                <a:cs typeface="Trebuchet MS"/>
                <a:sym typeface="Trebuchet MS"/>
              </a:rPr>
              <a:t>SAN-Log_it – Modélisation ESN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0" name="Google Shape;140;p12"/>
          <p:cNvSpPr txBox="1"/>
          <p:nvPr>
            <p:ph idx="12" type="sldNum"/>
          </p:nvPr>
        </p:nvSpPr>
        <p:spPr>
          <a:xfrm>
            <a:off x="-38100" y="7621128"/>
            <a:ext cx="523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sur 20</a:t>
            </a:r>
            <a:endParaRPr/>
          </a:p>
        </p:txBody>
      </p:sp>
      <p:sp>
        <p:nvSpPr>
          <p:cNvPr id="141" name="Google Shape;141;p12"/>
          <p:cNvSpPr txBox="1"/>
          <p:nvPr/>
        </p:nvSpPr>
        <p:spPr>
          <a:xfrm>
            <a:off x="380077" y="1602434"/>
            <a:ext cx="22308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5A34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Dans le périmètre</a:t>
            </a:r>
            <a:endParaRPr b="1" sz="2100">
              <a:solidFill>
                <a:srgbClr val="15A34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2"/>
          <p:cNvSpPr txBox="1"/>
          <p:nvPr/>
        </p:nvSpPr>
        <p:spPr>
          <a:xfrm>
            <a:off x="5654764" y="1860611"/>
            <a:ext cx="30873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Hors périmètre (assumé)</a:t>
            </a:r>
            <a:endParaRPr b="1" sz="21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3" name="Google Shape;143;p12" title="logo-decoupe-sans-blanc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68926" y="1820315"/>
            <a:ext cx="692860" cy="695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2" title="1000004042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2540" y="778910"/>
            <a:ext cx="1925449" cy="1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2"/>
          <p:cNvSpPr txBox="1"/>
          <p:nvPr/>
        </p:nvSpPr>
        <p:spPr>
          <a:xfrm>
            <a:off x="372343" y="930832"/>
            <a:ext cx="38163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F0D6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Périmètre du mémoire</a:t>
            </a:r>
            <a:endParaRPr b="1" sz="2500">
              <a:solidFill>
                <a:srgbClr val="2F0D6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2"/>
          <p:cNvSpPr txBox="1"/>
          <p:nvPr>
            <p:ph idx="11" type="ftr"/>
          </p:nvPr>
        </p:nvSpPr>
        <p:spPr>
          <a:xfrm>
            <a:off x="9114472" y="7621128"/>
            <a:ext cx="95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08/06/2026, 22:37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"/>
          <p:cNvSpPr/>
          <p:nvPr/>
        </p:nvSpPr>
        <p:spPr>
          <a:xfrm>
            <a:off x="464794" y="6589618"/>
            <a:ext cx="38100" cy="779779"/>
          </a:xfrm>
          <a:custGeom>
            <a:rect b="b" l="l" r="r" t="t"/>
            <a:pathLst>
              <a:path extrusionOk="0" h="779779" w="38100">
                <a:moveTo>
                  <a:pt x="37896" y="779157"/>
                </a:moveTo>
                <a:lnTo>
                  <a:pt x="0" y="779208"/>
                </a:lnTo>
                <a:lnTo>
                  <a:pt x="0" y="0"/>
                </a:lnTo>
                <a:lnTo>
                  <a:pt x="37896" y="0"/>
                </a:lnTo>
                <a:lnTo>
                  <a:pt x="37896" y="779157"/>
                </a:lnTo>
                <a:close/>
              </a:path>
            </a:pathLst>
          </a:custGeom>
          <a:solidFill>
            <a:srgbClr val="15A34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3"/>
          <p:cNvSpPr/>
          <p:nvPr/>
        </p:nvSpPr>
        <p:spPr>
          <a:xfrm>
            <a:off x="483844" y="7430892"/>
            <a:ext cx="9091295" cy="5714"/>
          </a:xfrm>
          <a:custGeom>
            <a:rect b="b" l="l" r="r" t="t"/>
            <a:pathLst>
              <a:path extrusionOk="0" h="5714" w="9091295">
                <a:moveTo>
                  <a:pt x="9090672" y="5410"/>
                </a:moveTo>
                <a:lnTo>
                  <a:pt x="0" y="5410"/>
                </a:lnTo>
                <a:lnTo>
                  <a:pt x="0" y="0"/>
                </a:lnTo>
                <a:lnTo>
                  <a:pt x="9090672" y="0"/>
                </a:lnTo>
                <a:lnTo>
                  <a:pt x="9090672" y="5410"/>
                </a:lnTo>
                <a:close/>
              </a:path>
            </a:pathLst>
          </a:custGeom>
          <a:solidFill>
            <a:srgbClr val="E2E8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"/>
          <p:cNvSpPr/>
          <p:nvPr/>
        </p:nvSpPr>
        <p:spPr>
          <a:xfrm>
            <a:off x="10454250" y="1050416"/>
            <a:ext cx="278765" cy="186055"/>
          </a:xfrm>
          <a:custGeom>
            <a:rect b="b" l="l" r="r" t="t"/>
            <a:pathLst>
              <a:path extrusionOk="0" h="186055" w="278765">
                <a:moveTo>
                  <a:pt x="92824" y="185686"/>
                </a:moveTo>
                <a:lnTo>
                  <a:pt x="0" y="185686"/>
                </a:lnTo>
                <a:lnTo>
                  <a:pt x="0" y="0"/>
                </a:lnTo>
                <a:lnTo>
                  <a:pt x="92824" y="0"/>
                </a:lnTo>
                <a:lnTo>
                  <a:pt x="148529" y="69608"/>
                </a:lnTo>
                <a:lnTo>
                  <a:pt x="92824" y="69608"/>
                </a:lnTo>
                <a:lnTo>
                  <a:pt x="92824" y="185686"/>
                </a:lnTo>
                <a:close/>
              </a:path>
              <a:path extrusionOk="0" h="186055" w="278765">
                <a:moveTo>
                  <a:pt x="278561" y="116039"/>
                </a:moveTo>
                <a:lnTo>
                  <a:pt x="185686" y="116039"/>
                </a:lnTo>
                <a:lnTo>
                  <a:pt x="185686" y="0"/>
                </a:lnTo>
                <a:lnTo>
                  <a:pt x="278561" y="0"/>
                </a:lnTo>
                <a:lnTo>
                  <a:pt x="278561" y="116039"/>
                </a:lnTo>
                <a:close/>
              </a:path>
              <a:path extrusionOk="0" h="186055" w="278765">
                <a:moveTo>
                  <a:pt x="278561" y="185686"/>
                </a:moveTo>
                <a:lnTo>
                  <a:pt x="185686" y="185686"/>
                </a:lnTo>
                <a:lnTo>
                  <a:pt x="92824" y="69608"/>
                </a:lnTo>
                <a:lnTo>
                  <a:pt x="148529" y="69608"/>
                </a:lnTo>
                <a:lnTo>
                  <a:pt x="185686" y="116039"/>
                </a:lnTo>
                <a:lnTo>
                  <a:pt x="278561" y="116039"/>
                </a:lnTo>
                <a:lnTo>
                  <a:pt x="278561" y="185686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"/>
          <p:cNvSpPr/>
          <p:nvPr/>
        </p:nvSpPr>
        <p:spPr>
          <a:xfrm>
            <a:off x="10779244" y="1050416"/>
            <a:ext cx="162559" cy="186055"/>
          </a:xfrm>
          <a:custGeom>
            <a:rect b="b" l="l" r="r" t="t"/>
            <a:pathLst>
              <a:path extrusionOk="0" h="186055" w="162559">
                <a:moveTo>
                  <a:pt x="129971" y="92824"/>
                </a:moveTo>
                <a:lnTo>
                  <a:pt x="128320" y="84709"/>
                </a:lnTo>
                <a:lnTo>
                  <a:pt x="123837" y="78066"/>
                </a:lnTo>
                <a:lnTo>
                  <a:pt x="117208" y="73583"/>
                </a:lnTo>
                <a:lnTo>
                  <a:pt x="109093" y="71932"/>
                </a:lnTo>
                <a:lnTo>
                  <a:pt x="20891" y="71932"/>
                </a:lnTo>
                <a:lnTo>
                  <a:pt x="12738" y="73583"/>
                </a:lnTo>
                <a:lnTo>
                  <a:pt x="6096" y="78066"/>
                </a:lnTo>
                <a:lnTo>
                  <a:pt x="1625" y="84709"/>
                </a:lnTo>
                <a:lnTo>
                  <a:pt x="0" y="92824"/>
                </a:lnTo>
                <a:lnTo>
                  <a:pt x="1625" y="100965"/>
                </a:lnTo>
                <a:lnTo>
                  <a:pt x="6096" y="107607"/>
                </a:lnTo>
                <a:lnTo>
                  <a:pt x="12738" y="112077"/>
                </a:lnTo>
                <a:lnTo>
                  <a:pt x="20891" y="113703"/>
                </a:lnTo>
                <a:lnTo>
                  <a:pt x="109093" y="113703"/>
                </a:lnTo>
                <a:lnTo>
                  <a:pt x="117208" y="112077"/>
                </a:lnTo>
                <a:lnTo>
                  <a:pt x="123837" y="107607"/>
                </a:lnTo>
                <a:lnTo>
                  <a:pt x="128320" y="100965"/>
                </a:lnTo>
                <a:lnTo>
                  <a:pt x="129971" y="92824"/>
                </a:lnTo>
                <a:close/>
              </a:path>
              <a:path extrusionOk="0" h="186055" w="162559">
                <a:moveTo>
                  <a:pt x="162471" y="164807"/>
                </a:moveTo>
                <a:lnTo>
                  <a:pt x="160820" y="156667"/>
                </a:lnTo>
                <a:lnTo>
                  <a:pt x="156337" y="150025"/>
                </a:lnTo>
                <a:lnTo>
                  <a:pt x="149694" y="145554"/>
                </a:lnTo>
                <a:lnTo>
                  <a:pt x="141579" y="143916"/>
                </a:lnTo>
                <a:lnTo>
                  <a:pt x="20891" y="143916"/>
                </a:lnTo>
                <a:lnTo>
                  <a:pt x="12738" y="145554"/>
                </a:lnTo>
                <a:lnTo>
                  <a:pt x="6096" y="150025"/>
                </a:lnTo>
                <a:lnTo>
                  <a:pt x="1625" y="156667"/>
                </a:lnTo>
                <a:lnTo>
                  <a:pt x="0" y="164807"/>
                </a:lnTo>
                <a:lnTo>
                  <a:pt x="1625" y="172935"/>
                </a:lnTo>
                <a:lnTo>
                  <a:pt x="6096" y="179565"/>
                </a:lnTo>
                <a:lnTo>
                  <a:pt x="12738" y="184048"/>
                </a:lnTo>
                <a:lnTo>
                  <a:pt x="20891" y="185686"/>
                </a:lnTo>
                <a:lnTo>
                  <a:pt x="141579" y="185686"/>
                </a:lnTo>
                <a:lnTo>
                  <a:pt x="149694" y="184048"/>
                </a:lnTo>
                <a:lnTo>
                  <a:pt x="156337" y="179565"/>
                </a:lnTo>
                <a:lnTo>
                  <a:pt x="160820" y="172935"/>
                </a:lnTo>
                <a:lnTo>
                  <a:pt x="162471" y="164807"/>
                </a:lnTo>
                <a:close/>
              </a:path>
              <a:path extrusionOk="0" h="186055" w="162559">
                <a:moveTo>
                  <a:pt x="162471" y="20891"/>
                </a:moveTo>
                <a:lnTo>
                  <a:pt x="160820" y="12750"/>
                </a:lnTo>
                <a:lnTo>
                  <a:pt x="156337" y="6108"/>
                </a:lnTo>
                <a:lnTo>
                  <a:pt x="149694" y="1638"/>
                </a:lnTo>
                <a:lnTo>
                  <a:pt x="141579" y="0"/>
                </a:lnTo>
                <a:lnTo>
                  <a:pt x="20891" y="0"/>
                </a:lnTo>
                <a:lnTo>
                  <a:pt x="12738" y="1638"/>
                </a:lnTo>
                <a:lnTo>
                  <a:pt x="6096" y="6108"/>
                </a:lnTo>
                <a:lnTo>
                  <a:pt x="1625" y="12750"/>
                </a:lnTo>
                <a:lnTo>
                  <a:pt x="0" y="20891"/>
                </a:lnTo>
                <a:lnTo>
                  <a:pt x="1625" y="29019"/>
                </a:lnTo>
                <a:lnTo>
                  <a:pt x="6096" y="35648"/>
                </a:lnTo>
                <a:lnTo>
                  <a:pt x="12738" y="40132"/>
                </a:lnTo>
                <a:lnTo>
                  <a:pt x="20891" y="41770"/>
                </a:lnTo>
                <a:lnTo>
                  <a:pt x="141579" y="41770"/>
                </a:lnTo>
                <a:lnTo>
                  <a:pt x="149694" y="40132"/>
                </a:lnTo>
                <a:lnTo>
                  <a:pt x="156337" y="35648"/>
                </a:lnTo>
                <a:lnTo>
                  <a:pt x="160820" y="29019"/>
                </a:lnTo>
                <a:lnTo>
                  <a:pt x="162471" y="20891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" name="Google Shape;155;p13"/>
          <p:cNvGrpSpPr/>
          <p:nvPr/>
        </p:nvGrpSpPr>
        <p:grpSpPr>
          <a:xfrm>
            <a:off x="11011952" y="1050416"/>
            <a:ext cx="440620" cy="186055"/>
            <a:chOff x="8995162" y="1120228"/>
            <a:chExt cx="440620" cy="186055"/>
          </a:xfrm>
        </p:grpSpPr>
        <p:pic>
          <p:nvPicPr>
            <p:cNvPr id="156" name="Google Shape;156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995162" y="1132405"/>
              <a:ext cx="161312" cy="16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13"/>
            <p:cNvSpPr/>
            <p:nvPr/>
          </p:nvSpPr>
          <p:spPr>
            <a:xfrm>
              <a:off x="9110662" y="1120228"/>
              <a:ext cx="325120" cy="186055"/>
            </a:xfrm>
            <a:custGeom>
              <a:rect b="b" l="l" r="r" t="t"/>
              <a:pathLst>
                <a:path extrusionOk="0" h="186055" w="325120">
                  <a:moveTo>
                    <a:pt x="92824" y="185686"/>
                  </a:moveTo>
                  <a:lnTo>
                    <a:pt x="0" y="185686"/>
                  </a:lnTo>
                  <a:lnTo>
                    <a:pt x="208902" y="0"/>
                  </a:lnTo>
                  <a:lnTo>
                    <a:pt x="237899" y="46380"/>
                  </a:lnTo>
                  <a:lnTo>
                    <a:pt x="162471" y="46380"/>
                  </a:lnTo>
                  <a:lnTo>
                    <a:pt x="129971" y="102095"/>
                  </a:lnTo>
                  <a:lnTo>
                    <a:pt x="272731" y="102095"/>
                  </a:lnTo>
                  <a:lnTo>
                    <a:pt x="287246" y="125310"/>
                  </a:lnTo>
                  <a:lnTo>
                    <a:pt x="125310" y="125310"/>
                  </a:lnTo>
                  <a:lnTo>
                    <a:pt x="92824" y="185686"/>
                  </a:lnTo>
                  <a:close/>
                </a:path>
                <a:path extrusionOk="0" h="186055" w="325120">
                  <a:moveTo>
                    <a:pt x="272731" y="102095"/>
                  </a:moveTo>
                  <a:lnTo>
                    <a:pt x="194970" y="102095"/>
                  </a:lnTo>
                  <a:lnTo>
                    <a:pt x="162471" y="46380"/>
                  </a:lnTo>
                  <a:lnTo>
                    <a:pt x="237899" y="46380"/>
                  </a:lnTo>
                  <a:lnTo>
                    <a:pt x="272731" y="102095"/>
                  </a:lnTo>
                  <a:close/>
                </a:path>
                <a:path extrusionOk="0" h="186055" w="325120">
                  <a:moveTo>
                    <a:pt x="324993" y="185686"/>
                  </a:moveTo>
                  <a:lnTo>
                    <a:pt x="232117" y="185686"/>
                  </a:lnTo>
                  <a:lnTo>
                    <a:pt x="199631" y="125310"/>
                  </a:lnTo>
                  <a:lnTo>
                    <a:pt x="287246" y="125310"/>
                  </a:lnTo>
                  <a:lnTo>
                    <a:pt x="324993" y="185686"/>
                  </a:lnTo>
                  <a:close/>
                </a:path>
              </a:pathLst>
            </a:custGeom>
            <a:solidFill>
              <a:srgbClr val="2F0D6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" name="Google Shape;158;p13"/>
          <p:cNvSpPr txBox="1"/>
          <p:nvPr/>
        </p:nvSpPr>
        <p:spPr>
          <a:xfrm>
            <a:off x="-12700" y="7621128"/>
            <a:ext cx="435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imes New Roman"/>
                <a:ea typeface="Times New Roman"/>
                <a:cs typeface="Times New Roman"/>
                <a:sym typeface="Times New Roman"/>
              </a:rPr>
              <a:t>6 sur 20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9" name="Google Shape;159;p13" title="2026-05-05 15_43_24-Incohérence ANSSI et business — Mozilla Firefo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7446" y="2153265"/>
            <a:ext cx="8758250" cy="439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3"/>
          <p:cNvSpPr/>
          <p:nvPr/>
        </p:nvSpPr>
        <p:spPr>
          <a:xfrm>
            <a:off x="854669" y="2149492"/>
            <a:ext cx="1367700" cy="43980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5896544" y="2149492"/>
            <a:ext cx="3099000" cy="4398000"/>
          </a:xfrm>
          <a:prstGeom prst="rect">
            <a:avLst/>
          </a:prstGeom>
          <a:noFill/>
          <a:ln cap="flat" cmpd="sng" w="28575">
            <a:solidFill>
              <a:srgbClr val="15A3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3864833" y="2149492"/>
            <a:ext cx="1731900" cy="43980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lg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2319244" y="2149492"/>
            <a:ext cx="1367700" cy="4398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 txBox="1"/>
          <p:nvPr/>
        </p:nvSpPr>
        <p:spPr>
          <a:xfrm>
            <a:off x="4088024" y="7591793"/>
            <a:ext cx="16143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A31"/>
                </a:solidFill>
                <a:latin typeface="Trebuchet MS"/>
                <a:ea typeface="Trebuchet MS"/>
                <a:cs typeface="Trebuchet MS"/>
                <a:sym typeface="Trebuchet MS"/>
              </a:rPr>
              <a:t>SAN-Log_it – Modélisation ESN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5" name="Google Shape;165;p13" title="logo-decoupe-sans-blanc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60651" y="1865453"/>
            <a:ext cx="692860" cy="695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3" title="1000004042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2540" y="786667"/>
            <a:ext cx="1925449" cy="1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3"/>
          <p:cNvSpPr txBox="1"/>
          <p:nvPr/>
        </p:nvSpPr>
        <p:spPr>
          <a:xfrm>
            <a:off x="403356" y="909458"/>
            <a:ext cx="4654200" cy="6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F0D6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technique cible</a:t>
            </a:r>
            <a:endParaRPr b="1" sz="2500">
              <a:solidFill>
                <a:srgbClr val="2F0D6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730730" y="6752975"/>
            <a:ext cx="42198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Preuve: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Schéma détaillé ( page 9 du mémoire)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 txBox="1"/>
          <p:nvPr>
            <p:ph idx="11" type="ftr"/>
          </p:nvPr>
        </p:nvSpPr>
        <p:spPr>
          <a:xfrm>
            <a:off x="9114472" y="7621128"/>
            <a:ext cx="95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08/06/2026, 22:37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/>
          <p:nvPr/>
        </p:nvSpPr>
        <p:spPr>
          <a:xfrm>
            <a:off x="824577" y="892869"/>
            <a:ext cx="38100" cy="779779"/>
          </a:xfrm>
          <a:custGeom>
            <a:rect b="b" l="l" r="r" t="t"/>
            <a:pathLst>
              <a:path extrusionOk="0" h="779779" w="38100">
                <a:moveTo>
                  <a:pt x="37896" y="779157"/>
                </a:moveTo>
                <a:lnTo>
                  <a:pt x="0" y="779208"/>
                </a:lnTo>
                <a:lnTo>
                  <a:pt x="0" y="0"/>
                </a:lnTo>
                <a:lnTo>
                  <a:pt x="37896" y="0"/>
                </a:lnTo>
                <a:lnTo>
                  <a:pt x="37896" y="779157"/>
                </a:lnTo>
                <a:close/>
              </a:path>
            </a:pathLst>
          </a:custGeom>
          <a:solidFill>
            <a:srgbClr val="15A34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4"/>
          <p:cNvSpPr txBox="1"/>
          <p:nvPr/>
        </p:nvSpPr>
        <p:spPr>
          <a:xfrm>
            <a:off x="3072293" y="243748"/>
            <a:ext cx="3707100" cy="6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réseau </a:t>
            </a:r>
            <a:r>
              <a:rPr b="1" lang="en-US" sz="1200">
                <a:solidFill>
                  <a:srgbClr val="FF5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SAN-Log_it</a:t>
            </a:r>
            <a:endParaRPr b="1" sz="1200">
              <a:solidFill>
                <a:srgbClr val="FF5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</a:t>
            </a:r>
            <a:endParaRPr b="1" sz="12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│</a:t>
            </a:r>
            <a:endParaRPr b="1" sz="120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Routeur opérateur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│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Firewall pfSense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│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 Cisco 350 (VLAN)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│</a:t>
            </a:r>
            <a:endParaRPr b="1" sz="120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85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├── VLAN administration</a:t>
            </a:r>
            <a:endParaRPr b="1" sz="1200">
              <a:solidFill>
                <a:srgbClr val="00857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85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├── VLAN serveurs</a:t>
            </a:r>
            <a:endParaRPr b="1" sz="1200">
              <a:solidFill>
                <a:srgbClr val="00857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85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├── VLAN clients</a:t>
            </a:r>
            <a:endParaRPr b="1" sz="1200">
              <a:solidFill>
                <a:srgbClr val="00857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85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└── VLAN laboratoire</a:t>
            </a:r>
            <a:endParaRPr b="1" sz="1200">
              <a:solidFill>
                <a:srgbClr val="00857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│</a:t>
            </a:r>
            <a:endParaRPr b="1" sz="120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71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Serveur HP ProLiant</a:t>
            </a:r>
            <a:endParaRPr b="1" sz="1200">
              <a:solidFill>
                <a:srgbClr val="FF712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71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│</a:t>
            </a:r>
            <a:endParaRPr b="1" sz="1200">
              <a:solidFill>
                <a:srgbClr val="FF712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71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Hyperviseur</a:t>
            </a:r>
            <a:endParaRPr b="1" sz="1200">
              <a:solidFill>
                <a:srgbClr val="FF712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│</a:t>
            </a:r>
            <a:endParaRPr b="1" sz="120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├── Windows Server (AD / DNS / DHCP)</a:t>
            </a:r>
            <a:endParaRPr b="1" sz="1200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├── Debian / Ubuntu (services réseau)</a:t>
            </a:r>
            <a:endParaRPr b="1" sz="1200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└── Kali Linux (tests sécurité)</a:t>
            </a:r>
            <a:endParaRPr b="1" sz="1200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│</a:t>
            </a:r>
            <a:endParaRPr b="1" sz="120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NAS Synology</a:t>
            </a:r>
            <a:endParaRPr b="1" sz="1200"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95D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│</a:t>
            </a:r>
            <a:endParaRPr b="1" sz="1200">
              <a:solidFill>
                <a:srgbClr val="695D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A34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Sauvegarde et stockage</a:t>
            </a:r>
            <a:endParaRPr b="1" sz="1200">
              <a:solidFill>
                <a:srgbClr val="15A34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4"/>
          <p:cNvSpPr txBox="1"/>
          <p:nvPr>
            <p:ph idx="12" type="sldNum"/>
          </p:nvPr>
        </p:nvSpPr>
        <p:spPr>
          <a:xfrm>
            <a:off x="-38100" y="7621128"/>
            <a:ext cx="5238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sur 20</a:t>
            </a:r>
            <a:endParaRPr/>
          </a:p>
        </p:txBody>
      </p:sp>
      <p:sp>
        <p:nvSpPr>
          <p:cNvPr id="177" name="Google Shape;177;p14"/>
          <p:cNvSpPr txBox="1"/>
          <p:nvPr/>
        </p:nvSpPr>
        <p:spPr>
          <a:xfrm>
            <a:off x="752412" y="954088"/>
            <a:ext cx="3009600" cy="8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F0D6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technique</a:t>
            </a:r>
            <a:endParaRPr b="1" sz="2000">
              <a:solidFill>
                <a:srgbClr val="2F0D6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F0D6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cible</a:t>
            </a:r>
            <a:endParaRPr b="1" sz="2000">
              <a:solidFill>
                <a:srgbClr val="2F0D6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14"/>
          <p:cNvSpPr txBox="1"/>
          <p:nvPr/>
        </p:nvSpPr>
        <p:spPr>
          <a:xfrm>
            <a:off x="4088024" y="7591793"/>
            <a:ext cx="16143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A31"/>
                </a:solidFill>
                <a:latin typeface="Trebuchet MS"/>
                <a:ea typeface="Trebuchet MS"/>
                <a:cs typeface="Trebuchet MS"/>
                <a:sym typeface="Trebuchet MS"/>
              </a:rPr>
              <a:t>SAN-Log_it – Modélisation ESN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9" name="Google Shape;179;p14" title="logo-decoupe-sans-blan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23326" y="1056165"/>
            <a:ext cx="692860" cy="695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4" title="100000404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2540" y="778910"/>
            <a:ext cx="1925449" cy="1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4"/>
          <p:cNvSpPr txBox="1"/>
          <p:nvPr>
            <p:ph idx="11" type="ftr"/>
          </p:nvPr>
        </p:nvSpPr>
        <p:spPr>
          <a:xfrm>
            <a:off x="9114472" y="7621128"/>
            <a:ext cx="95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08/06/2026, 22:37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/>
          <p:nvPr/>
        </p:nvSpPr>
        <p:spPr>
          <a:xfrm>
            <a:off x="786373" y="3212450"/>
            <a:ext cx="7659416" cy="5714"/>
          </a:xfrm>
          <a:custGeom>
            <a:rect b="b" l="l" r="r" t="t"/>
            <a:pathLst>
              <a:path extrusionOk="0" h="5714" w="9091295">
                <a:moveTo>
                  <a:pt x="9090672" y="5410"/>
                </a:moveTo>
                <a:lnTo>
                  <a:pt x="0" y="5410"/>
                </a:lnTo>
                <a:lnTo>
                  <a:pt x="0" y="0"/>
                </a:lnTo>
                <a:lnTo>
                  <a:pt x="9090672" y="0"/>
                </a:lnTo>
                <a:lnTo>
                  <a:pt x="9090672" y="5410"/>
                </a:lnTo>
                <a:close/>
              </a:path>
            </a:pathLst>
          </a:custGeom>
          <a:solidFill>
            <a:srgbClr val="E2E8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"/>
          <p:cNvSpPr/>
          <p:nvPr/>
        </p:nvSpPr>
        <p:spPr>
          <a:xfrm>
            <a:off x="786373" y="3643941"/>
            <a:ext cx="7659416" cy="5714"/>
          </a:xfrm>
          <a:custGeom>
            <a:rect b="b" l="l" r="r" t="t"/>
            <a:pathLst>
              <a:path extrusionOk="0" h="5714" w="9091295">
                <a:moveTo>
                  <a:pt x="9090672" y="5410"/>
                </a:moveTo>
                <a:lnTo>
                  <a:pt x="0" y="5410"/>
                </a:lnTo>
                <a:lnTo>
                  <a:pt x="0" y="0"/>
                </a:lnTo>
                <a:lnTo>
                  <a:pt x="9090672" y="0"/>
                </a:lnTo>
                <a:lnTo>
                  <a:pt x="9090672" y="5410"/>
                </a:lnTo>
                <a:close/>
              </a:path>
            </a:pathLst>
          </a:custGeom>
          <a:solidFill>
            <a:srgbClr val="E2E8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5"/>
          <p:cNvSpPr/>
          <p:nvPr/>
        </p:nvSpPr>
        <p:spPr>
          <a:xfrm>
            <a:off x="786373" y="4075496"/>
            <a:ext cx="7659416" cy="5714"/>
          </a:xfrm>
          <a:custGeom>
            <a:rect b="b" l="l" r="r" t="t"/>
            <a:pathLst>
              <a:path extrusionOk="0" h="5714" w="9091295">
                <a:moveTo>
                  <a:pt x="9090672" y="5410"/>
                </a:moveTo>
                <a:lnTo>
                  <a:pt x="0" y="5410"/>
                </a:lnTo>
                <a:lnTo>
                  <a:pt x="0" y="0"/>
                </a:lnTo>
                <a:lnTo>
                  <a:pt x="9090672" y="0"/>
                </a:lnTo>
                <a:lnTo>
                  <a:pt x="9090672" y="5410"/>
                </a:lnTo>
                <a:close/>
              </a:path>
            </a:pathLst>
          </a:custGeom>
          <a:solidFill>
            <a:srgbClr val="E2E8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786373" y="4305361"/>
            <a:ext cx="7659416" cy="5714"/>
          </a:xfrm>
          <a:custGeom>
            <a:rect b="b" l="l" r="r" t="t"/>
            <a:pathLst>
              <a:path extrusionOk="0" h="5714" w="9091295">
                <a:moveTo>
                  <a:pt x="9090672" y="5410"/>
                </a:moveTo>
                <a:lnTo>
                  <a:pt x="0" y="5410"/>
                </a:lnTo>
                <a:lnTo>
                  <a:pt x="0" y="0"/>
                </a:lnTo>
                <a:lnTo>
                  <a:pt x="9090672" y="0"/>
                </a:lnTo>
                <a:lnTo>
                  <a:pt x="9090672" y="5410"/>
                </a:lnTo>
                <a:close/>
              </a:path>
            </a:pathLst>
          </a:custGeom>
          <a:solidFill>
            <a:srgbClr val="E2E8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"/>
          <p:cNvSpPr/>
          <p:nvPr/>
        </p:nvSpPr>
        <p:spPr>
          <a:xfrm>
            <a:off x="390761" y="4729165"/>
            <a:ext cx="9091295" cy="5714"/>
          </a:xfrm>
          <a:custGeom>
            <a:rect b="b" l="l" r="r" t="t"/>
            <a:pathLst>
              <a:path extrusionOk="0" h="5714" w="9091295">
                <a:moveTo>
                  <a:pt x="9090672" y="5410"/>
                </a:moveTo>
                <a:lnTo>
                  <a:pt x="0" y="5410"/>
                </a:lnTo>
                <a:lnTo>
                  <a:pt x="0" y="0"/>
                </a:lnTo>
                <a:lnTo>
                  <a:pt x="9090672" y="0"/>
                </a:lnTo>
                <a:lnTo>
                  <a:pt x="9090672" y="5410"/>
                </a:lnTo>
                <a:close/>
              </a:path>
            </a:pathLst>
          </a:custGeom>
          <a:solidFill>
            <a:srgbClr val="E2E8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755675" y="2513831"/>
            <a:ext cx="477519" cy="113030"/>
          </a:xfrm>
          <a:custGeom>
            <a:rect b="b" l="l" r="r" t="t"/>
            <a:pathLst>
              <a:path extrusionOk="0" h="113030" w="477519">
                <a:moveTo>
                  <a:pt x="24206" y="111163"/>
                </a:moveTo>
                <a:lnTo>
                  <a:pt x="0" y="111163"/>
                </a:lnTo>
                <a:lnTo>
                  <a:pt x="0" y="2273"/>
                </a:lnTo>
                <a:lnTo>
                  <a:pt x="16967" y="2273"/>
                </a:lnTo>
                <a:lnTo>
                  <a:pt x="10960" y="28968"/>
                </a:lnTo>
                <a:lnTo>
                  <a:pt x="24206" y="45941"/>
                </a:lnTo>
                <a:lnTo>
                  <a:pt x="24206" y="111163"/>
                </a:lnTo>
                <a:close/>
              </a:path>
              <a:path extrusionOk="0" h="113030" w="477519">
                <a:moveTo>
                  <a:pt x="24206" y="45941"/>
                </a:moveTo>
                <a:lnTo>
                  <a:pt x="10960" y="28968"/>
                </a:lnTo>
                <a:lnTo>
                  <a:pt x="16967" y="2273"/>
                </a:lnTo>
                <a:lnTo>
                  <a:pt x="24206" y="24053"/>
                </a:lnTo>
                <a:lnTo>
                  <a:pt x="24206" y="45941"/>
                </a:lnTo>
                <a:close/>
              </a:path>
              <a:path extrusionOk="0" h="113030" w="477519">
                <a:moveTo>
                  <a:pt x="75107" y="111163"/>
                </a:moveTo>
                <a:lnTo>
                  <a:pt x="24206" y="45941"/>
                </a:lnTo>
                <a:lnTo>
                  <a:pt x="24206" y="24053"/>
                </a:lnTo>
                <a:lnTo>
                  <a:pt x="16967" y="2273"/>
                </a:lnTo>
                <a:lnTo>
                  <a:pt x="68656" y="68474"/>
                </a:lnTo>
                <a:lnTo>
                  <a:pt x="68656" y="89433"/>
                </a:lnTo>
                <a:lnTo>
                  <a:pt x="75107" y="111163"/>
                </a:lnTo>
                <a:close/>
              </a:path>
              <a:path extrusionOk="0" h="113030" w="477519">
                <a:moveTo>
                  <a:pt x="92862" y="111163"/>
                </a:moveTo>
                <a:lnTo>
                  <a:pt x="75107" y="111163"/>
                </a:lnTo>
                <a:lnTo>
                  <a:pt x="81153" y="84480"/>
                </a:lnTo>
                <a:lnTo>
                  <a:pt x="68656" y="68474"/>
                </a:lnTo>
                <a:lnTo>
                  <a:pt x="68656" y="2273"/>
                </a:lnTo>
                <a:lnTo>
                  <a:pt x="92862" y="2273"/>
                </a:lnTo>
                <a:lnTo>
                  <a:pt x="92862" y="111163"/>
                </a:lnTo>
                <a:close/>
              </a:path>
              <a:path extrusionOk="0" h="113030" w="477519">
                <a:moveTo>
                  <a:pt x="75107" y="111163"/>
                </a:moveTo>
                <a:lnTo>
                  <a:pt x="68656" y="89433"/>
                </a:lnTo>
                <a:lnTo>
                  <a:pt x="68656" y="68474"/>
                </a:lnTo>
                <a:lnTo>
                  <a:pt x="81153" y="84480"/>
                </a:lnTo>
                <a:lnTo>
                  <a:pt x="75107" y="111163"/>
                </a:lnTo>
                <a:close/>
              </a:path>
              <a:path extrusionOk="0" h="113030" w="477519">
                <a:moveTo>
                  <a:pt x="135229" y="111163"/>
                </a:moveTo>
                <a:lnTo>
                  <a:pt x="111671" y="111163"/>
                </a:lnTo>
                <a:lnTo>
                  <a:pt x="111671" y="36207"/>
                </a:lnTo>
                <a:lnTo>
                  <a:pt x="135229" y="36207"/>
                </a:lnTo>
                <a:lnTo>
                  <a:pt x="135229" y="111163"/>
                </a:lnTo>
                <a:close/>
              </a:path>
              <a:path extrusionOk="0" h="113030" w="477519">
                <a:moveTo>
                  <a:pt x="127241" y="25895"/>
                </a:moveTo>
                <a:lnTo>
                  <a:pt x="119849" y="25895"/>
                </a:lnTo>
                <a:lnTo>
                  <a:pt x="116776" y="24650"/>
                </a:lnTo>
                <a:lnTo>
                  <a:pt x="114350" y="22123"/>
                </a:lnTo>
                <a:lnTo>
                  <a:pt x="111963" y="19583"/>
                </a:lnTo>
                <a:lnTo>
                  <a:pt x="110731" y="16510"/>
                </a:lnTo>
                <a:lnTo>
                  <a:pt x="110731" y="9220"/>
                </a:lnTo>
                <a:lnTo>
                  <a:pt x="111963" y="6146"/>
                </a:lnTo>
                <a:lnTo>
                  <a:pt x="114350" y="3670"/>
                </a:lnTo>
                <a:lnTo>
                  <a:pt x="116776" y="1231"/>
                </a:lnTo>
                <a:lnTo>
                  <a:pt x="119849" y="0"/>
                </a:lnTo>
                <a:lnTo>
                  <a:pt x="127241" y="0"/>
                </a:lnTo>
                <a:lnTo>
                  <a:pt x="130276" y="1231"/>
                </a:lnTo>
                <a:lnTo>
                  <a:pt x="132651" y="3670"/>
                </a:lnTo>
                <a:lnTo>
                  <a:pt x="134988" y="6146"/>
                </a:lnTo>
                <a:lnTo>
                  <a:pt x="136169" y="9220"/>
                </a:lnTo>
                <a:lnTo>
                  <a:pt x="136169" y="16510"/>
                </a:lnTo>
                <a:lnTo>
                  <a:pt x="134988" y="19583"/>
                </a:lnTo>
                <a:lnTo>
                  <a:pt x="132651" y="22123"/>
                </a:lnTo>
                <a:lnTo>
                  <a:pt x="130276" y="24650"/>
                </a:lnTo>
                <a:lnTo>
                  <a:pt x="127241" y="25895"/>
                </a:lnTo>
                <a:close/>
              </a:path>
              <a:path extrusionOk="0" h="113030" w="477519">
                <a:moveTo>
                  <a:pt x="194513" y="111163"/>
                </a:moveTo>
                <a:lnTo>
                  <a:pt x="175514" y="111163"/>
                </a:lnTo>
                <a:lnTo>
                  <a:pt x="143764" y="36207"/>
                </a:lnTo>
                <a:lnTo>
                  <a:pt x="169214" y="36207"/>
                </a:lnTo>
                <a:lnTo>
                  <a:pt x="185242" y="82601"/>
                </a:lnTo>
                <a:lnTo>
                  <a:pt x="179679" y="98666"/>
                </a:lnTo>
                <a:lnTo>
                  <a:pt x="199806" y="98666"/>
                </a:lnTo>
                <a:lnTo>
                  <a:pt x="194513" y="111163"/>
                </a:lnTo>
                <a:close/>
              </a:path>
              <a:path extrusionOk="0" h="113030" w="477519">
                <a:moveTo>
                  <a:pt x="199806" y="98666"/>
                </a:moveTo>
                <a:lnTo>
                  <a:pt x="190792" y="98666"/>
                </a:lnTo>
                <a:lnTo>
                  <a:pt x="185242" y="82601"/>
                </a:lnTo>
                <a:lnTo>
                  <a:pt x="201307" y="36207"/>
                </a:lnTo>
                <a:lnTo>
                  <a:pt x="226263" y="36207"/>
                </a:lnTo>
                <a:lnTo>
                  <a:pt x="199806" y="98666"/>
                </a:lnTo>
                <a:close/>
              </a:path>
              <a:path extrusionOk="0" h="113030" w="477519">
                <a:moveTo>
                  <a:pt x="190792" y="98666"/>
                </a:moveTo>
                <a:lnTo>
                  <a:pt x="179679" y="98666"/>
                </a:lnTo>
                <a:lnTo>
                  <a:pt x="185242" y="82601"/>
                </a:lnTo>
                <a:lnTo>
                  <a:pt x="190792" y="98666"/>
                </a:lnTo>
                <a:close/>
              </a:path>
              <a:path extrusionOk="0" h="113030" w="477519">
                <a:moveTo>
                  <a:pt x="275970" y="112852"/>
                </a:moveTo>
                <a:lnTo>
                  <a:pt x="261581" y="112852"/>
                </a:lnTo>
                <a:lnTo>
                  <a:pt x="254393" y="111213"/>
                </a:lnTo>
                <a:lnTo>
                  <a:pt x="227898" y="81749"/>
                </a:lnTo>
                <a:lnTo>
                  <a:pt x="227804" y="81407"/>
                </a:lnTo>
                <a:lnTo>
                  <a:pt x="227749" y="66167"/>
                </a:lnTo>
                <a:lnTo>
                  <a:pt x="229539" y="59474"/>
                </a:lnTo>
                <a:lnTo>
                  <a:pt x="233108" y="53568"/>
                </a:lnTo>
                <a:lnTo>
                  <a:pt x="236639" y="47663"/>
                </a:lnTo>
                <a:lnTo>
                  <a:pt x="241452" y="43002"/>
                </a:lnTo>
                <a:lnTo>
                  <a:pt x="253788" y="36106"/>
                </a:lnTo>
                <a:lnTo>
                  <a:pt x="254014" y="36106"/>
                </a:lnTo>
                <a:lnTo>
                  <a:pt x="260400" y="34518"/>
                </a:lnTo>
                <a:lnTo>
                  <a:pt x="275424" y="34518"/>
                </a:lnTo>
                <a:lnTo>
                  <a:pt x="281978" y="36106"/>
                </a:lnTo>
                <a:lnTo>
                  <a:pt x="293293" y="42506"/>
                </a:lnTo>
                <a:lnTo>
                  <a:pt x="297700" y="46926"/>
                </a:lnTo>
                <a:lnTo>
                  <a:pt x="300926" y="52578"/>
                </a:lnTo>
                <a:lnTo>
                  <a:pt x="264464" y="52578"/>
                </a:lnTo>
                <a:lnTo>
                  <a:pt x="261624" y="53327"/>
                </a:lnTo>
                <a:lnTo>
                  <a:pt x="261402" y="53327"/>
                </a:lnTo>
                <a:lnTo>
                  <a:pt x="255828" y="56794"/>
                </a:lnTo>
                <a:lnTo>
                  <a:pt x="253695" y="59182"/>
                </a:lnTo>
                <a:lnTo>
                  <a:pt x="250796" y="65227"/>
                </a:lnTo>
                <a:lnTo>
                  <a:pt x="240106" y="65227"/>
                </a:lnTo>
                <a:lnTo>
                  <a:pt x="240106" y="81407"/>
                </a:lnTo>
                <a:lnTo>
                  <a:pt x="250701" y="81407"/>
                </a:lnTo>
                <a:lnTo>
                  <a:pt x="250774" y="81749"/>
                </a:lnTo>
                <a:lnTo>
                  <a:pt x="253923" y="87947"/>
                </a:lnTo>
                <a:lnTo>
                  <a:pt x="256235" y="90436"/>
                </a:lnTo>
                <a:lnTo>
                  <a:pt x="262089" y="93802"/>
                </a:lnTo>
                <a:lnTo>
                  <a:pt x="265557" y="94653"/>
                </a:lnTo>
                <a:lnTo>
                  <a:pt x="295157" y="94653"/>
                </a:lnTo>
                <a:lnTo>
                  <a:pt x="300380" y="99860"/>
                </a:lnTo>
                <a:lnTo>
                  <a:pt x="296710" y="104228"/>
                </a:lnTo>
                <a:lnTo>
                  <a:pt x="292252" y="107442"/>
                </a:lnTo>
                <a:lnTo>
                  <a:pt x="281724" y="111760"/>
                </a:lnTo>
                <a:lnTo>
                  <a:pt x="275970" y="112852"/>
                </a:lnTo>
                <a:close/>
              </a:path>
              <a:path extrusionOk="0" h="113030" w="477519">
                <a:moveTo>
                  <a:pt x="284505" y="71970"/>
                </a:moveTo>
                <a:lnTo>
                  <a:pt x="284403" y="67665"/>
                </a:lnTo>
                <a:lnTo>
                  <a:pt x="283971" y="65227"/>
                </a:lnTo>
                <a:lnTo>
                  <a:pt x="283874" y="64681"/>
                </a:lnTo>
                <a:lnTo>
                  <a:pt x="271652" y="52578"/>
                </a:lnTo>
                <a:lnTo>
                  <a:pt x="300926" y="52578"/>
                </a:lnTo>
                <a:lnTo>
                  <a:pt x="304203" y="58229"/>
                </a:lnTo>
                <a:lnTo>
                  <a:pt x="305790" y="64681"/>
                </a:lnTo>
                <a:lnTo>
                  <a:pt x="305787" y="65227"/>
                </a:lnTo>
                <a:lnTo>
                  <a:pt x="294728" y="65227"/>
                </a:lnTo>
                <a:lnTo>
                  <a:pt x="284505" y="71970"/>
                </a:lnTo>
                <a:close/>
              </a:path>
              <a:path extrusionOk="0" h="113030" w="477519">
                <a:moveTo>
                  <a:pt x="250701" y="81407"/>
                </a:moveTo>
                <a:lnTo>
                  <a:pt x="240106" y="81407"/>
                </a:lnTo>
                <a:lnTo>
                  <a:pt x="240106" y="65227"/>
                </a:lnTo>
                <a:lnTo>
                  <a:pt x="250754" y="65227"/>
                </a:lnTo>
                <a:lnTo>
                  <a:pt x="249974" y="69100"/>
                </a:lnTo>
                <a:lnTo>
                  <a:pt x="249974" y="77978"/>
                </a:lnTo>
                <a:lnTo>
                  <a:pt x="250658" y="81203"/>
                </a:lnTo>
                <a:lnTo>
                  <a:pt x="250701" y="81407"/>
                </a:lnTo>
                <a:close/>
              </a:path>
              <a:path extrusionOk="0" h="113030" w="477519">
                <a:moveTo>
                  <a:pt x="304749" y="81407"/>
                </a:moveTo>
                <a:lnTo>
                  <a:pt x="250701" y="81407"/>
                </a:lnTo>
                <a:lnTo>
                  <a:pt x="249974" y="77978"/>
                </a:lnTo>
                <a:lnTo>
                  <a:pt x="249974" y="69100"/>
                </a:lnTo>
                <a:lnTo>
                  <a:pt x="250754" y="65227"/>
                </a:lnTo>
                <a:lnTo>
                  <a:pt x="283971" y="65227"/>
                </a:lnTo>
                <a:lnTo>
                  <a:pt x="284403" y="67665"/>
                </a:lnTo>
                <a:lnTo>
                  <a:pt x="284505" y="71970"/>
                </a:lnTo>
                <a:lnTo>
                  <a:pt x="305753" y="71970"/>
                </a:lnTo>
                <a:lnTo>
                  <a:pt x="305739" y="74752"/>
                </a:lnTo>
                <a:lnTo>
                  <a:pt x="305447" y="77736"/>
                </a:lnTo>
                <a:lnTo>
                  <a:pt x="305142" y="79463"/>
                </a:lnTo>
                <a:lnTo>
                  <a:pt x="304790" y="81203"/>
                </a:lnTo>
                <a:lnTo>
                  <a:pt x="304749" y="81407"/>
                </a:lnTo>
                <a:close/>
              </a:path>
              <a:path extrusionOk="0" h="113030" w="477519">
                <a:moveTo>
                  <a:pt x="305753" y="71970"/>
                </a:moveTo>
                <a:lnTo>
                  <a:pt x="284505" y="71970"/>
                </a:lnTo>
                <a:lnTo>
                  <a:pt x="294728" y="65227"/>
                </a:lnTo>
                <a:lnTo>
                  <a:pt x="305787" y="65227"/>
                </a:lnTo>
                <a:lnTo>
                  <a:pt x="305753" y="71970"/>
                </a:lnTo>
                <a:close/>
              </a:path>
              <a:path extrusionOk="0" h="113030" w="477519">
                <a:moveTo>
                  <a:pt x="295157" y="94653"/>
                </a:moveTo>
                <a:lnTo>
                  <a:pt x="273240" y="94653"/>
                </a:lnTo>
                <a:lnTo>
                  <a:pt x="277678" y="93802"/>
                </a:lnTo>
                <a:lnTo>
                  <a:pt x="277103" y="93802"/>
                </a:lnTo>
                <a:lnTo>
                  <a:pt x="279590" y="92760"/>
                </a:lnTo>
                <a:lnTo>
                  <a:pt x="282574" y="91478"/>
                </a:lnTo>
                <a:lnTo>
                  <a:pt x="285203" y="89535"/>
                </a:lnTo>
                <a:lnTo>
                  <a:pt x="287439" y="86956"/>
                </a:lnTo>
                <a:lnTo>
                  <a:pt x="295157" y="94653"/>
                </a:lnTo>
                <a:close/>
              </a:path>
              <a:path extrusionOk="0" h="113030" w="477519">
                <a:moveTo>
                  <a:pt x="353567" y="112699"/>
                </a:moveTo>
                <a:lnTo>
                  <a:pt x="341655" y="112699"/>
                </a:lnTo>
                <a:lnTo>
                  <a:pt x="335508" y="111023"/>
                </a:lnTo>
                <a:lnTo>
                  <a:pt x="312635" y="81203"/>
                </a:lnTo>
                <a:lnTo>
                  <a:pt x="312635" y="66167"/>
                </a:lnTo>
                <a:lnTo>
                  <a:pt x="341655" y="34671"/>
                </a:lnTo>
                <a:lnTo>
                  <a:pt x="353567" y="34671"/>
                </a:lnTo>
                <a:lnTo>
                  <a:pt x="358127" y="35661"/>
                </a:lnTo>
                <a:lnTo>
                  <a:pt x="362191" y="37592"/>
                </a:lnTo>
                <a:lnTo>
                  <a:pt x="366267" y="39585"/>
                </a:lnTo>
                <a:lnTo>
                  <a:pt x="369189" y="41947"/>
                </a:lnTo>
                <a:lnTo>
                  <a:pt x="369189" y="54559"/>
                </a:lnTo>
                <a:lnTo>
                  <a:pt x="369462" y="55956"/>
                </a:lnTo>
                <a:lnTo>
                  <a:pt x="350189" y="55956"/>
                </a:lnTo>
                <a:lnTo>
                  <a:pt x="347306" y="56692"/>
                </a:lnTo>
                <a:lnTo>
                  <a:pt x="342252" y="59677"/>
                </a:lnTo>
                <a:lnTo>
                  <a:pt x="340271" y="61760"/>
                </a:lnTo>
                <a:lnTo>
                  <a:pt x="338785" y="64439"/>
                </a:lnTo>
                <a:lnTo>
                  <a:pt x="337235" y="67119"/>
                </a:lnTo>
                <a:lnTo>
                  <a:pt x="336499" y="70192"/>
                </a:lnTo>
                <a:lnTo>
                  <a:pt x="336499" y="77089"/>
                </a:lnTo>
                <a:lnTo>
                  <a:pt x="337235" y="80111"/>
                </a:lnTo>
                <a:lnTo>
                  <a:pt x="340118" y="85471"/>
                </a:lnTo>
                <a:lnTo>
                  <a:pt x="342099" y="87553"/>
                </a:lnTo>
                <a:lnTo>
                  <a:pt x="344677" y="89090"/>
                </a:lnTo>
                <a:lnTo>
                  <a:pt x="347268" y="90678"/>
                </a:lnTo>
                <a:lnTo>
                  <a:pt x="350139" y="91427"/>
                </a:lnTo>
                <a:lnTo>
                  <a:pt x="369189" y="91427"/>
                </a:lnTo>
                <a:lnTo>
                  <a:pt x="369189" y="105524"/>
                </a:lnTo>
                <a:lnTo>
                  <a:pt x="366356" y="107848"/>
                </a:lnTo>
                <a:lnTo>
                  <a:pt x="358178" y="111709"/>
                </a:lnTo>
                <a:lnTo>
                  <a:pt x="353567" y="112699"/>
                </a:lnTo>
                <a:close/>
              </a:path>
              <a:path extrusionOk="0" h="113030" w="477519">
                <a:moveTo>
                  <a:pt x="392353" y="111163"/>
                </a:moveTo>
                <a:lnTo>
                  <a:pt x="369189" y="111163"/>
                </a:lnTo>
                <a:lnTo>
                  <a:pt x="369189" y="105524"/>
                </a:lnTo>
                <a:lnTo>
                  <a:pt x="369684" y="105117"/>
                </a:lnTo>
                <a:lnTo>
                  <a:pt x="374751" y="98221"/>
                </a:lnTo>
                <a:lnTo>
                  <a:pt x="376135" y="94297"/>
                </a:lnTo>
                <a:lnTo>
                  <a:pt x="376135" y="53073"/>
                </a:lnTo>
                <a:lnTo>
                  <a:pt x="374700" y="49161"/>
                </a:lnTo>
                <a:lnTo>
                  <a:pt x="372160" y="45681"/>
                </a:lnTo>
                <a:lnTo>
                  <a:pt x="369582" y="42265"/>
                </a:lnTo>
                <a:lnTo>
                  <a:pt x="369189" y="41947"/>
                </a:lnTo>
                <a:lnTo>
                  <a:pt x="369189" y="36207"/>
                </a:lnTo>
                <a:lnTo>
                  <a:pt x="392353" y="36207"/>
                </a:lnTo>
                <a:lnTo>
                  <a:pt x="392353" y="111163"/>
                </a:lnTo>
                <a:close/>
              </a:path>
              <a:path extrusionOk="0" h="113030" w="477519">
                <a:moveTo>
                  <a:pt x="369189" y="105524"/>
                </a:moveTo>
                <a:lnTo>
                  <a:pt x="369248" y="90678"/>
                </a:lnTo>
                <a:lnTo>
                  <a:pt x="372757" y="72771"/>
                </a:lnTo>
                <a:lnTo>
                  <a:pt x="369189" y="54559"/>
                </a:lnTo>
                <a:lnTo>
                  <a:pt x="369189" y="41947"/>
                </a:lnTo>
                <a:lnTo>
                  <a:pt x="369582" y="42265"/>
                </a:lnTo>
                <a:lnTo>
                  <a:pt x="376359" y="91427"/>
                </a:lnTo>
                <a:lnTo>
                  <a:pt x="376178" y="93751"/>
                </a:lnTo>
                <a:lnTo>
                  <a:pt x="376135" y="94297"/>
                </a:lnTo>
                <a:lnTo>
                  <a:pt x="374751" y="98221"/>
                </a:lnTo>
                <a:lnTo>
                  <a:pt x="369684" y="105117"/>
                </a:lnTo>
                <a:lnTo>
                  <a:pt x="369189" y="105524"/>
                </a:lnTo>
                <a:close/>
              </a:path>
              <a:path extrusionOk="0" h="113030" w="477519">
                <a:moveTo>
                  <a:pt x="369189" y="91427"/>
                </a:moveTo>
                <a:lnTo>
                  <a:pt x="358381" y="91427"/>
                </a:lnTo>
                <a:lnTo>
                  <a:pt x="362445" y="89738"/>
                </a:lnTo>
                <a:lnTo>
                  <a:pt x="368592" y="83083"/>
                </a:lnTo>
                <a:lnTo>
                  <a:pt x="370128" y="78828"/>
                </a:lnTo>
                <a:lnTo>
                  <a:pt x="370128" y="70192"/>
                </a:lnTo>
                <a:lnTo>
                  <a:pt x="356793" y="55956"/>
                </a:lnTo>
                <a:lnTo>
                  <a:pt x="369462" y="55956"/>
                </a:lnTo>
                <a:lnTo>
                  <a:pt x="372757" y="72771"/>
                </a:lnTo>
                <a:lnTo>
                  <a:pt x="369248" y="90678"/>
                </a:lnTo>
                <a:lnTo>
                  <a:pt x="369189" y="91427"/>
                </a:lnTo>
                <a:close/>
              </a:path>
              <a:path extrusionOk="0" h="113030" w="477519">
                <a:moveTo>
                  <a:pt x="449059" y="112852"/>
                </a:moveTo>
                <a:lnTo>
                  <a:pt x="435521" y="112852"/>
                </a:lnTo>
                <a:lnTo>
                  <a:pt x="429412" y="111467"/>
                </a:lnTo>
                <a:lnTo>
                  <a:pt x="418744" y="105816"/>
                </a:lnTo>
                <a:lnTo>
                  <a:pt x="414578" y="101892"/>
                </a:lnTo>
                <a:lnTo>
                  <a:pt x="408621" y="91871"/>
                </a:lnTo>
                <a:lnTo>
                  <a:pt x="407577" y="87896"/>
                </a:lnTo>
                <a:lnTo>
                  <a:pt x="407136" y="86360"/>
                </a:lnTo>
                <a:lnTo>
                  <a:pt x="407136" y="36207"/>
                </a:lnTo>
                <a:lnTo>
                  <a:pt x="430555" y="36207"/>
                </a:lnTo>
                <a:lnTo>
                  <a:pt x="430707" y="79413"/>
                </a:lnTo>
                <a:lnTo>
                  <a:pt x="430707" y="81953"/>
                </a:lnTo>
                <a:lnTo>
                  <a:pt x="431152" y="84175"/>
                </a:lnTo>
                <a:lnTo>
                  <a:pt x="432041" y="86017"/>
                </a:lnTo>
                <a:lnTo>
                  <a:pt x="432892" y="87896"/>
                </a:lnTo>
                <a:lnTo>
                  <a:pt x="434225" y="89344"/>
                </a:lnTo>
                <a:lnTo>
                  <a:pt x="435965" y="90335"/>
                </a:lnTo>
                <a:lnTo>
                  <a:pt x="437705" y="91376"/>
                </a:lnTo>
                <a:lnTo>
                  <a:pt x="439839" y="91871"/>
                </a:lnTo>
                <a:lnTo>
                  <a:pt x="475836" y="91871"/>
                </a:lnTo>
                <a:lnTo>
                  <a:pt x="472820" y="96875"/>
                </a:lnTo>
                <a:lnTo>
                  <a:pt x="469849" y="101892"/>
                </a:lnTo>
                <a:lnTo>
                  <a:pt x="465683" y="105816"/>
                </a:lnTo>
                <a:lnTo>
                  <a:pt x="455117" y="111467"/>
                </a:lnTo>
                <a:lnTo>
                  <a:pt x="449059" y="112852"/>
                </a:lnTo>
                <a:close/>
              </a:path>
              <a:path extrusionOk="0" h="113030" w="477519">
                <a:moveTo>
                  <a:pt x="475818" y="91871"/>
                </a:moveTo>
                <a:lnTo>
                  <a:pt x="445782" y="91871"/>
                </a:lnTo>
                <a:lnTo>
                  <a:pt x="448564" y="90779"/>
                </a:lnTo>
                <a:lnTo>
                  <a:pt x="450697" y="88595"/>
                </a:lnTo>
                <a:lnTo>
                  <a:pt x="452780" y="86360"/>
                </a:lnTo>
                <a:lnTo>
                  <a:pt x="453770" y="83286"/>
                </a:lnTo>
                <a:lnTo>
                  <a:pt x="453669" y="79413"/>
                </a:lnTo>
                <a:lnTo>
                  <a:pt x="453821" y="36207"/>
                </a:lnTo>
                <a:lnTo>
                  <a:pt x="477291" y="36207"/>
                </a:lnTo>
                <a:lnTo>
                  <a:pt x="477229" y="86360"/>
                </a:lnTo>
                <a:lnTo>
                  <a:pt x="475945" y="91376"/>
                </a:lnTo>
                <a:lnTo>
                  <a:pt x="475818" y="9187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6898" y="2507329"/>
            <a:ext cx="1152626" cy="1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5"/>
          <p:cNvSpPr txBox="1"/>
          <p:nvPr/>
        </p:nvSpPr>
        <p:spPr>
          <a:xfrm>
            <a:off x="1669242" y="2878819"/>
            <a:ext cx="21972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Absence de mesures</a:t>
            </a:r>
            <a:endParaRPr b="1" sz="12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6653327" y="2879083"/>
            <a:ext cx="6204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5A349"/>
                </a:solidFill>
                <a:latin typeface="Trebuchet MS"/>
                <a:ea typeface="Trebuchet MS"/>
                <a:cs typeface="Trebuchet MS"/>
                <a:sym typeface="Trebuchet MS"/>
              </a:rPr>
              <a:t>Dépassé</a:t>
            </a:r>
            <a:endParaRPr sz="1200">
              <a:solidFill>
                <a:srgbClr val="15A34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1669242" y="3310344"/>
            <a:ext cx="23655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Mise à jour, antivirus de base</a:t>
            </a:r>
            <a:endParaRPr b="1" sz="12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6" name="Google Shape;196;p15"/>
          <p:cNvSpPr txBox="1"/>
          <p:nvPr/>
        </p:nvSpPr>
        <p:spPr>
          <a:xfrm>
            <a:off x="6653327" y="3310343"/>
            <a:ext cx="6204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9587"/>
                </a:solidFill>
                <a:latin typeface="Trebuchet MS"/>
                <a:ea typeface="Trebuchet MS"/>
                <a:cs typeface="Trebuchet MS"/>
                <a:sym typeface="Trebuchet MS"/>
              </a:rPr>
              <a:t>Dépassé</a:t>
            </a:r>
            <a:endParaRPr sz="1200">
              <a:solidFill>
                <a:srgbClr val="009587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97" name="Google Shape;19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6593" y="3786955"/>
            <a:ext cx="1375460" cy="15615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5"/>
          <p:cNvSpPr txBox="1"/>
          <p:nvPr/>
        </p:nvSpPr>
        <p:spPr>
          <a:xfrm>
            <a:off x="1669242" y="4173419"/>
            <a:ext cx="31668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Politique formalisée + audit externe</a:t>
            </a:r>
            <a:endParaRPr b="1" sz="12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9" name="Google Shape;199;p15"/>
          <p:cNvSpPr txBox="1"/>
          <p:nvPr/>
        </p:nvSpPr>
        <p:spPr>
          <a:xfrm>
            <a:off x="6653319" y="4173425"/>
            <a:ext cx="10338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9900"/>
                </a:solidFill>
                <a:latin typeface="Trebuchet MS"/>
                <a:ea typeface="Trebuchet MS"/>
                <a:cs typeface="Trebuchet MS"/>
                <a:sym typeface="Trebuchet MS"/>
              </a:rPr>
              <a:t>PSSI à écrire</a:t>
            </a:r>
            <a:endParaRPr b="1" sz="1200">
              <a:solidFill>
                <a:srgbClr val="FF99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0" name="Google Shape;200;p15"/>
          <p:cNvSpPr txBox="1"/>
          <p:nvPr/>
        </p:nvSpPr>
        <p:spPr>
          <a:xfrm>
            <a:off x="6653315" y="4535132"/>
            <a:ext cx="16911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34154"/>
                </a:solidFill>
                <a:latin typeface="Trebuchet MS"/>
                <a:ea typeface="Trebuchet MS"/>
                <a:cs typeface="Trebuchet MS"/>
                <a:sym typeface="Trebuchet MS"/>
              </a:rPr>
              <a:t>Non visé à ce </a:t>
            </a:r>
            <a:r>
              <a:rPr b="1" lang="en-US" sz="1200">
                <a:solidFill>
                  <a:srgbClr val="334154"/>
                </a:solidFill>
                <a:latin typeface="Trebuchet MS"/>
                <a:ea typeface="Trebuchet MS"/>
                <a:cs typeface="Trebuchet MS"/>
                <a:sym typeface="Trebuchet MS"/>
              </a:rPr>
              <a:t>stade</a:t>
            </a:r>
            <a:endParaRPr b="1"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434378" y="5594421"/>
            <a:ext cx="32286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170815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4"/>
              </a:buClr>
              <a:buSzPts val="1400"/>
              <a:buFont typeface="Times New Roman"/>
              <a:buChar char="•"/>
            </a:pPr>
            <a:r>
              <a:rPr b="1" lang="en-US" sz="1400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Segmentation VLAN + pfSense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0815" lvl="0" marL="183515" rtl="0" algn="l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>
                <a:srgbClr val="334154"/>
              </a:buClr>
              <a:buSzPts val="1400"/>
              <a:buFont typeface="Times New Roman"/>
              <a:buChar char="•"/>
            </a:pPr>
            <a:r>
              <a:rPr b="1" lang="en-US" sz="1400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Suricata IDS et Prometheus/Grafana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0815" lvl="0" marL="183515" rtl="0" algn="l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>
                <a:srgbClr val="334154"/>
              </a:buClr>
              <a:buSzPts val="1400"/>
              <a:buFont typeface="Times New Roman"/>
              <a:buChar char="•"/>
            </a:pPr>
            <a:r>
              <a:rPr b="1" lang="en-US" sz="1400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Wazuh + Loki (logs centralisés)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4929085" y="5206594"/>
            <a:ext cx="38100" cy="1372235"/>
          </a:xfrm>
          <a:custGeom>
            <a:rect b="b" l="l" r="r" t="t"/>
            <a:pathLst>
              <a:path extrusionOk="0" h="1372235" w="38100">
                <a:moveTo>
                  <a:pt x="37896" y="1371701"/>
                </a:moveTo>
                <a:lnTo>
                  <a:pt x="0" y="1371701"/>
                </a:lnTo>
                <a:lnTo>
                  <a:pt x="0" y="0"/>
                </a:lnTo>
                <a:lnTo>
                  <a:pt x="37896" y="0"/>
                </a:lnTo>
                <a:lnTo>
                  <a:pt x="37896" y="1371701"/>
                </a:lnTo>
                <a:close/>
              </a:path>
            </a:pathLst>
          </a:custGeom>
          <a:solidFill>
            <a:srgbClr val="E9570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"/>
          <p:cNvSpPr/>
          <p:nvPr/>
        </p:nvSpPr>
        <p:spPr>
          <a:xfrm>
            <a:off x="483844" y="6287130"/>
            <a:ext cx="9091295" cy="5714"/>
          </a:xfrm>
          <a:custGeom>
            <a:rect b="b" l="l" r="r" t="t"/>
            <a:pathLst>
              <a:path extrusionOk="0" h="5714" w="9091295">
                <a:moveTo>
                  <a:pt x="9090672" y="5410"/>
                </a:moveTo>
                <a:lnTo>
                  <a:pt x="0" y="5410"/>
                </a:lnTo>
                <a:lnTo>
                  <a:pt x="0" y="0"/>
                </a:lnTo>
                <a:lnTo>
                  <a:pt x="9090672" y="0"/>
                </a:lnTo>
                <a:lnTo>
                  <a:pt x="9090672" y="5410"/>
                </a:lnTo>
                <a:close/>
              </a:path>
            </a:pathLst>
          </a:custGeom>
          <a:solidFill>
            <a:srgbClr val="E2E8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5"/>
          <p:cNvSpPr/>
          <p:nvPr/>
        </p:nvSpPr>
        <p:spPr>
          <a:xfrm>
            <a:off x="10578360" y="1042659"/>
            <a:ext cx="278765" cy="186055"/>
          </a:xfrm>
          <a:custGeom>
            <a:rect b="b" l="l" r="r" t="t"/>
            <a:pathLst>
              <a:path extrusionOk="0" h="186055" w="278765">
                <a:moveTo>
                  <a:pt x="92824" y="185686"/>
                </a:moveTo>
                <a:lnTo>
                  <a:pt x="0" y="185686"/>
                </a:lnTo>
                <a:lnTo>
                  <a:pt x="0" y="0"/>
                </a:lnTo>
                <a:lnTo>
                  <a:pt x="92824" y="0"/>
                </a:lnTo>
                <a:lnTo>
                  <a:pt x="148529" y="69608"/>
                </a:lnTo>
                <a:lnTo>
                  <a:pt x="92824" y="69608"/>
                </a:lnTo>
                <a:lnTo>
                  <a:pt x="92824" y="185686"/>
                </a:lnTo>
                <a:close/>
              </a:path>
              <a:path extrusionOk="0" h="186055" w="278765">
                <a:moveTo>
                  <a:pt x="278561" y="116039"/>
                </a:moveTo>
                <a:lnTo>
                  <a:pt x="185686" y="116039"/>
                </a:lnTo>
                <a:lnTo>
                  <a:pt x="185686" y="0"/>
                </a:lnTo>
                <a:lnTo>
                  <a:pt x="278561" y="0"/>
                </a:lnTo>
                <a:lnTo>
                  <a:pt x="278561" y="116039"/>
                </a:lnTo>
                <a:close/>
              </a:path>
              <a:path extrusionOk="0" h="186055" w="278765">
                <a:moveTo>
                  <a:pt x="278561" y="185686"/>
                </a:moveTo>
                <a:lnTo>
                  <a:pt x="185686" y="185686"/>
                </a:lnTo>
                <a:lnTo>
                  <a:pt x="92824" y="69608"/>
                </a:lnTo>
                <a:lnTo>
                  <a:pt x="148529" y="69608"/>
                </a:lnTo>
                <a:lnTo>
                  <a:pt x="185686" y="116039"/>
                </a:lnTo>
                <a:lnTo>
                  <a:pt x="278561" y="116039"/>
                </a:lnTo>
                <a:lnTo>
                  <a:pt x="278561" y="185686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5"/>
          <p:cNvSpPr/>
          <p:nvPr/>
        </p:nvSpPr>
        <p:spPr>
          <a:xfrm>
            <a:off x="10903354" y="1042659"/>
            <a:ext cx="162559" cy="186055"/>
          </a:xfrm>
          <a:custGeom>
            <a:rect b="b" l="l" r="r" t="t"/>
            <a:pathLst>
              <a:path extrusionOk="0" h="186055" w="162559">
                <a:moveTo>
                  <a:pt x="129971" y="92824"/>
                </a:moveTo>
                <a:lnTo>
                  <a:pt x="128320" y="84709"/>
                </a:lnTo>
                <a:lnTo>
                  <a:pt x="123837" y="78066"/>
                </a:lnTo>
                <a:lnTo>
                  <a:pt x="117208" y="73583"/>
                </a:lnTo>
                <a:lnTo>
                  <a:pt x="109093" y="71932"/>
                </a:lnTo>
                <a:lnTo>
                  <a:pt x="20891" y="71932"/>
                </a:lnTo>
                <a:lnTo>
                  <a:pt x="12738" y="73583"/>
                </a:lnTo>
                <a:lnTo>
                  <a:pt x="6096" y="78066"/>
                </a:lnTo>
                <a:lnTo>
                  <a:pt x="1625" y="84709"/>
                </a:lnTo>
                <a:lnTo>
                  <a:pt x="0" y="92824"/>
                </a:lnTo>
                <a:lnTo>
                  <a:pt x="1625" y="100965"/>
                </a:lnTo>
                <a:lnTo>
                  <a:pt x="6096" y="107607"/>
                </a:lnTo>
                <a:lnTo>
                  <a:pt x="12738" y="112077"/>
                </a:lnTo>
                <a:lnTo>
                  <a:pt x="20891" y="113703"/>
                </a:lnTo>
                <a:lnTo>
                  <a:pt x="109093" y="113703"/>
                </a:lnTo>
                <a:lnTo>
                  <a:pt x="117208" y="112077"/>
                </a:lnTo>
                <a:lnTo>
                  <a:pt x="123837" y="107607"/>
                </a:lnTo>
                <a:lnTo>
                  <a:pt x="128320" y="100965"/>
                </a:lnTo>
                <a:lnTo>
                  <a:pt x="129971" y="92824"/>
                </a:lnTo>
                <a:close/>
              </a:path>
              <a:path extrusionOk="0" h="186055" w="162559">
                <a:moveTo>
                  <a:pt x="162471" y="164807"/>
                </a:moveTo>
                <a:lnTo>
                  <a:pt x="160820" y="156667"/>
                </a:lnTo>
                <a:lnTo>
                  <a:pt x="156337" y="150025"/>
                </a:lnTo>
                <a:lnTo>
                  <a:pt x="149694" y="145554"/>
                </a:lnTo>
                <a:lnTo>
                  <a:pt x="141579" y="143916"/>
                </a:lnTo>
                <a:lnTo>
                  <a:pt x="20891" y="143916"/>
                </a:lnTo>
                <a:lnTo>
                  <a:pt x="12738" y="145554"/>
                </a:lnTo>
                <a:lnTo>
                  <a:pt x="6096" y="150025"/>
                </a:lnTo>
                <a:lnTo>
                  <a:pt x="1625" y="156667"/>
                </a:lnTo>
                <a:lnTo>
                  <a:pt x="0" y="164807"/>
                </a:lnTo>
                <a:lnTo>
                  <a:pt x="1625" y="172935"/>
                </a:lnTo>
                <a:lnTo>
                  <a:pt x="6096" y="179565"/>
                </a:lnTo>
                <a:lnTo>
                  <a:pt x="12738" y="184048"/>
                </a:lnTo>
                <a:lnTo>
                  <a:pt x="20891" y="185686"/>
                </a:lnTo>
                <a:lnTo>
                  <a:pt x="141579" y="185686"/>
                </a:lnTo>
                <a:lnTo>
                  <a:pt x="149694" y="184048"/>
                </a:lnTo>
                <a:lnTo>
                  <a:pt x="156337" y="179565"/>
                </a:lnTo>
                <a:lnTo>
                  <a:pt x="160820" y="172935"/>
                </a:lnTo>
                <a:lnTo>
                  <a:pt x="162471" y="164807"/>
                </a:lnTo>
                <a:close/>
              </a:path>
              <a:path extrusionOk="0" h="186055" w="162559">
                <a:moveTo>
                  <a:pt x="162471" y="20891"/>
                </a:moveTo>
                <a:lnTo>
                  <a:pt x="160820" y="12750"/>
                </a:lnTo>
                <a:lnTo>
                  <a:pt x="156337" y="6108"/>
                </a:lnTo>
                <a:lnTo>
                  <a:pt x="149694" y="1638"/>
                </a:lnTo>
                <a:lnTo>
                  <a:pt x="141579" y="0"/>
                </a:lnTo>
                <a:lnTo>
                  <a:pt x="20891" y="0"/>
                </a:lnTo>
                <a:lnTo>
                  <a:pt x="12738" y="1638"/>
                </a:lnTo>
                <a:lnTo>
                  <a:pt x="6096" y="6108"/>
                </a:lnTo>
                <a:lnTo>
                  <a:pt x="1625" y="12750"/>
                </a:lnTo>
                <a:lnTo>
                  <a:pt x="0" y="20891"/>
                </a:lnTo>
                <a:lnTo>
                  <a:pt x="1625" y="29019"/>
                </a:lnTo>
                <a:lnTo>
                  <a:pt x="6096" y="35648"/>
                </a:lnTo>
                <a:lnTo>
                  <a:pt x="12738" y="40132"/>
                </a:lnTo>
                <a:lnTo>
                  <a:pt x="20891" y="41770"/>
                </a:lnTo>
                <a:lnTo>
                  <a:pt x="141579" y="41770"/>
                </a:lnTo>
                <a:lnTo>
                  <a:pt x="149694" y="40132"/>
                </a:lnTo>
                <a:lnTo>
                  <a:pt x="156337" y="35648"/>
                </a:lnTo>
                <a:lnTo>
                  <a:pt x="160820" y="29019"/>
                </a:lnTo>
                <a:lnTo>
                  <a:pt x="162471" y="20891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" name="Google Shape;206;p15"/>
          <p:cNvGrpSpPr/>
          <p:nvPr/>
        </p:nvGrpSpPr>
        <p:grpSpPr>
          <a:xfrm>
            <a:off x="11136062" y="1042659"/>
            <a:ext cx="440620" cy="186055"/>
            <a:chOff x="8995162" y="1120228"/>
            <a:chExt cx="440620" cy="186055"/>
          </a:xfrm>
        </p:grpSpPr>
        <p:pic>
          <p:nvPicPr>
            <p:cNvPr id="207" name="Google Shape;207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995162" y="1132405"/>
              <a:ext cx="161312" cy="16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15"/>
            <p:cNvSpPr/>
            <p:nvPr/>
          </p:nvSpPr>
          <p:spPr>
            <a:xfrm>
              <a:off x="9110662" y="1120228"/>
              <a:ext cx="325120" cy="186055"/>
            </a:xfrm>
            <a:custGeom>
              <a:rect b="b" l="l" r="r" t="t"/>
              <a:pathLst>
                <a:path extrusionOk="0" h="186055" w="325120">
                  <a:moveTo>
                    <a:pt x="92824" y="185686"/>
                  </a:moveTo>
                  <a:lnTo>
                    <a:pt x="0" y="185686"/>
                  </a:lnTo>
                  <a:lnTo>
                    <a:pt x="208902" y="0"/>
                  </a:lnTo>
                  <a:lnTo>
                    <a:pt x="237899" y="46380"/>
                  </a:lnTo>
                  <a:lnTo>
                    <a:pt x="162471" y="46380"/>
                  </a:lnTo>
                  <a:lnTo>
                    <a:pt x="129971" y="102095"/>
                  </a:lnTo>
                  <a:lnTo>
                    <a:pt x="272731" y="102095"/>
                  </a:lnTo>
                  <a:lnTo>
                    <a:pt x="287246" y="125310"/>
                  </a:lnTo>
                  <a:lnTo>
                    <a:pt x="125310" y="125310"/>
                  </a:lnTo>
                  <a:lnTo>
                    <a:pt x="92824" y="185686"/>
                  </a:lnTo>
                  <a:close/>
                </a:path>
                <a:path extrusionOk="0" h="186055" w="325120">
                  <a:moveTo>
                    <a:pt x="272731" y="102095"/>
                  </a:moveTo>
                  <a:lnTo>
                    <a:pt x="194970" y="102095"/>
                  </a:lnTo>
                  <a:lnTo>
                    <a:pt x="162471" y="46380"/>
                  </a:lnTo>
                  <a:lnTo>
                    <a:pt x="237899" y="46380"/>
                  </a:lnTo>
                  <a:lnTo>
                    <a:pt x="272731" y="102095"/>
                  </a:lnTo>
                  <a:close/>
                </a:path>
                <a:path extrusionOk="0" h="186055" w="325120">
                  <a:moveTo>
                    <a:pt x="324993" y="185686"/>
                  </a:moveTo>
                  <a:lnTo>
                    <a:pt x="232117" y="185686"/>
                  </a:lnTo>
                  <a:lnTo>
                    <a:pt x="199631" y="125310"/>
                  </a:lnTo>
                  <a:lnTo>
                    <a:pt x="287246" y="125310"/>
                  </a:lnTo>
                  <a:lnTo>
                    <a:pt x="324993" y="185686"/>
                  </a:lnTo>
                  <a:close/>
                </a:path>
              </a:pathLst>
            </a:custGeom>
            <a:solidFill>
              <a:srgbClr val="2F0D6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9" name="Google Shape;209;p15"/>
          <p:cNvSpPr txBox="1"/>
          <p:nvPr>
            <p:ph idx="12" type="sldNum"/>
          </p:nvPr>
        </p:nvSpPr>
        <p:spPr>
          <a:xfrm>
            <a:off x="-38100" y="7621128"/>
            <a:ext cx="523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sur 20</a:t>
            </a:r>
            <a:endParaRPr/>
          </a:p>
        </p:txBody>
      </p:sp>
      <p:sp>
        <p:nvSpPr>
          <p:cNvPr id="210" name="Google Shape;210;p15"/>
          <p:cNvSpPr txBox="1"/>
          <p:nvPr/>
        </p:nvSpPr>
        <p:spPr>
          <a:xfrm>
            <a:off x="1589865" y="4456450"/>
            <a:ext cx="22767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Certification ISO 27001</a:t>
            </a:r>
            <a:endParaRPr b="1" sz="12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 txBox="1"/>
          <p:nvPr/>
        </p:nvSpPr>
        <p:spPr>
          <a:xfrm>
            <a:off x="380116" y="1026309"/>
            <a:ext cx="5340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60B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Niveau de maturité : évaluation</a:t>
            </a:r>
            <a:endParaRPr b="1" sz="2500">
              <a:solidFill>
                <a:srgbClr val="360B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15"/>
          <p:cNvSpPr txBox="1"/>
          <p:nvPr/>
        </p:nvSpPr>
        <p:spPr>
          <a:xfrm>
            <a:off x="1671768" y="3755069"/>
            <a:ext cx="3228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Supervision active + segmentation réseau </a:t>
            </a:r>
            <a:endParaRPr b="1" sz="12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3" name="Google Shape;213;p15"/>
          <p:cNvSpPr/>
          <p:nvPr/>
        </p:nvSpPr>
        <p:spPr>
          <a:xfrm>
            <a:off x="496129" y="2319049"/>
            <a:ext cx="950100" cy="25524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5"/>
          <p:cNvSpPr/>
          <p:nvPr/>
        </p:nvSpPr>
        <p:spPr>
          <a:xfrm>
            <a:off x="6152464" y="2319050"/>
            <a:ext cx="2510400" cy="26175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5"/>
          <p:cNvSpPr txBox="1"/>
          <p:nvPr/>
        </p:nvSpPr>
        <p:spPr>
          <a:xfrm>
            <a:off x="447675" y="6840604"/>
            <a:ext cx="89214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Évaluation basée sur le guide ANSSI "Hygiène informatique – Niveau 3 : supervision active + segmentation". Les exigences sont remplies : VLAN/pfSense, Suricata IDS, Wazuh/Loki, Prometheus.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5"/>
          <p:cNvSpPr txBox="1"/>
          <p:nvPr/>
        </p:nvSpPr>
        <p:spPr>
          <a:xfrm>
            <a:off x="4088024" y="7591793"/>
            <a:ext cx="16143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A31"/>
                </a:solidFill>
                <a:latin typeface="Trebuchet MS"/>
                <a:ea typeface="Trebuchet MS"/>
                <a:cs typeface="Trebuchet MS"/>
                <a:sym typeface="Trebuchet MS"/>
              </a:rPr>
              <a:t>SAN-Log_it – Modélisation ESN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7" name="Google Shape;217;p15" title="logo-decoupe-sans-blanc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13901" y="2057428"/>
            <a:ext cx="692860" cy="695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5" title="1000004042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22540" y="778910"/>
            <a:ext cx="1925449" cy="1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5"/>
          <p:cNvSpPr txBox="1"/>
          <p:nvPr/>
        </p:nvSpPr>
        <p:spPr>
          <a:xfrm>
            <a:off x="5140575" y="5508505"/>
            <a:ext cx="4434600" cy="8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le niveau nécessite une PSSI formalisée et un audit externe. C’est la prochaine étape, pas encore réalisée dans ce mémoire spéculatif.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15"/>
          <p:cNvSpPr txBox="1"/>
          <p:nvPr/>
        </p:nvSpPr>
        <p:spPr>
          <a:xfrm>
            <a:off x="485921" y="5175267"/>
            <a:ext cx="22767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792A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Justification Niveau 3:</a:t>
            </a:r>
            <a:endParaRPr b="1" sz="1600">
              <a:solidFill>
                <a:srgbClr val="792AF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15"/>
          <p:cNvSpPr txBox="1"/>
          <p:nvPr/>
        </p:nvSpPr>
        <p:spPr>
          <a:xfrm>
            <a:off x="5245300" y="5185171"/>
            <a:ext cx="22767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792A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 d’honnêteté </a:t>
            </a:r>
            <a:r>
              <a:rPr b="1" lang="en-US" sz="1600">
                <a:solidFill>
                  <a:srgbClr val="792A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1600">
              <a:solidFill>
                <a:srgbClr val="792AF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15"/>
          <p:cNvSpPr txBox="1"/>
          <p:nvPr/>
        </p:nvSpPr>
        <p:spPr>
          <a:xfrm>
            <a:off x="840250" y="3178450"/>
            <a:ext cx="318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15"/>
          <p:cNvSpPr txBox="1"/>
          <p:nvPr/>
        </p:nvSpPr>
        <p:spPr>
          <a:xfrm>
            <a:off x="840250" y="2712950"/>
            <a:ext cx="318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15"/>
          <p:cNvSpPr txBox="1"/>
          <p:nvPr/>
        </p:nvSpPr>
        <p:spPr>
          <a:xfrm>
            <a:off x="835438" y="4048200"/>
            <a:ext cx="318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15"/>
          <p:cNvSpPr txBox="1"/>
          <p:nvPr/>
        </p:nvSpPr>
        <p:spPr>
          <a:xfrm>
            <a:off x="841513" y="3632307"/>
            <a:ext cx="318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15"/>
          <p:cNvSpPr txBox="1"/>
          <p:nvPr/>
        </p:nvSpPr>
        <p:spPr>
          <a:xfrm>
            <a:off x="831590" y="4374996"/>
            <a:ext cx="318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15"/>
          <p:cNvSpPr txBox="1"/>
          <p:nvPr>
            <p:ph idx="11" type="ftr"/>
          </p:nvPr>
        </p:nvSpPr>
        <p:spPr>
          <a:xfrm>
            <a:off x="9114472" y="7621128"/>
            <a:ext cx="95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08/06/2026, 22:37</a:t>
            </a:r>
            <a:endParaRPr/>
          </a:p>
        </p:txBody>
      </p:sp>
      <p:sp>
        <p:nvSpPr>
          <p:cNvPr id="228" name="Google Shape;228;p15"/>
          <p:cNvSpPr txBox="1"/>
          <p:nvPr/>
        </p:nvSpPr>
        <p:spPr>
          <a:xfrm>
            <a:off x="6575053" y="2411356"/>
            <a:ext cx="15651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Statut </a:t>
            </a: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SAN-log_it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425" y="1649425"/>
            <a:ext cx="1262316" cy="19027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6"/>
          <p:cNvSpPr txBox="1"/>
          <p:nvPr/>
        </p:nvSpPr>
        <p:spPr>
          <a:xfrm>
            <a:off x="333375" y="2058175"/>
            <a:ext cx="39936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4"/>
              </a:buClr>
              <a:buSzPts val="1400"/>
              <a:buFont typeface="Times New Roman"/>
              <a:buChar char="●"/>
            </a:pPr>
            <a:r>
              <a:rPr b="1"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Traitements qui sont limités aux : </a:t>
            </a:r>
            <a:endParaRPr b="1">
              <a:solidFill>
                <a:srgbClr val="33415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sz="1400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clients, stagiaires, logs, compta</a:t>
            </a: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bilité.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16"/>
          <p:cNvSpPr txBox="1"/>
          <p:nvPr/>
        </p:nvSpPr>
        <p:spPr>
          <a:xfrm>
            <a:off x="542982" y="2925899"/>
            <a:ext cx="1257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8547" y="2050750"/>
            <a:ext cx="2294578" cy="18724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6"/>
          <p:cNvSpPr txBox="1"/>
          <p:nvPr/>
        </p:nvSpPr>
        <p:spPr>
          <a:xfrm>
            <a:off x="5072018" y="3271292"/>
            <a:ext cx="47637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17500" lvl="0" marL="457200" marR="508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154"/>
              </a:buClr>
              <a:buSzPts val="1400"/>
              <a:buFont typeface="Trebuchet MS"/>
              <a:buChar char="●"/>
            </a:pPr>
            <a:r>
              <a:rPr b="1" lang="en-US" sz="1400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Cependant,</a:t>
            </a:r>
            <a:r>
              <a:rPr lang="en-US" sz="1400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posture</a:t>
            </a:r>
            <a:r>
              <a:rPr b="1" lang="en-US" sz="1400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compliance ready</a:t>
            </a: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33415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508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 les mesures</a:t>
            </a:r>
            <a:r>
              <a:rPr lang="en-US" sz="1400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techniques de l'article 21 </a:t>
            </a:r>
            <a:endParaRPr sz="1400">
              <a:solidFill>
                <a:srgbClr val="33415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508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(hygiène informatique) sont déjà intégrées </a:t>
            </a:r>
            <a:endParaRPr sz="1400">
              <a:solidFill>
                <a:srgbClr val="33415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508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à l'architecture cible.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16"/>
          <p:cNvSpPr/>
          <p:nvPr/>
        </p:nvSpPr>
        <p:spPr>
          <a:xfrm>
            <a:off x="483844" y="5739381"/>
            <a:ext cx="38100" cy="592632"/>
          </a:xfrm>
          <a:custGeom>
            <a:rect b="b" l="l" r="r" t="t"/>
            <a:pathLst>
              <a:path extrusionOk="0" h="779779" w="38100">
                <a:moveTo>
                  <a:pt x="37896" y="779170"/>
                </a:moveTo>
                <a:lnTo>
                  <a:pt x="0" y="779208"/>
                </a:lnTo>
                <a:lnTo>
                  <a:pt x="0" y="0"/>
                </a:lnTo>
                <a:lnTo>
                  <a:pt x="37896" y="0"/>
                </a:lnTo>
                <a:lnTo>
                  <a:pt x="37896" y="779170"/>
                </a:ln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6"/>
          <p:cNvSpPr/>
          <p:nvPr/>
        </p:nvSpPr>
        <p:spPr>
          <a:xfrm>
            <a:off x="474319" y="6591320"/>
            <a:ext cx="38100" cy="779779"/>
          </a:xfrm>
          <a:custGeom>
            <a:rect b="b" l="l" r="r" t="t"/>
            <a:pathLst>
              <a:path extrusionOk="0" h="779779" w="38100">
                <a:moveTo>
                  <a:pt x="37896" y="779170"/>
                </a:moveTo>
                <a:lnTo>
                  <a:pt x="0" y="779208"/>
                </a:lnTo>
                <a:lnTo>
                  <a:pt x="0" y="0"/>
                </a:lnTo>
                <a:lnTo>
                  <a:pt x="37896" y="0"/>
                </a:lnTo>
                <a:lnTo>
                  <a:pt x="37896" y="779170"/>
                </a:lnTo>
                <a:close/>
              </a:path>
            </a:pathLst>
          </a:custGeom>
          <a:solidFill>
            <a:srgbClr val="E9570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6"/>
          <p:cNvSpPr/>
          <p:nvPr/>
        </p:nvSpPr>
        <p:spPr>
          <a:xfrm>
            <a:off x="493369" y="7318344"/>
            <a:ext cx="9091295" cy="5714"/>
          </a:xfrm>
          <a:custGeom>
            <a:rect b="b" l="l" r="r" t="t"/>
            <a:pathLst>
              <a:path extrusionOk="0" h="5714" w="9091295">
                <a:moveTo>
                  <a:pt x="9090672" y="5410"/>
                </a:moveTo>
                <a:lnTo>
                  <a:pt x="0" y="5410"/>
                </a:lnTo>
                <a:lnTo>
                  <a:pt x="0" y="0"/>
                </a:lnTo>
                <a:lnTo>
                  <a:pt x="9090672" y="0"/>
                </a:lnTo>
                <a:lnTo>
                  <a:pt x="9090672" y="5410"/>
                </a:lnTo>
                <a:close/>
              </a:path>
            </a:pathLst>
          </a:custGeom>
          <a:solidFill>
            <a:srgbClr val="E2E8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6"/>
          <p:cNvSpPr/>
          <p:nvPr/>
        </p:nvSpPr>
        <p:spPr>
          <a:xfrm>
            <a:off x="10446493" y="1120228"/>
            <a:ext cx="278765" cy="186055"/>
          </a:xfrm>
          <a:custGeom>
            <a:rect b="b" l="l" r="r" t="t"/>
            <a:pathLst>
              <a:path extrusionOk="0" h="186055" w="278765">
                <a:moveTo>
                  <a:pt x="92824" y="185686"/>
                </a:moveTo>
                <a:lnTo>
                  <a:pt x="0" y="185686"/>
                </a:lnTo>
                <a:lnTo>
                  <a:pt x="0" y="0"/>
                </a:lnTo>
                <a:lnTo>
                  <a:pt x="92824" y="0"/>
                </a:lnTo>
                <a:lnTo>
                  <a:pt x="148529" y="69608"/>
                </a:lnTo>
                <a:lnTo>
                  <a:pt x="92824" y="69608"/>
                </a:lnTo>
                <a:lnTo>
                  <a:pt x="92824" y="185686"/>
                </a:lnTo>
                <a:close/>
              </a:path>
              <a:path extrusionOk="0" h="186055" w="278765">
                <a:moveTo>
                  <a:pt x="278561" y="116039"/>
                </a:moveTo>
                <a:lnTo>
                  <a:pt x="185686" y="116039"/>
                </a:lnTo>
                <a:lnTo>
                  <a:pt x="185686" y="0"/>
                </a:lnTo>
                <a:lnTo>
                  <a:pt x="278561" y="0"/>
                </a:lnTo>
                <a:lnTo>
                  <a:pt x="278561" y="116039"/>
                </a:lnTo>
                <a:close/>
              </a:path>
              <a:path extrusionOk="0" h="186055" w="278765">
                <a:moveTo>
                  <a:pt x="278561" y="185686"/>
                </a:moveTo>
                <a:lnTo>
                  <a:pt x="185686" y="185686"/>
                </a:lnTo>
                <a:lnTo>
                  <a:pt x="92824" y="69608"/>
                </a:lnTo>
                <a:lnTo>
                  <a:pt x="148529" y="69608"/>
                </a:lnTo>
                <a:lnTo>
                  <a:pt x="185686" y="116039"/>
                </a:lnTo>
                <a:lnTo>
                  <a:pt x="278561" y="116039"/>
                </a:lnTo>
                <a:lnTo>
                  <a:pt x="278561" y="185686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6"/>
          <p:cNvSpPr/>
          <p:nvPr/>
        </p:nvSpPr>
        <p:spPr>
          <a:xfrm>
            <a:off x="10771487" y="1120228"/>
            <a:ext cx="162559" cy="186055"/>
          </a:xfrm>
          <a:custGeom>
            <a:rect b="b" l="l" r="r" t="t"/>
            <a:pathLst>
              <a:path extrusionOk="0" h="186055" w="162559">
                <a:moveTo>
                  <a:pt x="129971" y="92824"/>
                </a:moveTo>
                <a:lnTo>
                  <a:pt x="128320" y="84709"/>
                </a:lnTo>
                <a:lnTo>
                  <a:pt x="123837" y="78066"/>
                </a:lnTo>
                <a:lnTo>
                  <a:pt x="117208" y="73583"/>
                </a:lnTo>
                <a:lnTo>
                  <a:pt x="109093" y="71932"/>
                </a:lnTo>
                <a:lnTo>
                  <a:pt x="20891" y="71932"/>
                </a:lnTo>
                <a:lnTo>
                  <a:pt x="12738" y="73583"/>
                </a:lnTo>
                <a:lnTo>
                  <a:pt x="6096" y="78066"/>
                </a:lnTo>
                <a:lnTo>
                  <a:pt x="1625" y="84709"/>
                </a:lnTo>
                <a:lnTo>
                  <a:pt x="0" y="92824"/>
                </a:lnTo>
                <a:lnTo>
                  <a:pt x="1625" y="100965"/>
                </a:lnTo>
                <a:lnTo>
                  <a:pt x="6096" y="107607"/>
                </a:lnTo>
                <a:lnTo>
                  <a:pt x="12738" y="112077"/>
                </a:lnTo>
                <a:lnTo>
                  <a:pt x="20891" y="113703"/>
                </a:lnTo>
                <a:lnTo>
                  <a:pt x="109093" y="113703"/>
                </a:lnTo>
                <a:lnTo>
                  <a:pt x="117208" y="112077"/>
                </a:lnTo>
                <a:lnTo>
                  <a:pt x="123837" y="107607"/>
                </a:lnTo>
                <a:lnTo>
                  <a:pt x="128320" y="100965"/>
                </a:lnTo>
                <a:lnTo>
                  <a:pt x="129971" y="92824"/>
                </a:lnTo>
                <a:close/>
              </a:path>
              <a:path extrusionOk="0" h="186055" w="162559">
                <a:moveTo>
                  <a:pt x="162471" y="164807"/>
                </a:moveTo>
                <a:lnTo>
                  <a:pt x="160820" y="156667"/>
                </a:lnTo>
                <a:lnTo>
                  <a:pt x="156337" y="150025"/>
                </a:lnTo>
                <a:lnTo>
                  <a:pt x="149694" y="145554"/>
                </a:lnTo>
                <a:lnTo>
                  <a:pt x="141579" y="143916"/>
                </a:lnTo>
                <a:lnTo>
                  <a:pt x="20891" y="143916"/>
                </a:lnTo>
                <a:lnTo>
                  <a:pt x="12738" y="145554"/>
                </a:lnTo>
                <a:lnTo>
                  <a:pt x="6096" y="150025"/>
                </a:lnTo>
                <a:lnTo>
                  <a:pt x="1625" y="156667"/>
                </a:lnTo>
                <a:lnTo>
                  <a:pt x="0" y="164807"/>
                </a:lnTo>
                <a:lnTo>
                  <a:pt x="1625" y="172935"/>
                </a:lnTo>
                <a:lnTo>
                  <a:pt x="6096" y="179565"/>
                </a:lnTo>
                <a:lnTo>
                  <a:pt x="12738" y="184048"/>
                </a:lnTo>
                <a:lnTo>
                  <a:pt x="20891" y="185686"/>
                </a:lnTo>
                <a:lnTo>
                  <a:pt x="141579" y="185686"/>
                </a:lnTo>
                <a:lnTo>
                  <a:pt x="149694" y="184048"/>
                </a:lnTo>
                <a:lnTo>
                  <a:pt x="156337" y="179565"/>
                </a:lnTo>
                <a:lnTo>
                  <a:pt x="160820" y="172935"/>
                </a:lnTo>
                <a:lnTo>
                  <a:pt x="162471" y="164807"/>
                </a:lnTo>
                <a:close/>
              </a:path>
              <a:path extrusionOk="0" h="186055" w="162559">
                <a:moveTo>
                  <a:pt x="162471" y="20891"/>
                </a:moveTo>
                <a:lnTo>
                  <a:pt x="160820" y="12750"/>
                </a:lnTo>
                <a:lnTo>
                  <a:pt x="156337" y="6108"/>
                </a:lnTo>
                <a:lnTo>
                  <a:pt x="149694" y="1638"/>
                </a:lnTo>
                <a:lnTo>
                  <a:pt x="141579" y="0"/>
                </a:lnTo>
                <a:lnTo>
                  <a:pt x="20891" y="0"/>
                </a:lnTo>
                <a:lnTo>
                  <a:pt x="12738" y="1638"/>
                </a:lnTo>
                <a:lnTo>
                  <a:pt x="6096" y="6108"/>
                </a:lnTo>
                <a:lnTo>
                  <a:pt x="1625" y="12750"/>
                </a:lnTo>
                <a:lnTo>
                  <a:pt x="0" y="20891"/>
                </a:lnTo>
                <a:lnTo>
                  <a:pt x="1625" y="29019"/>
                </a:lnTo>
                <a:lnTo>
                  <a:pt x="6096" y="35648"/>
                </a:lnTo>
                <a:lnTo>
                  <a:pt x="12738" y="40132"/>
                </a:lnTo>
                <a:lnTo>
                  <a:pt x="20891" y="41770"/>
                </a:lnTo>
                <a:lnTo>
                  <a:pt x="141579" y="41770"/>
                </a:lnTo>
                <a:lnTo>
                  <a:pt x="149694" y="40132"/>
                </a:lnTo>
                <a:lnTo>
                  <a:pt x="156337" y="35648"/>
                </a:lnTo>
                <a:lnTo>
                  <a:pt x="160820" y="29019"/>
                </a:lnTo>
                <a:lnTo>
                  <a:pt x="162471" y="20891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3" name="Google Shape;243;p16"/>
          <p:cNvGrpSpPr/>
          <p:nvPr/>
        </p:nvGrpSpPr>
        <p:grpSpPr>
          <a:xfrm>
            <a:off x="11004195" y="1120228"/>
            <a:ext cx="440620" cy="186055"/>
            <a:chOff x="8995162" y="1120228"/>
            <a:chExt cx="440620" cy="186055"/>
          </a:xfrm>
        </p:grpSpPr>
        <p:pic>
          <p:nvPicPr>
            <p:cNvPr id="244" name="Google Shape;244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995162" y="1132405"/>
              <a:ext cx="161312" cy="16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16"/>
            <p:cNvSpPr/>
            <p:nvPr/>
          </p:nvSpPr>
          <p:spPr>
            <a:xfrm>
              <a:off x="9110662" y="1120228"/>
              <a:ext cx="325120" cy="186055"/>
            </a:xfrm>
            <a:custGeom>
              <a:rect b="b" l="l" r="r" t="t"/>
              <a:pathLst>
                <a:path extrusionOk="0" h="186055" w="325120">
                  <a:moveTo>
                    <a:pt x="92824" y="185686"/>
                  </a:moveTo>
                  <a:lnTo>
                    <a:pt x="0" y="185686"/>
                  </a:lnTo>
                  <a:lnTo>
                    <a:pt x="208902" y="0"/>
                  </a:lnTo>
                  <a:lnTo>
                    <a:pt x="237899" y="46380"/>
                  </a:lnTo>
                  <a:lnTo>
                    <a:pt x="162471" y="46380"/>
                  </a:lnTo>
                  <a:lnTo>
                    <a:pt x="129971" y="102095"/>
                  </a:lnTo>
                  <a:lnTo>
                    <a:pt x="272731" y="102095"/>
                  </a:lnTo>
                  <a:lnTo>
                    <a:pt x="287246" y="125310"/>
                  </a:lnTo>
                  <a:lnTo>
                    <a:pt x="125310" y="125310"/>
                  </a:lnTo>
                  <a:lnTo>
                    <a:pt x="92824" y="185686"/>
                  </a:lnTo>
                  <a:close/>
                </a:path>
                <a:path extrusionOk="0" h="186055" w="325120">
                  <a:moveTo>
                    <a:pt x="272731" y="102095"/>
                  </a:moveTo>
                  <a:lnTo>
                    <a:pt x="194970" y="102095"/>
                  </a:lnTo>
                  <a:lnTo>
                    <a:pt x="162471" y="46380"/>
                  </a:lnTo>
                  <a:lnTo>
                    <a:pt x="237899" y="46380"/>
                  </a:lnTo>
                  <a:lnTo>
                    <a:pt x="272731" y="102095"/>
                  </a:lnTo>
                  <a:close/>
                </a:path>
                <a:path extrusionOk="0" h="186055" w="325120">
                  <a:moveTo>
                    <a:pt x="324993" y="185686"/>
                  </a:moveTo>
                  <a:lnTo>
                    <a:pt x="232117" y="185686"/>
                  </a:lnTo>
                  <a:lnTo>
                    <a:pt x="199631" y="125310"/>
                  </a:lnTo>
                  <a:lnTo>
                    <a:pt x="287246" y="125310"/>
                  </a:lnTo>
                  <a:lnTo>
                    <a:pt x="324993" y="185686"/>
                  </a:lnTo>
                  <a:close/>
                </a:path>
              </a:pathLst>
            </a:custGeom>
            <a:solidFill>
              <a:srgbClr val="2F0D6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6" name="Google Shape;246;p16"/>
          <p:cNvSpPr txBox="1"/>
          <p:nvPr>
            <p:ph idx="12" type="sldNum"/>
          </p:nvPr>
        </p:nvSpPr>
        <p:spPr>
          <a:xfrm>
            <a:off x="-38100" y="7621128"/>
            <a:ext cx="523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sur 20</a:t>
            </a:r>
            <a:endParaRPr/>
          </a:p>
        </p:txBody>
      </p:sp>
      <p:sp>
        <p:nvSpPr>
          <p:cNvPr id="247" name="Google Shape;247;p16"/>
          <p:cNvSpPr txBox="1"/>
          <p:nvPr/>
        </p:nvSpPr>
        <p:spPr>
          <a:xfrm>
            <a:off x="190857" y="2918075"/>
            <a:ext cx="44880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17500" lvl="0" marL="457200" marR="413384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</a:pPr>
            <a:r>
              <a:rPr b="1"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Sous-Traitants : </a:t>
            </a:r>
            <a:r>
              <a:rPr b="1" lang="en-US">
                <a:solidFill>
                  <a:srgbClr val="009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Exigence de localisation UE</a:t>
            </a: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(</a:t>
            </a:r>
            <a:r>
              <a:rPr b="1"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Infomaniak, OVHcloud</a:t>
            </a: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ou Suisse.</a:t>
            </a:r>
            <a:endParaRPr>
              <a:solidFill>
                <a:srgbClr val="33415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44500" lvl="0" marL="469900" marR="413384" rtl="0" algn="l">
              <a:lnSpc>
                <a:spcPct val="125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Suisse n'est pas dans l'UE. </a:t>
            </a:r>
            <a:endParaRPr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413384" rtl="0" algn="ctr">
              <a:lnSpc>
                <a:spcPct val="125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(adéquation reconnue par la Commission UE)</a:t>
            </a:r>
            <a:endParaRPr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16"/>
          <p:cNvSpPr txBox="1"/>
          <p:nvPr/>
        </p:nvSpPr>
        <p:spPr>
          <a:xfrm>
            <a:off x="238125" y="4238625"/>
            <a:ext cx="45492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413384" rtl="0" algn="l">
              <a:lnSpc>
                <a:spcPct val="125499"/>
              </a:lnSpc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</a:pPr>
            <a:r>
              <a:rPr b="1"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Mesures techniques :</a:t>
            </a: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-US">
                <a:solidFill>
                  <a:srgbClr val="15A34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TLS 1.3 forcé</a:t>
            </a:r>
            <a:endParaRPr b="1">
              <a:solidFill>
                <a:srgbClr val="15A34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914400" marR="5080" rtl="0" algn="l">
              <a:lnSpc>
                <a:spcPct val="125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</a:pP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Contrôle d'accès </a:t>
            </a:r>
            <a:r>
              <a:rPr b="1"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SSH/RSA</a:t>
            </a: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33415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914400" marR="5080" rtl="0" algn="l">
              <a:lnSpc>
                <a:spcPct val="125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</a:pP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Sauvegardes régulières (</a:t>
            </a:r>
            <a:r>
              <a:rPr b="1"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NAS</a:t>
            </a: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>
              <a:solidFill>
                <a:srgbClr val="33415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914400" marR="5080" rtl="0" algn="l">
              <a:lnSpc>
                <a:spcPct val="125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</a:pP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Conformes à l</a:t>
            </a:r>
            <a:r>
              <a:rPr b="1"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'article 32 </a:t>
            </a: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 </a:t>
            </a:r>
            <a:r>
              <a:rPr b="1" lang="en-US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RGPD </a:t>
            </a:r>
            <a:endParaRPr b="1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 txBox="1"/>
          <p:nvPr/>
        </p:nvSpPr>
        <p:spPr>
          <a:xfrm>
            <a:off x="4088024" y="7591793"/>
            <a:ext cx="16143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A31"/>
                </a:solidFill>
                <a:latin typeface="Trebuchet MS"/>
                <a:ea typeface="Trebuchet MS"/>
                <a:cs typeface="Trebuchet MS"/>
                <a:sym typeface="Trebuchet MS"/>
              </a:rPr>
              <a:t>SAN-Log_it – Modélisation ESN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50" name="Google Shape;250;p16" title="logo-decoupe-sans-blanc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73451" y="1971265"/>
            <a:ext cx="692860" cy="69557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6"/>
          <p:cNvSpPr txBox="1"/>
          <p:nvPr/>
        </p:nvSpPr>
        <p:spPr>
          <a:xfrm>
            <a:off x="574008" y="5670273"/>
            <a:ext cx="15264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5A34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Argument clef :</a:t>
            </a:r>
            <a:endParaRPr b="1">
              <a:solidFill>
                <a:srgbClr val="15A34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16"/>
          <p:cNvSpPr txBox="1"/>
          <p:nvPr/>
        </p:nvSpPr>
        <p:spPr>
          <a:xfrm>
            <a:off x="552475" y="6636972"/>
            <a:ext cx="15264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 assumée</a:t>
            </a:r>
            <a:r>
              <a:rPr b="1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3" name="Google Shape;253;p16" title="1000004042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22540" y="778910"/>
            <a:ext cx="1925449" cy="1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6"/>
          <p:cNvSpPr txBox="1"/>
          <p:nvPr/>
        </p:nvSpPr>
        <p:spPr>
          <a:xfrm>
            <a:off x="403363" y="899800"/>
            <a:ext cx="43905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F0D6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Conformité RGPD et NIS2</a:t>
            </a:r>
            <a:endParaRPr b="1" sz="2500">
              <a:solidFill>
                <a:srgbClr val="2F0D6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16"/>
          <p:cNvSpPr txBox="1"/>
          <p:nvPr/>
        </p:nvSpPr>
        <p:spPr>
          <a:xfrm>
            <a:off x="1820395" y="5676983"/>
            <a:ext cx="68217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Nous pouvons intervenir chez les clients soumis à NIS2 car notre architecture de référence respecte déjà les exigences de détection, journalisation et gestion des incidents.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16"/>
          <p:cNvSpPr txBox="1"/>
          <p:nvPr/>
        </p:nvSpPr>
        <p:spPr>
          <a:xfrm>
            <a:off x="1907697" y="6645555"/>
            <a:ext cx="7373100" cy="6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La procédure de déclaration d’incident (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24h / 72h / 1 mois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) n’a pas pu être testée en conditions réelles de crise.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16"/>
          <p:cNvSpPr txBox="1"/>
          <p:nvPr>
            <p:ph idx="11" type="ftr"/>
          </p:nvPr>
        </p:nvSpPr>
        <p:spPr>
          <a:xfrm>
            <a:off x="9114472" y="7621128"/>
            <a:ext cx="95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08/06/2026, 22:37</a:t>
            </a:r>
            <a:endParaRPr/>
          </a:p>
        </p:txBody>
      </p:sp>
      <p:sp>
        <p:nvSpPr>
          <p:cNvPr id="258" name="Google Shape;258;p16"/>
          <p:cNvSpPr txBox="1"/>
          <p:nvPr/>
        </p:nvSpPr>
        <p:spPr>
          <a:xfrm>
            <a:off x="4966076" y="2467199"/>
            <a:ext cx="43905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SAN-log_it n’y est pas soumis directement car :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employès &lt; 50 et CA &lt; 10 M</a:t>
            </a: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€</a:t>
            </a:r>
            <a:endParaRPr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"/>
          <p:cNvSpPr/>
          <p:nvPr/>
        </p:nvSpPr>
        <p:spPr>
          <a:xfrm>
            <a:off x="11268735" y="1275153"/>
            <a:ext cx="278765" cy="186055"/>
          </a:xfrm>
          <a:custGeom>
            <a:rect b="b" l="l" r="r" t="t"/>
            <a:pathLst>
              <a:path extrusionOk="0" h="186055" w="278765">
                <a:moveTo>
                  <a:pt x="92824" y="185686"/>
                </a:moveTo>
                <a:lnTo>
                  <a:pt x="0" y="185686"/>
                </a:lnTo>
                <a:lnTo>
                  <a:pt x="0" y="0"/>
                </a:lnTo>
                <a:lnTo>
                  <a:pt x="92824" y="0"/>
                </a:lnTo>
                <a:lnTo>
                  <a:pt x="148529" y="69608"/>
                </a:lnTo>
                <a:lnTo>
                  <a:pt x="92824" y="69608"/>
                </a:lnTo>
                <a:lnTo>
                  <a:pt x="92824" y="185686"/>
                </a:lnTo>
                <a:close/>
              </a:path>
              <a:path extrusionOk="0" h="186055" w="278765">
                <a:moveTo>
                  <a:pt x="278561" y="116039"/>
                </a:moveTo>
                <a:lnTo>
                  <a:pt x="185686" y="116039"/>
                </a:lnTo>
                <a:lnTo>
                  <a:pt x="185686" y="0"/>
                </a:lnTo>
                <a:lnTo>
                  <a:pt x="278561" y="0"/>
                </a:lnTo>
                <a:lnTo>
                  <a:pt x="278561" y="116039"/>
                </a:lnTo>
                <a:close/>
              </a:path>
              <a:path extrusionOk="0" h="186055" w="278765">
                <a:moveTo>
                  <a:pt x="278561" y="185686"/>
                </a:moveTo>
                <a:lnTo>
                  <a:pt x="185686" y="185686"/>
                </a:lnTo>
                <a:lnTo>
                  <a:pt x="92824" y="69608"/>
                </a:lnTo>
                <a:lnTo>
                  <a:pt x="148529" y="69608"/>
                </a:lnTo>
                <a:lnTo>
                  <a:pt x="185686" y="116039"/>
                </a:lnTo>
                <a:lnTo>
                  <a:pt x="278561" y="116039"/>
                </a:lnTo>
                <a:lnTo>
                  <a:pt x="278561" y="185686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7"/>
          <p:cNvSpPr/>
          <p:nvPr/>
        </p:nvSpPr>
        <p:spPr>
          <a:xfrm>
            <a:off x="11593729" y="1275153"/>
            <a:ext cx="162559" cy="186055"/>
          </a:xfrm>
          <a:custGeom>
            <a:rect b="b" l="l" r="r" t="t"/>
            <a:pathLst>
              <a:path extrusionOk="0" h="186055" w="162559">
                <a:moveTo>
                  <a:pt x="129971" y="92824"/>
                </a:moveTo>
                <a:lnTo>
                  <a:pt x="128320" y="84709"/>
                </a:lnTo>
                <a:lnTo>
                  <a:pt x="123837" y="78066"/>
                </a:lnTo>
                <a:lnTo>
                  <a:pt x="117208" y="73583"/>
                </a:lnTo>
                <a:lnTo>
                  <a:pt x="109093" y="71932"/>
                </a:lnTo>
                <a:lnTo>
                  <a:pt x="20891" y="71932"/>
                </a:lnTo>
                <a:lnTo>
                  <a:pt x="12738" y="73583"/>
                </a:lnTo>
                <a:lnTo>
                  <a:pt x="6096" y="78066"/>
                </a:lnTo>
                <a:lnTo>
                  <a:pt x="1625" y="84709"/>
                </a:lnTo>
                <a:lnTo>
                  <a:pt x="0" y="92824"/>
                </a:lnTo>
                <a:lnTo>
                  <a:pt x="1625" y="100965"/>
                </a:lnTo>
                <a:lnTo>
                  <a:pt x="6096" y="107607"/>
                </a:lnTo>
                <a:lnTo>
                  <a:pt x="12738" y="112077"/>
                </a:lnTo>
                <a:lnTo>
                  <a:pt x="20891" y="113703"/>
                </a:lnTo>
                <a:lnTo>
                  <a:pt x="109093" y="113703"/>
                </a:lnTo>
                <a:lnTo>
                  <a:pt x="117208" y="112077"/>
                </a:lnTo>
                <a:lnTo>
                  <a:pt x="123837" y="107607"/>
                </a:lnTo>
                <a:lnTo>
                  <a:pt x="128320" y="100965"/>
                </a:lnTo>
                <a:lnTo>
                  <a:pt x="129971" y="92824"/>
                </a:lnTo>
                <a:close/>
              </a:path>
              <a:path extrusionOk="0" h="186055" w="162559">
                <a:moveTo>
                  <a:pt x="162471" y="164807"/>
                </a:moveTo>
                <a:lnTo>
                  <a:pt x="160820" y="156667"/>
                </a:lnTo>
                <a:lnTo>
                  <a:pt x="156337" y="150025"/>
                </a:lnTo>
                <a:lnTo>
                  <a:pt x="149694" y="145554"/>
                </a:lnTo>
                <a:lnTo>
                  <a:pt x="141579" y="143916"/>
                </a:lnTo>
                <a:lnTo>
                  <a:pt x="20891" y="143916"/>
                </a:lnTo>
                <a:lnTo>
                  <a:pt x="12738" y="145554"/>
                </a:lnTo>
                <a:lnTo>
                  <a:pt x="6096" y="150025"/>
                </a:lnTo>
                <a:lnTo>
                  <a:pt x="1625" y="156667"/>
                </a:lnTo>
                <a:lnTo>
                  <a:pt x="0" y="164807"/>
                </a:lnTo>
                <a:lnTo>
                  <a:pt x="1625" y="172935"/>
                </a:lnTo>
                <a:lnTo>
                  <a:pt x="6096" y="179565"/>
                </a:lnTo>
                <a:lnTo>
                  <a:pt x="12738" y="184048"/>
                </a:lnTo>
                <a:lnTo>
                  <a:pt x="20891" y="185686"/>
                </a:lnTo>
                <a:lnTo>
                  <a:pt x="141579" y="185686"/>
                </a:lnTo>
                <a:lnTo>
                  <a:pt x="149694" y="184048"/>
                </a:lnTo>
                <a:lnTo>
                  <a:pt x="156337" y="179565"/>
                </a:lnTo>
                <a:lnTo>
                  <a:pt x="160820" y="172935"/>
                </a:lnTo>
                <a:lnTo>
                  <a:pt x="162471" y="164807"/>
                </a:lnTo>
                <a:close/>
              </a:path>
              <a:path extrusionOk="0" h="186055" w="162559">
                <a:moveTo>
                  <a:pt x="162471" y="20891"/>
                </a:moveTo>
                <a:lnTo>
                  <a:pt x="160820" y="12750"/>
                </a:lnTo>
                <a:lnTo>
                  <a:pt x="156337" y="6108"/>
                </a:lnTo>
                <a:lnTo>
                  <a:pt x="149694" y="1638"/>
                </a:lnTo>
                <a:lnTo>
                  <a:pt x="141579" y="0"/>
                </a:lnTo>
                <a:lnTo>
                  <a:pt x="20891" y="0"/>
                </a:lnTo>
                <a:lnTo>
                  <a:pt x="12738" y="1638"/>
                </a:lnTo>
                <a:lnTo>
                  <a:pt x="6096" y="6108"/>
                </a:lnTo>
                <a:lnTo>
                  <a:pt x="1625" y="12750"/>
                </a:lnTo>
                <a:lnTo>
                  <a:pt x="0" y="20891"/>
                </a:lnTo>
                <a:lnTo>
                  <a:pt x="1625" y="29019"/>
                </a:lnTo>
                <a:lnTo>
                  <a:pt x="6096" y="35648"/>
                </a:lnTo>
                <a:lnTo>
                  <a:pt x="12738" y="40132"/>
                </a:lnTo>
                <a:lnTo>
                  <a:pt x="20891" y="41770"/>
                </a:lnTo>
                <a:lnTo>
                  <a:pt x="141579" y="41770"/>
                </a:lnTo>
                <a:lnTo>
                  <a:pt x="149694" y="40132"/>
                </a:lnTo>
                <a:lnTo>
                  <a:pt x="156337" y="35648"/>
                </a:lnTo>
                <a:lnTo>
                  <a:pt x="160820" y="29019"/>
                </a:lnTo>
                <a:lnTo>
                  <a:pt x="162471" y="20891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" name="Google Shape;265;p17"/>
          <p:cNvGrpSpPr/>
          <p:nvPr/>
        </p:nvGrpSpPr>
        <p:grpSpPr>
          <a:xfrm>
            <a:off x="11826437" y="1275153"/>
            <a:ext cx="440620" cy="186055"/>
            <a:chOff x="8995162" y="1120228"/>
            <a:chExt cx="440620" cy="186055"/>
          </a:xfrm>
        </p:grpSpPr>
        <p:pic>
          <p:nvPicPr>
            <p:cNvPr id="266" name="Google Shape;266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995162" y="1132405"/>
              <a:ext cx="161312" cy="16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17"/>
            <p:cNvSpPr/>
            <p:nvPr/>
          </p:nvSpPr>
          <p:spPr>
            <a:xfrm>
              <a:off x="9110662" y="1120228"/>
              <a:ext cx="325120" cy="186055"/>
            </a:xfrm>
            <a:custGeom>
              <a:rect b="b" l="l" r="r" t="t"/>
              <a:pathLst>
                <a:path extrusionOk="0" h="186055" w="325120">
                  <a:moveTo>
                    <a:pt x="92824" y="185686"/>
                  </a:moveTo>
                  <a:lnTo>
                    <a:pt x="0" y="185686"/>
                  </a:lnTo>
                  <a:lnTo>
                    <a:pt x="208902" y="0"/>
                  </a:lnTo>
                  <a:lnTo>
                    <a:pt x="237899" y="46380"/>
                  </a:lnTo>
                  <a:lnTo>
                    <a:pt x="162471" y="46380"/>
                  </a:lnTo>
                  <a:lnTo>
                    <a:pt x="129971" y="102095"/>
                  </a:lnTo>
                  <a:lnTo>
                    <a:pt x="272731" y="102095"/>
                  </a:lnTo>
                  <a:lnTo>
                    <a:pt x="287246" y="125310"/>
                  </a:lnTo>
                  <a:lnTo>
                    <a:pt x="125310" y="125310"/>
                  </a:lnTo>
                  <a:lnTo>
                    <a:pt x="92824" y="185686"/>
                  </a:lnTo>
                  <a:close/>
                </a:path>
                <a:path extrusionOk="0" h="186055" w="325120">
                  <a:moveTo>
                    <a:pt x="272731" y="102095"/>
                  </a:moveTo>
                  <a:lnTo>
                    <a:pt x="194970" y="102095"/>
                  </a:lnTo>
                  <a:lnTo>
                    <a:pt x="162471" y="46380"/>
                  </a:lnTo>
                  <a:lnTo>
                    <a:pt x="237899" y="46380"/>
                  </a:lnTo>
                  <a:lnTo>
                    <a:pt x="272731" y="102095"/>
                  </a:lnTo>
                  <a:close/>
                </a:path>
                <a:path extrusionOk="0" h="186055" w="325120">
                  <a:moveTo>
                    <a:pt x="324993" y="185686"/>
                  </a:moveTo>
                  <a:lnTo>
                    <a:pt x="232117" y="185686"/>
                  </a:lnTo>
                  <a:lnTo>
                    <a:pt x="199631" y="125310"/>
                  </a:lnTo>
                  <a:lnTo>
                    <a:pt x="287246" y="125310"/>
                  </a:lnTo>
                  <a:lnTo>
                    <a:pt x="324993" y="185686"/>
                  </a:lnTo>
                  <a:close/>
                </a:path>
              </a:pathLst>
            </a:custGeom>
            <a:solidFill>
              <a:srgbClr val="2F0D6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8" name="Google Shape;268;p17"/>
          <p:cNvSpPr txBox="1"/>
          <p:nvPr>
            <p:ph idx="12" type="sldNum"/>
          </p:nvPr>
        </p:nvSpPr>
        <p:spPr>
          <a:xfrm>
            <a:off x="-38100" y="7621125"/>
            <a:ext cx="581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sur 20</a:t>
            </a:r>
            <a:endParaRPr/>
          </a:p>
        </p:txBody>
      </p:sp>
      <p:sp>
        <p:nvSpPr>
          <p:cNvPr id="269" name="Google Shape;269;p17"/>
          <p:cNvSpPr txBox="1"/>
          <p:nvPr/>
        </p:nvSpPr>
        <p:spPr>
          <a:xfrm>
            <a:off x="4088024" y="7591793"/>
            <a:ext cx="16143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A31"/>
                </a:solidFill>
                <a:latin typeface="Trebuchet MS"/>
                <a:ea typeface="Trebuchet MS"/>
                <a:cs typeface="Trebuchet MS"/>
                <a:sym typeface="Trebuchet MS"/>
              </a:rPr>
              <a:t>SAN-Log_it – Modélisation ESN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70" name="Google Shape;270;p17" title="100000404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2540" y="755639"/>
            <a:ext cx="1925449" cy="1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7"/>
          <p:cNvSpPr txBox="1"/>
          <p:nvPr/>
        </p:nvSpPr>
        <p:spPr>
          <a:xfrm>
            <a:off x="395596" y="899800"/>
            <a:ext cx="55308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F0D6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 EBIOS RM :</a:t>
            </a:r>
            <a:endParaRPr b="1" sz="2500">
              <a:solidFill>
                <a:srgbClr val="2F0D6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72" name="Google Shape;272;p17"/>
          <p:cNvGraphicFramePr/>
          <p:nvPr/>
        </p:nvGraphicFramePr>
        <p:xfrm>
          <a:off x="485700" y="234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{7AA08982-3D11-4EC6-80D6-00CB5F942329}</a:tableStyleId>
              </a:tblPr>
              <a:tblGrid>
                <a:gridCol w="1597300"/>
                <a:gridCol w="1860000"/>
                <a:gridCol w="1902050"/>
                <a:gridCol w="1860000"/>
                <a:gridCol w="1860000"/>
              </a:tblGrid>
              <a:tr h="400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Vraisemblance \ Gravité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G1 — Mineure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G2 — Significative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G3 — Majeure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G4 — Critique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E8F0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V4 — Quasi-certain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Modéré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Élevé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Critique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Critique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0000FF"/>
                          </a:solidFill>
                        </a:rPr>
                        <a:t>V3 — Vraisemblable</a:t>
                      </a:r>
                      <a:endParaRPr b="1" sz="950">
                        <a:solidFill>
                          <a:srgbClr val="0000FF"/>
                        </a:solidFill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Modéré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Élevé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Élevé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Critique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V2 — Possible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Faible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Modéré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Élevé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Élevé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V1 — Minime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Faible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Faible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Modéré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Élevé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3" name="Google Shape;273;p17"/>
          <p:cNvGraphicFramePr/>
          <p:nvPr/>
        </p:nvGraphicFramePr>
        <p:xfrm>
          <a:off x="495225" y="49896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{7AA08982-3D11-4EC6-80D6-00CB5F942329}</a:tableStyleId>
              </a:tblPr>
              <a:tblGrid>
                <a:gridCol w="4602875"/>
                <a:gridCol w="1527275"/>
                <a:gridCol w="1474600"/>
                <a:gridCol w="1474600"/>
              </a:tblGrid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Scénario opérationnel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Vraisemblance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Gravité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Niveau de risque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E8F0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SO1 — Phishing du gérant → vol des secrets → accès clients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0000FF"/>
                          </a:solidFill>
                        </a:rPr>
                        <a:t>V3</a:t>
                      </a:r>
                      <a:endParaRPr b="1" sz="950">
                        <a:solidFill>
                          <a:srgbClr val="0000FF"/>
                        </a:solidFill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FF0000"/>
                          </a:solidFill>
                        </a:rPr>
                        <a:t>G4</a:t>
                      </a:r>
                      <a:endParaRPr b="1" sz="950">
                        <a:solidFill>
                          <a:srgbClr val="FF0000"/>
                        </a:solidFill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Critique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SO2 — Ransomware (service exposé/CVE) → chiffrement NAS + VMs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0000FF"/>
                          </a:solidFill>
                        </a:rPr>
                        <a:t>V3</a:t>
                      </a:r>
                      <a:endParaRPr b="1" sz="950">
                        <a:solidFill>
                          <a:srgbClr val="0000FF"/>
                        </a:solidFill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FF0000"/>
                          </a:solidFill>
                        </a:rPr>
                        <a:t>G4</a:t>
                      </a:r>
                      <a:endParaRPr b="1" sz="950">
                        <a:solidFill>
                          <a:srgbClr val="FF0000"/>
                        </a:solidFill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Critique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SO3 — Accès client non révoqué en fin de mission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0000FF"/>
                          </a:solidFill>
                        </a:rPr>
                        <a:t>V3</a:t>
                      </a:r>
                      <a:endParaRPr b="1" sz="950">
                        <a:solidFill>
                          <a:srgbClr val="0000FF"/>
                        </a:solidFill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FF0000"/>
                          </a:solidFill>
                        </a:rPr>
                        <a:t>G3</a:t>
                      </a:r>
                      <a:endParaRPr b="1" sz="950">
                        <a:solidFill>
                          <a:srgbClr val="FF0000"/>
                        </a:solidFill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Élevé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SO4 — Cloisonnement insuffisant labo Kali ↔ production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chemeClr val="dk1"/>
                          </a:solidFill>
                        </a:rPr>
                        <a:t>V2</a:t>
                      </a:r>
                      <a:endParaRPr b="1" sz="950">
                        <a:solidFill>
                          <a:schemeClr val="dk1"/>
                        </a:solidFill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FF0000"/>
                          </a:solidFill>
                        </a:rPr>
                        <a:t>G3</a:t>
                      </a:r>
                      <a:endParaRPr b="1" sz="950">
                        <a:solidFill>
                          <a:srgbClr val="FF0000"/>
                        </a:solidFill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Élevé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SO5 — Compromission d’un dépôt de configs/Master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chemeClr val="dk1"/>
                          </a:solidFill>
                        </a:rPr>
                        <a:t>V2</a:t>
                      </a:r>
                      <a:endParaRPr b="1" sz="950">
                        <a:solidFill>
                          <a:schemeClr val="dk1"/>
                        </a:solidFill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FF0000"/>
                          </a:solidFill>
                        </a:rPr>
                        <a:t>G3</a:t>
                      </a:r>
                      <a:endParaRPr b="1" sz="950">
                        <a:solidFill>
                          <a:srgbClr val="FF0000"/>
                        </a:solidFill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Élevé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SO6 — Perte / vol du portable d’administration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chemeClr val="dk1"/>
                          </a:solidFill>
                        </a:rPr>
                        <a:t>V2</a:t>
                      </a:r>
                      <a:endParaRPr b="1" sz="950">
                        <a:solidFill>
                          <a:schemeClr val="dk1"/>
                        </a:solidFill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FF0000"/>
                          </a:solidFill>
                        </a:rPr>
                        <a:t>G3</a:t>
                      </a:r>
                      <a:endParaRPr b="1" sz="950">
                        <a:solidFill>
                          <a:srgbClr val="FF0000"/>
                        </a:solidFill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Élevé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SO7 — Indisponibilité prolongée du gérant unique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0000FF"/>
                          </a:solidFill>
                        </a:rPr>
                        <a:t>V3</a:t>
                      </a:r>
                      <a:endParaRPr b="1" sz="950">
                        <a:solidFill>
                          <a:srgbClr val="0000FF"/>
                        </a:solidFill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FF0000"/>
                          </a:solidFill>
                        </a:rPr>
                        <a:t>G2</a:t>
                      </a:r>
                      <a:endParaRPr b="1" sz="950">
                        <a:solidFill>
                          <a:srgbClr val="FF0000"/>
                        </a:solidFill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/>
                        <a:t>Élevé</a:t>
                      </a:r>
                      <a:endParaRPr b="1" sz="950"/>
                    </a:p>
                  </a:txBody>
                  <a:tcPr marT="50800" marB="50800" marR="76200" marL="762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274" name="Google Shape;274;p17"/>
          <p:cNvSpPr txBox="1"/>
          <p:nvPr/>
        </p:nvSpPr>
        <p:spPr>
          <a:xfrm>
            <a:off x="399601" y="1680361"/>
            <a:ext cx="81381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Matrice vraisemblance × gravité :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Niveau de risque = croisement vraisemblance (lignes) × gravité (colonnes).             Cette grille reproduit exactement les niveaux cotés dans la V0.1 (SO1–SO7) et les rend dérivables</a:t>
            </a:r>
            <a:endParaRPr>
              <a:highlight>
                <a:srgbClr val="F4CC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17"/>
          <p:cNvSpPr txBox="1"/>
          <p:nvPr/>
        </p:nvSpPr>
        <p:spPr>
          <a:xfrm>
            <a:off x="391774" y="3815765"/>
            <a:ext cx="38262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Légende : </a:t>
            </a:r>
            <a:r>
              <a:rPr lang="en-US">
                <a:solidFill>
                  <a:schemeClr val="dk1"/>
                </a:solidFill>
                <a:highlight>
                  <a:srgbClr val="D9EA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Faible  </a:t>
            </a:r>
            <a:r>
              <a:rPr lang="en-US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Modéré  </a:t>
            </a:r>
            <a:r>
              <a:rPr lang="en-US">
                <a:solidFill>
                  <a:schemeClr val="dk1"/>
                </a:solidFill>
                <a:highlight>
                  <a:srgbClr val="FCE5CD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Élevé  </a:t>
            </a:r>
            <a:r>
              <a:rPr lang="en-US">
                <a:solidFill>
                  <a:schemeClr val="dk1"/>
                </a:solidFill>
                <a:highlight>
                  <a:srgbClr val="F4CC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Critique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399601" y="4594556"/>
            <a:ext cx="49782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85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: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cotation des scénarios opérationnels (état initial)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7"/>
          <p:cNvSpPr txBox="1"/>
          <p:nvPr>
            <p:ph idx="11" type="ftr"/>
          </p:nvPr>
        </p:nvSpPr>
        <p:spPr>
          <a:xfrm>
            <a:off x="9114472" y="7621128"/>
            <a:ext cx="95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08/06/2026, 22:37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"/>
          <p:cNvSpPr/>
          <p:nvPr/>
        </p:nvSpPr>
        <p:spPr>
          <a:xfrm>
            <a:off x="11131567" y="455812"/>
            <a:ext cx="14709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75B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75BC"/>
                </a:solidFill>
                <a:latin typeface="Arial"/>
                <a:ea typeface="Arial"/>
                <a:cs typeface="Arial"/>
                <a:sym typeface="Arial"/>
              </a:rPr>
              <a:t>SANLOGIT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8"/>
          <p:cNvSpPr/>
          <p:nvPr/>
        </p:nvSpPr>
        <p:spPr>
          <a:xfrm>
            <a:off x="493551" y="618750"/>
            <a:ext cx="56808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2A7A"/>
              </a:buClr>
              <a:buSzPts val="3000"/>
              <a:buFont typeface="Georgia"/>
              <a:buNone/>
            </a:pPr>
            <a:r>
              <a:rPr b="1" i="0" lang="en-US" sz="2500" u="none" cap="none" strike="noStrike">
                <a:solidFill>
                  <a:srgbClr val="3B2A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 des risques et corrélation CVE</a:t>
            </a:r>
            <a:endParaRPr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18"/>
          <p:cNvSpPr/>
          <p:nvPr/>
        </p:nvSpPr>
        <p:spPr>
          <a:xfrm>
            <a:off x="470275" y="1416775"/>
            <a:ext cx="69687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Synthèse : </a:t>
            </a:r>
            <a:r>
              <a:rPr b="1" i="0" lang="en-US" sz="1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Cartographi</a:t>
            </a: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1" i="0" lang="en-US" sz="1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→  	CVE ciblée      →  	Outil de test (offensif) </a:t>
            </a:r>
            <a:endParaRPr b="1" i="0" sz="1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risques</a:t>
            </a: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</a:t>
            </a:r>
            <a:r>
              <a:rPr b="1" i="0" lang="en-US" sz="1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1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86" name="Google Shape;286;p18"/>
          <p:cNvGraphicFramePr/>
          <p:nvPr/>
        </p:nvGraphicFramePr>
        <p:xfrm>
          <a:off x="485690" y="19953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{7AA08982-3D11-4EC6-80D6-00CB5F942329}</a:tableStyleId>
              </a:tblPr>
              <a:tblGrid>
                <a:gridCol w="1961375"/>
                <a:gridCol w="2187675"/>
                <a:gridCol w="2263125"/>
                <a:gridCol w="2888325"/>
              </a:tblGrid>
              <a:tr h="43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Risque modélisé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1825" marB="51825" marR="75450" marL="75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CVE associée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1825" marB="51825" marR="75450" marL="75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75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 réalisable (offensif)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1825" marB="51825" marR="75450" marL="75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82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Détection / Mitigation (défensif)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1825" marB="51825" marR="75450" marL="75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B57"/>
                    </a:solidFill>
                  </a:tcPr>
                </a:tc>
              </a:tr>
              <a:tr h="580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Injection / RCE</a:t>
                      </a:r>
                      <a:endParaRPr b="1" sz="12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43175" marR="52400" marL="524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CVE-2021-44228 (Log4Shell)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43175" marR="52400" marL="524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JMeter — payload JNDI ${jndi:ldap://…}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43175" marR="52400" marL="524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A34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Wazuh + Suricata </a:t>
                      </a:r>
                      <a:r>
                        <a:rPr lang="en-US" sz="12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(signatures JNDI) ; patch Log4j ≥ 2.17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43175" marR="52400" marL="524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9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Path traversal / RCE web</a:t>
                      </a:r>
                      <a:endParaRPr b="1" sz="12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43175" marR="52400" marL="524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CVE-2021-41773 (Apache 2.4.49)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43175" marR="52400" marL="524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Requête GET manipulée ( /../ )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43175" marR="52400" marL="524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A34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Suricata (signature traversée)</a:t>
                      </a:r>
                      <a:r>
                        <a:rPr lang="en-US" sz="12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; patch ≥ 2.4.51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43175" marR="52400" marL="524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1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RDP non sécurisé</a:t>
                      </a:r>
                      <a:endParaRPr b="1" sz="12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43175" marR="52400" marL="524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CVE-2019-0708 (BlueKeep)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43175" marR="52400" marL="524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nmap + script NSE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43175" marR="52400" marL="524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A34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Patch + NLA forcé + signature IDS Suricata</a:t>
                      </a:r>
                      <a:endParaRPr b="1" sz="1200" u="none" cap="none" strike="noStrike">
                        <a:solidFill>
                          <a:srgbClr val="15A34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43175" marR="52400" marL="524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8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Bruteforce SSH</a:t>
                      </a:r>
                      <a:endParaRPr b="1" sz="12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43175" marR="52400" marL="524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N/A (technique — MITRE T1110)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43175" marR="52400" marL="524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Hydra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43175" marR="52400" marL="524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A34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Fail2Ban + MFA + clés SSH/RSA</a:t>
                      </a:r>
                      <a:endParaRPr b="1" sz="1200" u="none" cap="none" strike="noStrike">
                        <a:solidFill>
                          <a:srgbClr val="15A34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43175" marR="52400" marL="524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Déni de service (DoS)</a:t>
                      </a:r>
                      <a:endParaRPr b="1" sz="12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43175" marR="52400" marL="524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N/A (surcharge réseau/CPU)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43175" marR="52400" marL="524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JMeter (thread group max)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43175" marR="52400" marL="524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A34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Prometheus (alerting CPU / latence) + rate-limiting pfSense</a:t>
                      </a:r>
                      <a:endParaRPr b="1" sz="1200" u="none" cap="none" strike="noStrike">
                        <a:solidFill>
                          <a:srgbClr val="15A34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43175" marR="52400" marL="524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7" name="Google Shape;287;p18"/>
          <p:cNvSpPr/>
          <p:nvPr/>
        </p:nvSpPr>
        <p:spPr>
          <a:xfrm>
            <a:off x="-2050705" y="6528500"/>
            <a:ext cx="60300" cy="7461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18" title="100000404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2540" y="693584"/>
            <a:ext cx="1925449" cy="1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8"/>
          <p:cNvSpPr txBox="1"/>
          <p:nvPr/>
        </p:nvSpPr>
        <p:spPr>
          <a:xfrm>
            <a:off x="464000" y="5217734"/>
            <a:ext cx="9322200" cy="16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CVE-2021-44228 — Log4Shell.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Exécution de code à distance via une recherche JNDI dans Apache Log4j 2 (≤ 2.14.1) : une chaîne journalisée comme </a:t>
            </a:r>
            <a:r>
              <a:rPr lang="en-US" sz="12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${jndi:ldap://…}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déclenche le chargement d'une classe distante. CVSS 10.0, décembre 2021.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CVE-2021-41773.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Traversée de répertoire dans Apache HTTP Server 2.4.49 ; permet de lire des fichiers hors racine web, et d'aboutir à du RCE si </a:t>
            </a:r>
            <a:r>
              <a:rPr lang="en-US" sz="12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mod_cgi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est actif. (Le correctif 2.4.50 était incomplet → CVE-2021-42013.)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CVE-2019-0708 — BlueKeep.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RCE pré-authentification dans les services Bureau à distance (RDP) de Windows 7 / Server 2008. </a:t>
            </a:r>
            <a:r>
              <a:rPr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Wormable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CVSS 9.8, mai 2019.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19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</a:t>
            </a:r>
            <a:r>
              <a:rPr lang="en-US" sz="900">
                <a:solidFill>
                  <a:srgbClr val="262A31"/>
                </a:solidFill>
                <a:latin typeface="Trebuchet MS"/>
                <a:ea typeface="Trebuchet MS"/>
                <a:cs typeface="Trebuchet MS"/>
                <a:sym typeface="Trebuchet MS"/>
              </a:rPr>
              <a:t>SAN-Log_it – Modélisation ESN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8"/>
          <p:cNvSpPr txBox="1"/>
          <p:nvPr>
            <p:ph idx="11" type="ftr"/>
          </p:nvPr>
        </p:nvSpPr>
        <p:spPr>
          <a:xfrm>
            <a:off x="9035335" y="7621125"/>
            <a:ext cx="1033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imes New Roman"/>
                <a:ea typeface="Times New Roman"/>
                <a:cs typeface="Times New Roman"/>
                <a:sym typeface="Times New Roman"/>
              </a:rPr>
              <a:t>08/</a:t>
            </a:r>
            <a:r>
              <a:rPr lang="en-US" sz="1000">
                <a:latin typeface="Times New Roman"/>
                <a:ea typeface="Times New Roman"/>
                <a:cs typeface="Times New Roman"/>
                <a:sym typeface="Times New Roman"/>
              </a:rPr>
              <a:t>06/2026, 22:37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18"/>
          <p:cNvSpPr txBox="1"/>
          <p:nvPr>
            <p:ph idx="12" type="sldNum"/>
          </p:nvPr>
        </p:nvSpPr>
        <p:spPr>
          <a:xfrm>
            <a:off x="-38100" y="7621125"/>
            <a:ext cx="651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r>
              <a:rPr lang="en-US" sz="1000">
                <a:latin typeface="Times New Roman"/>
                <a:ea typeface="Times New Roman"/>
                <a:cs typeface="Times New Roman"/>
                <a:sym typeface="Times New Roman"/>
              </a:rPr>
              <a:t> sur 20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18"/>
          <p:cNvSpPr txBox="1"/>
          <p:nvPr/>
        </p:nvSpPr>
        <p:spPr>
          <a:xfrm>
            <a:off x="394050" y="6905400"/>
            <a:ext cx="851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 assumée 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Ces tests ont étés concus et documentés. Il n’y a pas exécution complète faute d’une mission réelle avec un client. 	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7" name="Google Shape;297;p19"/>
          <p:cNvGraphicFramePr/>
          <p:nvPr/>
        </p:nvGraphicFramePr>
        <p:xfrm>
          <a:off x="2869966" y="27068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{F262EEC4-5214-4235-8F0D-B323A4B456DF}</a:tableStyleId>
              </a:tblPr>
              <a:tblGrid>
                <a:gridCol w="2779900"/>
                <a:gridCol w="1482100"/>
              </a:tblGrid>
              <a:tr h="4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99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Active Directory + DNS + DHCP paramétrés</a:t>
                      </a:r>
                      <a:endParaRPr b="1" sz="1200" u="none" cap="none" strike="noStrike">
                        <a:solidFill>
                          <a:srgbClr val="FF99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ctr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 à 2 jours</a:t>
                      </a:r>
                      <a:endParaRPr b="1" sz="1200" u="none" cap="none" strike="noStrike">
                        <a:solidFill>
                          <a:srgbClr val="0000FF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99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Déploiement pfSense + </a:t>
                      </a:r>
                      <a:r>
                        <a:rPr b="1" lang="en-US" sz="1200">
                          <a:solidFill>
                            <a:srgbClr val="FF99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configuration</a:t>
                      </a:r>
                      <a:r>
                        <a:rPr b="1" lang="en-US" sz="1200" u="none" cap="none" strike="noStrike">
                          <a:solidFill>
                            <a:srgbClr val="FF99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règles IDS</a:t>
                      </a:r>
                      <a:endParaRPr b="1" sz="1200" u="none" cap="none" strike="noStrike">
                        <a:solidFill>
                          <a:srgbClr val="FF99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17475" marB="0" marR="0" marL="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 à 2 jours</a:t>
                      </a:r>
                      <a:endParaRPr b="1" sz="1200" u="none" cap="none" strike="noStrike">
                        <a:solidFill>
                          <a:srgbClr val="0000FF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17475" marB="0" marR="0" marL="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99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Installation Prometheus + Dashboards Grafana</a:t>
                      </a:r>
                      <a:endParaRPr b="1" sz="1200" u="none" cap="none" strike="noStrike">
                        <a:solidFill>
                          <a:srgbClr val="FF99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17475" marB="0" marR="0" marL="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542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 à 2 jours</a:t>
                      </a:r>
                      <a:endParaRPr b="1" sz="1200" u="none" cap="none" strike="noStrike">
                        <a:solidFill>
                          <a:srgbClr val="0000FF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17475" marB="0" marR="0" marL="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99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Analyse de vulnérabilités + rapport d'action</a:t>
                      </a:r>
                      <a:endParaRPr b="1" sz="1200" u="none" cap="none" strike="noStrike">
                        <a:solidFill>
                          <a:srgbClr val="FF99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17475" marB="0" marR="0" marL="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605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 jour</a:t>
                      </a:r>
                      <a:endParaRPr b="1" sz="1200" u="none" cap="none" strike="noStrike">
                        <a:solidFill>
                          <a:srgbClr val="0000FF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17475" marB="0" marR="0" marL="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98" name="Google Shape;2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023" y="2419948"/>
            <a:ext cx="595706" cy="145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3164" y="2469776"/>
            <a:ext cx="2019504" cy="148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13529" y="2453507"/>
            <a:ext cx="907961" cy="115341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9"/>
          <p:cNvSpPr/>
          <p:nvPr/>
        </p:nvSpPr>
        <p:spPr>
          <a:xfrm>
            <a:off x="491313" y="5040245"/>
            <a:ext cx="38100" cy="1047114"/>
          </a:xfrm>
          <a:custGeom>
            <a:rect b="b" l="l" r="r" t="t"/>
            <a:pathLst>
              <a:path extrusionOk="0" h="1047114" w="38100">
                <a:moveTo>
                  <a:pt x="37896" y="1047051"/>
                </a:moveTo>
                <a:lnTo>
                  <a:pt x="0" y="1047051"/>
                </a:lnTo>
                <a:lnTo>
                  <a:pt x="0" y="0"/>
                </a:lnTo>
                <a:lnTo>
                  <a:pt x="37896" y="0"/>
                </a:lnTo>
                <a:lnTo>
                  <a:pt x="37896" y="1047051"/>
                </a:lnTo>
                <a:close/>
              </a:path>
            </a:pathLst>
          </a:custGeom>
          <a:solidFill>
            <a:srgbClr val="E9570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9"/>
          <p:cNvSpPr/>
          <p:nvPr/>
        </p:nvSpPr>
        <p:spPr>
          <a:xfrm>
            <a:off x="507115" y="6101557"/>
            <a:ext cx="9091295" cy="5714"/>
          </a:xfrm>
          <a:custGeom>
            <a:rect b="b" l="l" r="r" t="t"/>
            <a:pathLst>
              <a:path extrusionOk="0" h="5714" w="9091295">
                <a:moveTo>
                  <a:pt x="9090672" y="5410"/>
                </a:moveTo>
                <a:lnTo>
                  <a:pt x="0" y="5410"/>
                </a:lnTo>
                <a:lnTo>
                  <a:pt x="0" y="0"/>
                </a:lnTo>
                <a:lnTo>
                  <a:pt x="9090672" y="0"/>
                </a:lnTo>
                <a:lnTo>
                  <a:pt x="9090672" y="5410"/>
                </a:lnTo>
                <a:close/>
              </a:path>
            </a:pathLst>
          </a:custGeom>
          <a:solidFill>
            <a:srgbClr val="E2E8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9"/>
          <p:cNvSpPr/>
          <p:nvPr/>
        </p:nvSpPr>
        <p:spPr>
          <a:xfrm>
            <a:off x="11229935" y="1000978"/>
            <a:ext cx="278765" cy="186055"/>
          </a:xfrm>
          <a:custGeom>
            <a:rect b="b" l="l" r="r" t="t"/>
            <a:pathLst>
              <a:path extrusionOk="0" h="186055" w="278765">
                <a:moveTo>
                  <a:pt x="92824" y="185686"/>
                </a:moveTo>
                <a:lnTo>
                  <a:pt x="0" y="185686"/>
                </a:lnTo>
                <a:lnTo>
                  <a:pt x="0" y="0"/>
                </a:lnTo>
                <a:lnTo>
                  <a:pt x="92824" y="0"/>
                </a:lnTo>
                <a:lnTo>
                  <a:pt x="148529" y="69608"/>
                </a:lnTo>
                <a:lnTo>
                  <a:pt x="92824" y="69608"/>
                </a:lnTo>
                <a:lnTo>
                  <a:pt x="92824" y="185686"/>
                </a:lnTo>
                <a:close/>
              </a:path>
              <a:path extrusionOk="0" h="186055" w="278765">
                <a:moveTo>
                  <a:pt x="278561" y="116039"/>
                </a:moveTo>
                <a:lnTo>
                  <a:pt x="185686" y="116039"/>
                </a:lnTo>
                <a:lnTo>
                  <a:pt x="185686" y="0"/>
                </a:lnTo>
                <a:lnTo>
                  <a:pt x="278561" y="0"/>
                </a:lnTo>
                <a:lnTo>
                  <a:pt x="278561" y="116039"/>
                </a:lnTo>
                <a:close/>
              </a:path>
              <a:path extrusionOk="0" h="186055" w="278765">
                <a:moveTo>
                  <a:pt x="278561" y="185686"/>
                </a:moveTo>
                <a:lnTo>
                  <a:pt x="185686" y="185686"/>
                </a:lnTo>
                <a:lnTo>
                  <a:pt x="92824" y="69608"/>
                </a:lnTo>
                <a:lnTo>
                  <a:pt x="148529" y="69608"/>
                </a:lnTo>
                <a:lnTo>
                  <a:pt x="185686" y="116039"/>
                </a:lnTo>
                <a:lnTo>
                  <a:pt x="278561" y="116039"/>
                </a:lnTo>
                <a:lnTo>
                  <a:pt x="278561" y="185686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9"/>
          <p:cNvSpPr/>
          <p:nvPr/>
        </p:nvSpPr>
        <p:spPr>
          <a:xfrm>
            <a:off x="11554929" y="1000978"/>
            <a:ext cx="162559" cy="186055"/>
          </a:xfrm>
          <a:custGeom>
            <a:rect b="b" l="l" r="r" t="t"/>
            <a:pathLst>
              <a:path extrusionOk="0" h="186055" w="162559">
                <a:moveTo>
                  <a:pt x="129971" y="92824"/>
                </a:moveTo>
                <a:lnTo>
                  <a:pt x="128320" y="84709"/>
                </a:lnTo>
                <a:lnTo>
                  <a:pt x="123837" y="78066"/>
                </a:lnTo>
                <a:lnTo>
                  <a:pt x="117208" y="73583"/>
                </a:lnTo>
                <a:lnTo>
                  <a:pt x="109093" y="71932"/>
                </a:lnTo>
                <a:lnTo>
                  <a:pt x="20891" y="71932"/>
                </a:lnTo>
                <a:lnTo>
                  <a:pt x="12738" y="73583"/>
                </a:lnTo>
                <a:lnTo>
                  <a:pt x="6096" y="78066"/>
                </a:lnTo>
                <a:lnTo>
                  <a:pt x="1625" y="84709"/>
                </a:lnTo>
                <a:lnTo>
                  <a:pt x="0" y="92824"/>
                </a:lnTo>
                <a:lnTo>
                  <a:pt x="1625" y="100965"/>
                </a:lnTo>
                <a:lnTo>
                  <a:pt x="6096" y="107607"/>
                </a:lnTo>
                <a:lnTo>
                  <a:pt x="12738" y="112077"/>
                </a:lnTo>
                <a:lnTo>
                  <a:pt x="20891" y="113703"/>
                </a:lnTo>
                <a:lnTo>
                  <a:pt x="109093" y="113703"/>
                </a:lnTo>
                <a:lnTo>
                  <a:pt x="117208" y="112077"/>
                </a:lnTo>
                <a:lnTo>
                  <a:pt x="123837" y="107607"/>
                </a:lnTo>
                <a:lnTo>
                  <a:pt x="128320" y="100965"/>
                </a:lnTo>
                <a:lnTo>
                  <a:pt x="129971" y="92824"/>
                </a:lnTo>
                <a:close/>
              </a:path>
              <a:path extrusionOk="0" h="186055" w="162559">
                <a:moveTo>
                  <a:pt x="162471" y="164807"/>
                </a:moveTo>
                <a:lnTo>
                  <a:pt x="160820" y="156667"/>
                </a:lnTo>
                <a:lnTo>
                  <a:pt x="156337" y="150025"/>
                </a:lnTo>
                <a:lnTo>
                  <a:pt x="149694" y="145554"/>
                </a:lnTo>
                <a:lnTo>
                  <a:pt x="141579" y="143916"/>
                </a:lnTo>
                <a:lnTo>
                  <a:pt x="20891" y="143916"/>
                </a:lnTo>
                <a:lnTo>
                  <a:pt x="12738" y="145554"/>
                </a:lnTo>
                <a:lnTo>
                  <a:pt x="6096" y="150025"/>
                </a:lnTo>
                <a:lnTo>
                  <a:pt x="1625" y="156667"/>
                </a:lnTo>
                <a:lnTo>
                  <a:pt x="0" y="164807"/>
                </a:lnTo>
                <a:lnTo>
                  <a:pt x="1625" y="172935"/>
                </a:lnTo>
                <a:lnTo>
                  <a:pt x="6096" y="179565"/>
                </a:lnTo>
                <a:lnTo>
                  <a:pt x="12738" y="184048"/>
                </a:lnTo>
                <a:lnTo>
                  <a:pt x="20891" y="185686"/>
                </a:lnTo>
                <a:lnTo>
                  <a:pt x="141579" y="185686"/>
                </a:lnTo>
                <a:lnTo>
                  <a:pt x="149694" y="184048"/>
                </a:lnTo>
                <a:lnTo>
                  <a:pt x="156337" y="179565"/>
                </a:lnTo>
                <a:lnTo>
                  <a:pt x="160820" y="172935"/>
                </a:lnTo>
                <a:lnTo>
                  <a:pt x="162471" y="164807"/>
                </a:lnTo>
                <a:close/>
              </a:path>
              <a:path extrusionOk="0" h="186055" w="162559">
                <a:moveTo>
                  <a:pt x="162471" y="20891"/>
                </a:moveTo>
                <a:lnTo>
                  <a:pt x="160820" y="12750"/>
                </a:lnTo>
                <a:lnTo>
                  <a:pt x="156337" y="6108"/>
                </a:lnTo>
                <a:lnTo>
                  <a:pt x="149694" y="1638"/>
                </a:lnTo>
                <a:lnTo>
                  <a:pt x="141579" y="0"/>
                </a:lnTo>
                <a:lnTo>
                  <a:pt x="20891" y="0"/>
                </a:lnTo>
                <a:lnTo>
                  <a:pt x="12738" y="1638"/>
                </a:lnTo>
                <a:lnTo>
                  <a:pt x="6096" y="6108"/>
                </a:lnTo>
                <a:lnTo>
                  <a:pt x="1625" y="12750"/>
                </a:lnTo>
                <a:lnTo>
                  <a:pt x="0" y="20891"/>
                </a:lnTo>
                <a:lnTo>
                  <a:pt x="1625" y="29019"/>
                </a:lnTo>
                <a:lnTo>
                  <a:pt x="6096" y="35648"/>
                </a:lnTo>
                <a:lnTo>
                  <a:pt x="12738" y="40132"/>
                </a:lnTo>
                <a:lnTo>
                  <a:pt x="20891" y="41770"/>
                </a:lnTo>
                <a:lnTo>
                  <a:pt x="141579" y="41770"/>
                </a:lnTo>
                <a:lnTo>
                  <a:pt x="149694" y="40132"/>
                </a:lnTo>
                <a:lnTo>
                  <a:pt x="156337" y="35648"/>
                </a:lnTo>
                <a:lnTo>
                  <a:pt x="160820" y="29019"/>
                </a:lnTo>
                <a:lnTo>
                  <a:pt x="162471" y="20891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5" name="Google Shape;305;p19"/>
          <p:cNvGrpSpPr/>
          <p:nvPr/>
        </p:nvGrpSpPr>
        <p:grpSpPr>
          <a:xfrm>
            <a:off x="11787637" y="1000978"/>
            <a:ext cx="440620" cy="186055"/>
            <a:chOff x="8995162" y="1120228"/>
            <a:chExt cx="440620" cy="186055"/>
          </a:xfrm>
        </p:grpSpPr>
        <p:pic>
          <p:nvPicPr>
            <p:cNvPr id="306" name="Google Shape;306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995162" y="1132405"/>
              <a:ext cx="161312" cy="16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19"/>
            <p:cNvSpPr/>
            <p:nvPr/>
          </p:nvSpPr>
          <p:spPr>
            <a:xfrm>
              <a:off x="9110662" y="1120228"/>
              <a:ext cx="325120" cy="186055"/>
            </a:xfrm>
            <a:custGeom>
              <a:rect b="b" l="l" r="r" t="t"/>
              <a:pathLst>
                <a:path extrusionOk="0" h="186055" w="325120">
                  <a:moveTo>
                    <a:pt x="92824" y="185686"/>
                  </a:moveTo>
                  <a:lnTo>
                    <a:pt x="0" y="185686"/>
                  </a:lnTo>
                  <a:lnTo>
                    <a:pt x="208902" y="0"/>
                  </a:lnTo>
                  <a:lnTo>
                    <a:pt x="237899" y="46380"/>
                  </a:lnTo>
                  <a:lnTo>
                    <a:pt x="162471" y="46380"/>
                  </a:lnTo>
                  <a:lnTo>
                    <a:pt x="129971" y="102095"/>
                  </a:lnTo>
                  <a:lnTo>
                    <a:pt x="272731" y="102095"/>
                  </a:lnTo>
                  <a:lnTo>
                    <a:pt x="287246" y="125310"/>
                  </a:lnTo>
                  <a:lnTo>
                    <a:pt x="125310" y="125310"/>
                  </a:lnTo>
                  <a:lnTo>
                    <a:pt x="92824" y="185686"/>
                  </a:lnTo>
                  <a:close/>
                </a:path>
                <a:path extrusionOk="0" h="186055" w="325120">
                  <a:moveTo>
                    <a:pt x="272731" y="102095"/>
                  </a:moveTo>
                  <a:lnTo>
                    <a:pt x="194970" y="102095"/>
                  </a:lnTo>
                  <a:lnTo>
                    <a:pt x="162471" y="46380"/>
                  </a:lnTo>
                  <a:lnTo>
                    <a:pt x="237899" y="46380"/>
                  </a:lnTo>
                  <a:lnTo>
                    <a:pt x="272731" y="102095"/>
                  </a:lnTo>
                  <a:close/>
                </a:path>
                <a:path extrusionOk="0" h="186055" w="325120">
                  <a:moveTo>
                    <a:pt x="324993" y="185686"/>
                  </a:moveTo>
                  <a:lnTo>
                    <a:pt x="232117" y="185686"/>
                  </a:lnTo>
                  <a:lnTo>
                    <a:pt x="199631" y="125310"/>
                  </a:lnTo>
                  <a:lnTo>
                    <a:pt x="287246" y="125310"/>
                  </a:lnTo>
                  <a:lnTo>
                    <a:pt x="324993" y="185686"/>
                  </a:lnTo>
                  <a:close/>
                </a:path>
              </a:pathLst>
            </a:custGeom>
            <a:solidFill>
              <a:srgbClr val="2F0D6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8" name="Google Shape;308;p19"/>
          <p:cNvSpPr txBox="1"/>
          <p:nvPr>
            <p:ph idx="12" type="sldNum"/>
          </p:nvPr>
        </p:nvSpPr>
        <p:spPr>
          <a:xfrm>
            <a:off x="-38100" y="7621128"/>
            <a:ext cx="523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sur 20</a:t>
            </a:r>
            <a:endParaRPr/>
          </a:p>
        </p:txBody>
      </p:sp>
      <p:sp>
        <p:nvSpPr>
          <p:cNvPr id="309" name="Google Shape;309;p19"/>
          <p:cNvSpPr txBox="1"/>
          <p:nvPr/>
        </p:nvSpPr>
        <p:spPr>
          <a:xfrm>
            <a:off x="6150909" y="2326813"/>
            <a:ext cx="7863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latin typeface="Times New Roman"/>
                <a:ea typeface="Times New Roman"/>
                <a:cs typeface="Times New Roman"/>
                <a:sym typeface="Times New Roman"/>
              </a:rPr>
              <a:t>Durée</a:t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 txBox="1"/>
          <p:nvPr/>
        </p:nvSpPr>
        <p:spPr>
          <a:xfrm>
            <a:off x="484659" y="4200437"/>
            <a:ext cx="17772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Trebuchet MS"/>
                <a:ea typeface="Trebuchet MS"/>
                <a:cs typeface="Trebuchet MS"/>
                <a:sym typeface="Trebuchet MS"/>
              </a:rPr>
              <a:t>Pack Audit technique</a:t>
            </a:r>
            <a:endParaRPr b="1"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1" name="Google Shape;311;p19"/>
          <p:cNvSpPr txBox="1"/>
          <p:nvPr/>
        </p:nvSpPr>
        <p:spPr>
          <a:xfrm>
            <a:off x="475022" y="3619568"/>
            <a:ext cx="1461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Trebuchet MS"/>
                <a:ea typeface="Trebuchet MS"/>
                <a:cs typeface="Trebuchet MS"/>
                <a:sym typeface="Trebuchet MS"/>
              </a:rPr>
              <a:t>Pack Supervision</a:t>
            </a:r>
            <a:endParaRPr b="1"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2" name="Google Shape;312;p19"/>
          <p:cNvSpPr txBox="1"/>
          <p:nvPr/>
        </p:nvSpPr>
        <p:spPr>
          <a:xfrm>
            <a:off x="477564" y="3244118"/>
            <a:ext cx="16872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Trebuchet MS"/>
                <a:ea typeface="Trebuchet MS"/>
                <a:cs typeface="Trebuchet MS"/>
                <a:sym typeface="Trebuchet MS"/>
              </a:rPr>
              <a:t>Pack Sécurisation</a:t>
            </a:r>
            <a:endParaRPr b="1"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3" name="Google Shape;313;p19"/>
          <p:cNvSpPr txBox="1"/>
          <p:nvPr/>
        </p:nvSpPr>
        <p:spPr>
          <a:xfrm>
            <a:off x="469374" y="2699086"/>
            <a:ext cx="20196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Trebuchet MS"/>
                <a:ea typeface="Trebuchet MS"/>
                <a:cs typeface="Trebuchet MS"/>
                <a:sym typeface="Trebuchet MS"/>
              </a:rPr>
              <a:t>P</a:t>
            </a:r>
            <a:r>
              <a:rPr b="1" lang="en-US" sz="1200">
                <a:latin typeface="Trebuchet MS"/>
                <a:ea typeface="Trebuchet MS"/>
                <a:cs typeface="Trebuchet MS"/>
                <a:sym typeface="Trebuchet MS"/>
              </a:rPr>
              <a:t>ack infrastructure PME</a:t>
            </a:r>
            <a:endParaRPr b="1"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4" name="Google Shape;314;p19"/>
          <p:cNvSpPr txBox="1"/>
          <p:nvPr/>
        </p:nvSpPr>
        <p:spPr>
          <a:xfrm>
            <a:off x="-5486400" y="-1689100"/>
            <a:ext cx="38100" cy="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9"/>
          <p:cNvSpPr txBox="1"/>
          <p:nvPr/>
        </p:nvSpPr>
        <p:spPr>
          <a:xfrm>
            <a:off x="7997350" y="2622650"/>
            <a:ext cx="12858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587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lang="en-US" sz="1200">
                <a:solidFill>
                  <a:srgbClr val="15A349"/>
                </a:solidFill>
                <a:latin typeface="Trebuchet MS"/>
                <a:ea typeface="Trebuchet MS"/>
                <a:cs typeface="Trebuchet MS"/>
                <a:sym typeface="Trebuchet MS"/>
              </a:rPr>
              <a:t>≈ 1 200 €</a:t>
            </a:r>
            <a:endParaRPr b="1" sz="1200">
              <a:solidFill>
                <a:srgbClr val="15A34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24485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958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"/>
          <p:cNvSpPr/>
          <p:nvPr/>
        </p:nvSpPr>
        <p:spPr>
          <a:xfrm>
            <a:off x="502372" y="2232443"/>
            <a:ext cx="1866900" cy="24024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/>
          <p:nvPr/>
        </p:nvSpPr>
        <p:spPr>
          <a:xfrm flipH="1" rot="10800000">
            <a:off x="2695072" y="2280355"/>
            <a:ext cx="4840200" cy="2400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9"/>
          <p:cNvSpPr txBox="1"/>
          <p:nvPr/>
        </p:nvSpPr>
        <p:spPr>
          <a:xfrm>
            <a:off x="7924600" y="3185402"/>
            <a:ext cx="1285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587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lang="en-US" sz="1200">
                <a:solidFill>
                  <a:srgbClr val="15A349"/>
                </a:solidFill>
                <a:latin typeface="Trebuchet MS"/>
                <a:ea typeface="Trebuchet MS"/>
                <a:cs typeface="Trebuchet MS"/>
                <a:sym typeface="Trebuchet MS"/>
              </a:rPr>
              <a:t>≈ 1 500 €</a:t>
            </a:r>
            <a:endParaRPr sz="1800">
              <a:solidFill>
                <a:srgbClr val="15A3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9"/>
          <p:cNvSpPr txBox="1"/>
          <p:nvPr/>
        </p:nvSpPr>
        <p:spPr>
          <a:xfrm>
            <a:off x="7997350" y="3705543"/>
            <a:ext cx="1285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587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lang="en-US" sz="1200">
                <a:solidFill>
                  <a:srgbClr val="15A349"/>
                </a:solidFill>
                <a:latin typeface="Trebuchet MS"/>
                <a:ea typeface="Trebuchet MS"/>
                <a:cs typeface="Trebuchet MS"/>
                <a:sym typeface="Trebuchet MS"/>
              </a:rPr>
              <a:t>≈ </a:t>
            </a:r>
            <a:r>
              <a:rPr b="1" lang="en-US" sz="1200">
                <a:solidFill>
                  <a:srgbClr val="15A349"/>
                </a:solidFill>
                <a:latin typeface="Trebuchet MS"/>
                <a:ea typeface="Trebuchet MS"/>
                <a:cs typeface="Trebuchet MS"/>
                <a:sym typeface="Trebuchet MS"/>
              </a:rPr>
              <a:t>1 300 €</a:t>
            </a:r>
            <a:endParaRPr b="1" sz="1200">
              <a:solidFill>
                <a:srgbClr val="15A34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24485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958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7981750" y="4158036"/>
            <a:ext cx="1285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A349"/>
                </a:solidFill>
                <a:latin typeface="Trebuchet MS"/>
                <a:ea typeface="Trebuchet MS"/>
                <a:cs typeface="Trebuchet MS"/>
                <a:sym typeface="Trebuchet MS"/>
              </a:rPr>
              <a:t>  </a:t>
            </a:r>
            <a:r>
              <a:rPr b="1" lang="en-US" sz="1200">
                <a:solidFill>
                  <a:srgbClr val="15A349"/>
                </a:solidFill>
                <a:latin typeface="Trebuchet MS"/>
                <a:ea typeface="Trebuchet MS"/>
                <a:cs typeface="Trebuchet MS"/>
                <a:sym typeface="Trebuchet MS"/>
              </a:rPr>
              <a:t>≈ </a:t>
            </a:r>
            <a:r>
              <a:rPr b="1" lang="en-US" sz="1200">
                <a:solidFill>
                  <a:srgbClr val="15A349"/>
                </a:solidFill>
                <a:latin typeface="Trebuchet MS"/>
                <a:ea typeface="Trebuchet MS"/>
                <a:cs typeface="Trebuchet MS"/>
                <a:sym typeface="Trebuchet MS"/>
              </a:rPr>
              <a:t> 800 €</a:t>
            </a:r>
            <a:endParaRPr b="1" sz="1200">
              <a:solidFill>
                <a:srgbClr val="15A34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9"/>
          <p:cNvSpPr txBox="1"/>
          <p:nvPr/>
        </p:nvSpPr>
        <p:spPr>
          <a:xfrm>
            <a:off x="4088024" y="7591793"/>
            <a:ext cx="16143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A31"/>
                </a:solidFill>
                <a:latin typeface="Trebuchet MS"/>
                <a:ea typeface="Trebuchet MS"/>
                <a:cs typeface="Trebuchet MS"/>
                <a:sym typeface="Trebuchet MS"/>
              </a:rPr>
              <a:t>SAN-Log_it – Modélisation ESN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22" name="Google Shape;322;p19" title="1000004042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22540" y="778910"/>
            <a:ext cx="1925449" cy="1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9"/>
          <p:cNvSpPr txBox="1"/>
          <p:nvPr/>
        </p:nvSpPr>
        <p:spPr>
          <a:xfrm>
            <a:off x="395600" y="892044"/>
            <a:ext cx="53526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F0D6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Catalogue des prestations (Packages)</a:t>
            </a:r>
            <a:endParaRPr b="1" sz="2500">
              <a:solidFill>
                <a:srgbClr val="2F0D6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19"/>
          <p:cNvSpPr txBox="1"/>
          <p:nvPr/>
        </p:nvSpPr>
        <p:spPr>
          <a:xfrm>
            <a:off x="563269" y="5040926"/>
            <a:ext cx="28467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Modèle économique assumé :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9"/>
          <p:cNvSpPr txBox="1"/>
          <p:nvPr/>
        </p:nvSpPr>
        <p:spPr>
          <a:xfrm>
            <a:off x="576021" y="5495880"/>
            <a:ext cx="83523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SAN-log_it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privilégie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les missions ponctuelles (Set-up / Audit). A ce stade de création (structure solo), il n’y a pas d’infogérance mensuelle continue ni de SLA contractuel sur la disponibilité (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astreinte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non soutenable).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19"/>
          <p:cNvSpPr txBox="1"/>
          <p:nvPr>
            <p:ph idx="11" type="ftr"/>
          </p:nvPr>
        </p:nvSpPr>
        <p:spPr>
          <a:xfrm>
            <a:off x="9114472" y="7621128"/>
            <a:ext cx="95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08/06/2026, 22:37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504" y="1887673"/>
            <a:ext cx="101395" cy="10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504" y="2106142"/>
            <a:ext cx="101395" cy="7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6900" y="1397593"/>
            <a:ext cx="8978011" cy="129832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0"/>
          <p:cNvSpPr txBox="1"/>
          <p:nvPr/>
        </p:nvSpPr>
        <p:spPr>
          <a:xfrm>
            <a:off x="943987" y="1660711"/>
            <a:ext cx="77088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Prix = (Temps × TJM) × Coef_complexité × Coef_risque × Coef_valeur + Coûts_fixes</a:t>
            </a:r>
            <a:endParaRPr b="1" sz="16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35" name="Google Shape;335;p20"/>
          <p:cNvGraphicFramePr/>
          <p:nvPr/>
        </p:nvGraphicFramePr>
        <p:xfrm>
          <a:off x="1720310" y="28410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{F262EEC4-5214-4235-8F0D-B323A4B456DF}</a:tableStyleId>
              </a:tblPr>
              <a:tblGrid>
                <a:gridCol w="1619925"/>
                <a:gridCol w="1546350"/>
                <a:gridCol w="3283700"/>
              </a:tblGrid>
              <a:tr h="560075">
                <a:tc>
                  <a:txBody>
                    <a:bodyPr/>
                    <a:lstStyle/>
                    <a:p>
                      <a:pPr indent="0" lvl="0" marL="121285" marR="0" rtl="0" algn="l">
                        <a:lnSpc>
                          <a:spcPct val="1161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rgbClr val="334154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Complexité</a:t>
                      </a:r>
                      <a:endParaRPr b="1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598805" rtl="0" algn="ctr">
                        <a:lnSpc>
                          <a:spcPct val="1161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rgbClr val="FF99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1,0 à </a:t>
                      </a:r>
                      <a:r>
                        <a:rPr b="1" lang="en-US">
                          <a:solidFill>
                            <a:srgbClr val="FF99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2,0</a:t>
                      </a:r>
                      <a:endParaRPr b="1">
                        <a:solidFill>
                          <a:srgbClr val="FF99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marR="598805" rtl="0" algn="ctr">
                        <a:lnSpc>
                          <a:spcPct val="1161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u="none" cap="none" strike="noStrike">
                        <a:solidFill>
                          <a:srgbClr val="FF99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1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rgbClr val="00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AD simple (1,0) / Multi-site (1,6)</a:t>
                      </a:r>
                      <a:endParaRPr b="1" u="none" cap="none" strike="noStrike">
                        <a:solidFill>
                          <a:srgbClr val="0000FF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225">
                <a:tc>
                  <a:txBody>
                    <a:bodyPr/>
                    <a:lstStyle/>
                    <a:p>
                      <a:pPr indent="0" lvl="0" marL="1212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rgbClr val="334154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Risque</a:t>
                      </a:r>
                      <a:endParaRPr b="1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18750" marB="0" marR="0" marL="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5988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rgbClr val="FF99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1,0 à 1,5</a:t>
                      </a:r>
                      <a:endParaRPr b="1" u="none" cap="none" strike="noStrike">
                        <a:solidFill>
                          <a:srgbClr val="FF99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18750" marB="0" marR="0" marL="0" anchor="ctr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rgbClr val="00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Intervention en prod critique (1,5)</a:t>
                      </a:r>
                      <a:endParaRPr b="1" u="none" cap="none" strike="noStrike">
                        <a:solidFill>
                          <a:srgbClr val="0000FF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18750" marB="0" marR="0" marL="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250">
                <a:tc>
                  <a:txBody>
                    <a:bodyPr/>
                    <a:lstStyle/>
                    <a:p>
                      <a:pPr indent="0" lvl="0" marL="121285" marR="0" rtl="0" algn="l">
                        <a:lnSpc>
                          <a:spcPct val="11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rgbClr val="334154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Valeur</a:t>
                      </a:r>
                      <a:endParaRPr b="1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18750" marB="0" marR="0" marL="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598805" rtl="0" algn="ctr">
                        <a:lnSpc>
                          <a:spcPct val="11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rgbClr val="FF99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1,0 à 2,5</a:t>
                      </a:r>
                      <a:endParaRPr b="1" u="none" cap="none" strike="noStrike">
                        <a:solidFill>
                          <a:srgbClr val="FF99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18750" marB="0" marR="0" marL="0" anchor="ctr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rgbClr val="0000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Mise en conformité NIS2 (2,0)</a:t>
                      </a:r>
                      <a:endParaRPr b="1" u="none" cap="none" strike="noStrike">
                        <a:solidFill>
                          <a:srgbClr val="0000FF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18750" marB="0" marR="0" marL="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336" name="Google Shape;336;p20"/>
          <p:cNvSpPr/>
          <p:nvPr/>
        </p:nvSpPr>
        <p:spPr>
          <a:xfrm>
            <a:off x="10710235" y="1089103"/>
            <a:ext cx="278765" cy="186055"/>
          </a:xfrm>
          <a:custGeom>
            <a:rect b="b" l="l" r="r" t="t"/>
            <a:pathLst>
              <a:path extrusionOk="0" h="186055" w="278765">
                <a:moveTo>
                  <a:pt x="92824" y="185686"/>
                </a:moveTo>
                <a:lnTo>
                  <a:pt x="0" y="185686"/>
                </a:lnTo>
                <a:lnTo>
                  <a:pt x="0" y="0"/>
                </a:lnTo>
                <a:lnTo>
                  <a:pt x="92824" y="0"/>
                </a:lnTo>
                <a:lnTo>
                  <a:pt x="148529" y="69608"/>
                </a:lnTo>
                <a:lnTo>
                  <a:pt x="92824" y="69608"/>
                </a:lnTo>
                <a:lnTo>
                  <a:pt x="92824" y="185686"/>
                </a:lnTo>
                <a:close/>
              </a:path>
              <a:path extrusionOk="0" h="186055" w="278765">
                <a:moveTo>
                  <a:pt x="278561" y="116039"/>
                </a:moveTo>
                <a:lnTo>
                  <a:pt x="185686" y="116039"/>
                </a:lnTo>
                <a:lnTo>
                  <a:pt x="185686" y="0"/>
                </a:lnTo>
                <a:lnTo>
                  <a:pt x="278561" y="0"/>
                </a:lnTo>
                <a:lnTo>
                  <a:pt x="278561" y="116039"/>
                </a:lnTo>
                <a:close/>
              </a:path>
              <a:path extrusionOk="0" h="186055" w="278765">
                <a:moveTo>
                  <a:pt x="278561" y="185686"/>
                </a:moveTo>
                <a:lnTo>
                  <a:pt x="185686" y="185686"/>
                </a:lnTo>
                <a:lnTo>
                  <a:pt x="92824" y="69608"/>
                </a:lnTo>
                <a:lnTo>
                  <a:pt x="148529" y="69608"/>
                </a:lnTo>
                <a:lnTo>
                  <a:pt x="185686" y="116039"/>
                </a:lnTo>
                <a:lnTo>
                  <a:pt x="278561" y="116039"/>
                </a:lnTo>
                <a:lnTo>
                  <a:pt x="278561" y="185686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0"/>
          <p:cNvSpPr/>
          <p:nvPr/>
        </p:nvSpPr>
        <p:spPr>
          <a:xfrm>
            <a:off x="11035229" y="1089103"/>
            <a:ext cx="162559" cy="186055"/>
          </a:xfrm>
          <a:custGeom>
            <a:rect b="b" l="l" r="r" t="t"/>
            <a:pathLst>
              <a:path extrusionOk="0" h="186055" w="162559">
                <a:moveTo>
                  <a:pt x="129971" y="92824"/>
                </a:moveTo>
                <a:lnTo>
                  <a:pt x="128320" y="84709"/>
                </a:lnTo>
                <a:lnTo>
                  <a:pt x="123837" y="78066"/>
                </a:lnTo>
                <a:lnTo>
                  <a:pt x="117208" y="73583"/>
                </a:lnTo>
                <a:lnTo>
                  <a:pt x="109093" y="71932"/>
                </a:lnTo>
                <a:lnTo>
                  <a:pt x="20891" y="71932"/>
                </a:lnTo>
                <a:lnTo>
                  <a:pt x="12738" y="73583"/>
                </a:lnTo>
                <a:lnTo>
                  <a:pt x="6096" y="78066"/>
                </a:lnTo>
                <a:lnTo>
                  <a:pt x="1625" y="84709"/>
                </a:lnTo>
                <a:lnTo>
                  <a:pt x="0" y="92824"/>
                </a:lnTo>
                <a:lnTo>
                  <a:pt x="1625" y="100965"/>
                </a:lnTo>
                <a:lnTo>
                  <a:pt x="6096" y="107607"/>
                </a:lnTo>
                <a:lnTo>
                  <a:pt x="12738" y="112077"/>
                </a:lnTo>
                <a:lnTo>
                  <a:pt x="20891" y="113703"/>
                </a:lnTo>
                <a:lnTo>
                  <a:pt x="109093" y="113703"/>
                </a:lnTo>
                <a:lnTo>
                  <a:pt x="117208" y="112077"/>
                </a:lnTo>
                <a:lnTo>
                  <a:pt x="123837" y="107607"/>
                </a:lnTo>
                <a:lnTo>
                  <a:pt x="128320" y="100965"/>
                </a:lnTo>
                <a:lnTo>
                  <a:pt x="129971" y="92824"/>
                </a:lnTo>
                <a:close/>
              </a:path>
              <a:path extrusionOk="0" h="186055" w="162559">
                <a:moveTo>
                  <a:pt x="162471" y="164807"/>
                </a:moveTo>
                <a:lnTo>
                  <a:pt x="160820" y="156667"/>
                </a:lnTo>
                <a:lnTo>
                  <a:pt x="156337" y="150025"/>
                </a:lnTo>
                <a:lnTo>
                  <a:pt x="149694" y="145554"/>
                </a:lnTo>
                <a:lnTo>
                  <a:pt x="141579" y="143916"/>
                </a:lnTo>
                <a:lnTo>
                  <a:pt x="20891" y="143916"/>
                </a:lnTo>
                <a:lnTo>
                  <a:pt x="12738" y="145554"/>
                </a:lnTo>
                <a:lnTo>
                  <a:pt x="6096" y="150025"/>
                </a:lnTo>
                <a:lnTo>
                  <a:pt x="1625" y="156667"/>
                </a:lnTo>
                <a:lnTo>
                  <a:pt x="0" y="164807"/>
                </a:lnTo>
                <a:lnTo>
                  <a:pt x="1625" y="172935"/>
                </a:lnTo>
                <a:lnTo>
                  <a:pt x="6096" y="179565"/>
                </a:lnTo>
                <a:lnTo>
                  <a:pt x="12738" y="184048"/>
                </a:lnTo>
                <a:lnTo>
                  <a:pt x="20891" y="185686"/>
                </a:lnTo>
                <a:lnTo>
                  <a:pt x="141579" y="185686"/>
                </a:lnTo>
                <a:lnTo>
                  <a:pt x="149694" y="184048"/>
                </a:lnTo>
                <a:lnTo>
                  <a:pt x="156337" y="179565"/>
                </a:lnTo>
                <a:lnTo>
                  <a:pt x="160820" y="172935"/>
                </a:lnTo>
                <a:lnTo>
                  <a:pt x="162471" y="164807"/>
                </a:lnTo>
                <a:close/>
              </a:path>
              <a:path extrusionOk="0" h="186055" w="162559">
                <a:moveTo>
                  <a:pt x="162471" y="20891"/>
                </a:moveTo>
                <a:lnTo>
                  <a:pt x="160820" y="12750"/>
                </a:lnTo>
                <a:lnTo>
                  <a:pt x="156337" y="6108"/>
                </a:lnTo>
                <a:lnTo>
                  <a:pt x="149694" y="1638"/>
                </a:lnTo>
                <a:lnTo>
                  <a:pt x="141579" y="0"/>
                </a:lnTo>
                <a:lnTo>
                  <a:pt x="20891" y="0"/>
                </a:lnTo>
                <a:lnTo>
                  <a:pt x="12738" y="1638"/>
                </a:lnTo>
                <a:lnTo>
                  <a:pt x="6096" y="6108"/>
                </a:lnTo>
                <a:lnTo>
                  <a:pt x="1625" y="12750"/>
                </a:lnTo>
                <a:lnTo>
                  <a:pt x="0" y="20891"/>
                </a:lnTo>
                <a:lnTo>
                  <a:pt x="1625" y="29019"/>
                </a:lnTo>
                <a:lnTo>
                  <a:pt x="6096" y="35648"/>
                </a:lnTo>
                <a:lnTo>
                  <a:pt x="12738" y="40132"/>
                </a:lnTo>
                <a:lnTo>
                  <a:pt x="20891" y="41770"/>
                </a:lnTo>
                <a:lnTo>
                  <a:pt x="141579" y="41770"/>
                </a:lnTo>
                <a:lnTo>
                  <a:pt x="149694" y="40132"/>
                </a:lnTo>
                <a:lnTo>
                  <a:pt x="156337" y="35648"/>
                </a:lnTo>
                <a:lnTo>
                  <a:pt x="160820" y="29019"/>
                </a:lnTo>
                <a:lnTo>
                  <a:pt x="162471" y="20891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8" name="Google Shape;338;p20"/>
          <p:cNvGrpSpPr/>
          <p:nvPr/>
        </p:nvGrpSpPr>
        <p:grpSpPr>
          <a:xfrm>
            <a:off x="11267937" y="1089103"/>
            <a:ext cx="440620" cy="186055"/>
            <a:chOff x="8995162" y="1120228"/>
            <a:chExt cx="440620" cy="186055"/>
          </a:xfrm>
        </p:grpSpPr>
        <p:pic>
          <p:nvPicPr>
            <p:cNvPr id="339" name="Google Shape;339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995162" y="1132405"/>
              <a:ext cx="161312" cy="16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0" name="Google Shape;340;p20"/>
            <p:cNvSpPr/>
            <p:nvPr/>
          </p:nvSpPr>
          <p:spPr>
            <a:xfrm>
              <a:off x="9110662" y="1120228"/>
              <a:ext cx="325120" cy="186055"/>
            </a:xfrm>
            <a:custGeom>
              <a:rect b="b" l="l" r="r" t="t"/>
              <a:pathLst>
                <a:path extrusionOk="0" h="186055" w="325120">
                  <a:moveTo>
                    <a:pt x="92824" y="185686"/>
                  </a:moveTo>
                  <a:lnTo>
                    <a:pt x="0" y="185686"/>
                  </a:lnTo>
                  <a:lnTo>
                    <a:pt x="208902" y="0"/>
                  </a:lnTo>
                  <a:lnTo>
                    <a:pt x="237899" y="46380"/>
                  </a:lnTo>
                  <a:lnTo>
                    <a:pt x="162471" y="46380"/>
                  </a:lnTo>
                  <a:lnTo>
                    <a:pt x="129971" y="102095"/>
                  </a:lnTo>
                  <a:lnTo>
                    <a:pt x="272731" y="102095"/>
                  </a:lnTo>
                  <a:lnTo>
                    <a:pt x="287246" y="125310"/>
                  </a:lnTo>
                  <a:lnTo>
                    <a:pt x="125310" y="125310"/>
                  </a:lnTo>
                  <a:lnTo>
                    <a:pt x="92824" y="185686"/>
                  </a:lnTo>
                  <a:close/>
                </a:path>
                <a:path extrusionOk="0" h="186055" w="325120">
                  <a:moveTo>
                    <a:pt x="272731" y="102095"/>
                  </a:moveTo>
                  <a:lnTo>
                    <a:pt x="194970" y="102095"/>
                  </a:lnTo>
                  <a:lnTo>
                    <a:pt x="162471" y="46380"/>
                  </a:lnTo>
                  <a:lnTo>
                    <a:pt x="237899" y="46380"/>
                  </a:lnTo>
                  <a:lnTo>
                    <a:pt x="272731" y="102095"/>
                  </a:lnTo>
                  <a:close/>
                </a:path>
                <a:path extrusionOk="0" h="186055" w="325120">
                  <a:moveTo>
                    <a:pt x="324993" y="185686"/>
                  </a:moveTo>
                  <a:lnTo>
                    <a:pt x="232117" y="185686"/>
                  </a:lnTo>
                  <a:lnTo>
                    <a:pt x="199631" y="125310"/>
                  </a:lnTo>
                  <a:lnTo>
                    <a:pt x="287246" y="125310"/>
                  </a:lnTo>
                  <a:lnTo>
                    <a:pt x="324993" y="185686"/>
                  </a:lnTo>
                  <a:close/>
                </a:path>
              </a:pathLst>
            </a:custGeom>
            <a:solidFill>
              <a:srgbClr val="2F0D6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1" name="Google Shape;341;p20"/>
          <p:cNvSpPr txBox="1"/>
          <p:nvPr>
            <p:ph idx="12" type="sldNum"/>
          </p:nvPr>
        </p:nvSpPr>
        <p:spPr>
          <a:xfrm>
            <a:off x="-38100" y="7621128"/>
            <a:ext cx="523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sur 20</a:t>
            </a:r>
            <a:endParaRPr/>
          </a:p>
        </p:txBody>
      </p:sp>
      <p:sp>
        <p:nvSpPr>
          <p:cNvPr id="342" name="Google Shape;342;p20"/>
          <p:cNvSpPr txBox="1"/>
          <p:nvPr/>
        </p:nvSpPr>
        <p:spPr>
          <a:xfrm>
            <a:off x="1723565" y="4382936"/>
            <a:ext cx="6162600" cy="23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FF00FF"/>
                </a:solidFill>
                <a:latin typeface="Trebuchet MS"/>
                <a:ea typeface="Trebuchet MS"/>
                <a:cs typeface="Trebuchet MS"/>
                <a:sym typeface="Trebuchet MS"/>
              </a:rPr>
              <a:t>Hypothèses</a:t>
            </a:r>
            <a:endParaRPr b="1" sz="1500">
              <a:solidFill>
                <a:srgbClr val="FF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rebuchet MS"/>
              <a:buChar char="●"/>
            </a:pPr>
            <a:r>
              <a:rPr b="1" lang="en-US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TJM :</a:t>
            </a:r>
            <a:r>
              <a:rPr lang="en-US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lang="en-US" sz="1500">
                <a:solidFill>
                  <a:srgbClr val="FF5E0E"/>
                </a:solidFill>
                <a:latin typeface="Trebuchet MS"/>
                <a:ea typeface="Trebuchet MS"/>
                <a:cs typeface="Trebuchet MS"/>
                <a:sym typeface="Trebuchet MS"/>
              </a:rPr>
              <a:t>500 €</a:t>
            </a:r>
            <a:endParaRPr b="1" sz="1500">
              <a:solidFill>
                <a:srgbClr val="FF5E0E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rebuchet MS"/>
              <a:buChar char="●"/>
            </a:pPr>
            <a:r>
              <a:rPr b="1" lang="en-US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Durée : </a:t>
            </a:r>
            <a:r>
              <a:rPr b="1" lang="en-US" sz="1500">
                <a:solidFill>
                  <a:srgbClr val="FF5E0E"/>
                </a:solidFill>
                <a:latin typeface="Trebuchet MS"/>
                <a:ea typeface="Trebuchet MS"/>
                <a:cs typeface="Trebuchet MS"/>
                <a:sym typeface="Trebuchet MS"/>
              </a:rPr>
              <a:t>2 jours</a:t>
            </a:r>
            <a:endParaRPr b="1" sz="1500">
              <a:solidFill>
                <a:srgbClr val="FF5E0E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rebuchet MS"/>
              <a:buChar char="●"/>
            </a:pPr>
            <a:r>
              <a:rPr b="1" lang="en-US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Coefficients : </a:t>
            </a:r>
            <a:r>
              <a:rPr lang="en-US" sz="15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complexité (1,3) × risque (1,2) × valeur (1,8)</a:t>
            </a:r>
            <a:endParaRPr sz="15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rebuchet MS"/>
              <a:buChar char="●"/>
            </a:pPr>
            <a:r>
              <a:rPr b="1" lang="en-US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Cloud : </a:t>
            </a:r>
            <a:r>
              <a:rPr b="1" lang="en-US" sz="1500">
                <a:solidFill>
                  <a:srgbClr val="FF9900"/>
                </a:solidFill>
                <a:latin typeface="Trebuchet MS"/>
                <a:ea typeface="Trebuchet MS"/>
                <a:cs typeface="Trebuchet MS"/>
                <a:sym typeface="Trebuchet MS"/>
              </a:rPr>
              <a:t>30 €/mois</a:t>
            </a:r>
            <a:endParaRPr b="1" sz="1500">
              <a:solidFill>
                <a:srgbClr val="FF99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500"/>
              <a:buFont typeface="Trebuchet MS"/>
              <a:buChar char="●"/>
            </a:pPr>
            <a:r>
              <a:rPr lang="en-US" sz="1500">
                <a:solidFill>
                  <a:srgbClr val="3B82F6"/>
                </a:solidFill>
                <a:latin typeface="Trebuchet MS"/>
                <a:ea typeface="Trebuchet MS"/>
                <a:cs typeface="Trebuchet MS"/>
                <a:sym typeface="Trebuchet MS"/>
              </a:rPr>
              <a:t>Référence SaaS : Microsoft Teams = 2 160 €/an</a:t>
            </a:r>
            <a:endParaRPr sz="1500">
              <a:solidFill>
                <a:srgbClr val="3B82F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1747345" y="2107542"/>
            <a:ext cx="61626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Coefficient             Plage                             Exemple d’impact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 txBox="1"/>
          <p:nvPr/>
        </p:nvSpPr>
        <p:spPr>
          <a:xfrm>
            <a:off x="3782764" y="6934309"/>
            <a:ext cx="16143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A31"/>
                </a:solidFill>
                <a:latin typeface="Trebuchet MS"/>
                <a:ea typeface="Trebuchet MS"/>
                <a:cs typeface="Trebuchet MS"/>
                <a:sym typeface="Trebuchet MS"/>
              </a:rPr>
              <a:t>SAN-Log_it – Modélisation ESN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45" name="Google Shape;345;p20" title="1000004042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22540" y="778910"/>
            <a:ext cx="1925449" cy="1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0"/>
          <p:cNvSpPr txBox="1"/>
          <p:nvPr/>
        </p:nvSpPr>
        <p:spPr>
          <a:xfrm>
            <a:off x="380086" y="915310"/>
            <a:ext cx="3699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F0D6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Modèle de calcul du devis</a:t>
            </a:r>
            <a:endParaRPr b="1" sz="2500">
              <a:solidFill>
                <a:srgbClr val="2F0D6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20"/>
          <p:cNvSpPr txBox="1"/>
          <p:nvPr>
            <p:ph idx="11" type="ftr"/>
          </p:nvPr>
        </p:nvSpPr>
        <p:spPr>
          <a:xfrm>
            <a:off x="9114472" y="7621128"/>
            <a:ext cx="95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08/06/2026, 22:37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504" y="1887673"/>
            <a:ext cx="101395" cy="10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" y="1397593"/>
            <a:ext cx="8978011" cy="129832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1"/>
          <p:cNvSpPr txBox="1"/>
          <p:nvPr/>
        </p:nvSpPr>
        <p:spPr>
          <a:xfrm>
            <a:off x="943077" y="1621625"/>
            <a:ext cx="74760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Prix = (Temps × TJM) × Coef_complexité × Coef_risque × Coef_valeur + Coûts_fixes</a:t>
            </a:r>
            <a:endParaRPr b="1" sz="16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10733510" y="1035778"/>
            <a:ext cx="278765" cy="186055"/>
          </a:xfrm>
          <a:custGeom>
            <a:rect b="b" l="l" r="r" t="t"/>
            <a:pathLst>
              <a:path extrusionOk="0" h="186055" w="278765">
                <a:moveTo>
                  <a:pt x="92824" y="185686"/>
                </a:moveTo>
                <a:lnTo>
                  <a:pt x="0" y="185686"/>
                </a:lnTo>
                <a:lnTo>
                  <a:pt x="0" y="0"/>
                </a:lnTo>
                <a:lnTo>
                  <a:pt x="92824" y="0"/>
                </a:lnTo>
                <a:lnTo>
                  <a:pt x="148529" y="69608"/>
                </a:lnTo>
                <a:lnTo>
                  <a:pt x="92824" y="69608"/>
                </a:lnTo>
                <a:lnTo>
                  <a:pt x="92824" y="185686"/>
                </a:lnTo>
                <a:close/>
              </a:path>
              <a:path extrusionOk="0" h="186055" w="278765">
                <a:moveTo>
                  <a:pt x="278561" y="116039"/>
                </a:moveTo>
                <a:lnTo>
                  <a:pt x="185686" y="116039"/>
                </a:lnTo>
                <a:lnTo>
                  <a:pt x="185686" y="0"/>
                </a:lnTo>
                <a:lnTo>
                  <a:pt x="278561" y="0"/>
                </a:lnTo>
                <a:lnTo>
                  <a:pt x="278561" y="116039"/>
                </a:lnTo>
                <a:close/>
              </a:path>
              <a:path extrusionOk="0" h="186055" w="278765">
                <a:moveTo>
                  <a:pt x="278561" y="185686"/>
                </a:moveTo>
                <a:lnTo>
                  <a:pt x="185686" y="185686"/>
                </a:lnTo>
                <a:lnTo>
                  <a:pt x="92824" y="69608"/>
                </a:lnTo>
                <a:lnTo>
                  <a:pt x="148529" y="69608"/>
                </a:lnTo>
                <a:lnTo>
                  <a:pt x="185686" y="116039"/>
                </a:lnTo>
                <a:lnTo>
                  <a:pt x="278561" y="116039"/>
                </a:lnTo>
                <a:lnTo>
                  <a:pt x="278561" y="185686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1"/>
          <p:cNvSpPr/>
          <p:nvPr/>
        </p:nvSpPr>
        <p:spPr>
          <a:xfrm>
            <a:off x="11058504" y="1035778"/>
            <a:ext cx="162559" cy="186055"/>
          </a:xfrm>
          <a:custGeom>
            <a:rect b="b" l="l" r="r" t="t"/>
            <a:pathLst>
              <a:path extrusionOk="0" h="186055" w="162559">
                <a:moveTo>
                  <a:pt x="129971" y="92824"/>
                </a:moveTo>
                <a:lnTo>
                  <a:pt x="128320" y="84709"/>
                </a:lnTo>
                <a:lnTo>
                  <a:pt x="123837" y="78066"/>
                </a:lnTo>
                <a:lnTo>
                  <a:pt x="117208" y="73583"/>
                </a:lnTo>
                <a:lnTo>
                  <a:pt x="109093" y="71932"/>
                </a:lnTo>
                <a:lnTo>
                  <a:pt x="20891" y="71932"/>
                </a:lnTo>
                <a:lnTo>
                  <a:pt x="12738" y="73583"/>
                </a:lnTo>
                <a:lnTo>
                  <a:pt x="6096" y="78066"/>
                </a:lnTo>
                <a:lnTo>
                  <a:pt x="1625" y="84709"/>
                </a:lnTo>
                <a:lnTo>
                  <a:pt x="0" y="92824"/>
                </a:lnTo>
                <a:lnTo>
                  <a:pt x="1625" y="100965"/>
                </a:lnTo>
                <a:lnTo>
                  <a:pt x="6096" y="107607"/>
                </a:lnTo>
                <a:lnTo>
                  <a:pt x="12738" y="112077"/>
                </a:lnTo>
                <a:lnTo>
                  <a:pt x="20891" y="113703"/>
                </a:lnTo>
                <a:lnTo>
                  <a:pt x="109093" y="113703"/>
                </a:lnTo>
                <a:lnTo>
                  <a:pt x="117208" y="112077"/>
                </a:lnTo>
                <a:lnTo>
                  <a:pt x="123837" y="107607"/>
                </a:lnTo>
                <a:lnTo>
                  <a:pt x="128320" y="100965"/>
                </a:lnTo>
                <a:lnTo>
                  <a:pt x="129971" y="92824"/>
                </a:lnTo>
                <a:close/>
              </a:path>
              <a:path extrusionOk="0" h="186055" w="162559">
                <a:moveTo>
                  <a:pt x="162471" y="164807"/>
                </a:moveTo>
                <a:lnTo>
                  <a:pt x="160820" y="156667"/>
                </a:lnTo>
                <a:lnTo>
                  <a:pt x="156337" y="150025"/>
                </a:lnTo>
                <a:lnTo>
                  <a:pt x="149694" y="145554"/>
                </a:lnTo>
                <a:lnTo>
                  <a:pt x="141579" y="143916"/>
                </a:lnTo>
                <a:lnTo>
                  <a:pt x="20891" y="143916"/>
                </a:lnTo>
                <a:lnTo>
                  <a:pt x="12738" y="145554"/>
                </a:lnTo>
                <a:lnTo>
                  <a:pt x="6096" y="150025"/>
                </a:lnTo>
                <a:lnTo>
                  <a:pt x="1625" y="156667"/>
                </a:lnTo>
                <a:lnTo>
                  <a:pt x="0" y="164807"/>
                </a:lnTo>
                <a:lnTo>
                  <a:pt x="1625" y="172935"/>
                </a:lnTo>
                <a:lnTo>
                  <a:pt x="6096" y="179565"/>
                </a:lnTo>
                <a:lnTo>
                  <a:pt x="12738" y="184048"/>
                </a:lnTo>
                <a:lnTo>
                  <a:pt x="20891" y="185686"/>
                </a:lnTo>
                <a:lnTo>
                  <a:pt x="141579" y="185686"/>
                </a:lnTo>
                <a:lnTo>
                  <a:pt x="149694" y="184048"/>
                </a:lnTo>
                <a:lnTo>
                  <a:pt x="156337" y="179565"/>
                </a:lnTo>
                <a:lnTo>
                  <a:pt x="160820" y="172935"/>
                </a:lnTo>
                <a:lnTo>
                  <a:pt x="162471" y="164807"/>
                </a:lnTo>
                <a:close/>
              </a:path>
              <a:path extrusionOk="0" h="186055" w="162559">
                <a:moveTo>
                  <a:pt x="162471" y="20891"/>
                </a:moveTo>
                <a:lnTo>
                  <a:pt x="160820" y="12750"/>
                </a:lnTo>
                <a:lnTo>
                  <a:pt x="156337" y="6108"/>
                </a:lnTo>
                <a:lnTo>
                  <a:pt x="149694" y="1638"/>
                </a:lnTo>
                <a:lnTo>
                  <a:pt x="141579" y="0"/>
                </a:lnTo>
                <a:lnTo>
                  <a:pt x="20891" y="0"/>
                </a:lnTo>
                <a:lnTo>
                  <a:pt x="12738" y="1638"/>
                </a:lnTo>
                <a:lnTo>
                  <a:pt x="6096" y="6108"/>
                </a:lnTo>
                <a:lnTo>
                  <a:pt x="1625" y="12750"/>
                </a:lnTo>
                <a:lnTo>
                  <a:pt x="0" y="20891"/>
                </a:lnTo>
                <a:lnTo>
                  <a:pt x="1625" y="29019"/>
                </a:lnTo>
                <a:lnTo>
                  <a:pt x="6096" y="35648"/>
                </a:lnTo>
                <a:lnTo>
                  <a:pt x="12738" y="40132"/>
                </a:lnTo>
                <a:lnTo>
                  <a:pt x="20891" y="41770"/>
                </a:lnTo>
                <a:lnTo>
                  <a:pt x="141579" y="41770"/>
                </a:lnTo>
                <a:lnTo>
                  <a:pt x="149694" y="40132"/>
                </a:lnTo>
                <a:lnTo>
                  <a:pt x="156337" y="35648"/>
                </a:lnTo>
                <a:lnTo>
                  <a:pt x="160820" y="29019"/>
                </a:lnTo>
                <a:lnTo>
                  <a:pt x="162471" y="20891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7" name="Google Shape;357;p21"/>
          <p:cNvGrpSpPr/>
          <p:nvPr/>
        </p:nvGrpSpPr>
        <p:grpSpPr>
          <a:xfrm>
            <a:off x="11291212" y="1035778"/>
            <a:ext cx="440620" cy="186055"/>
            <a:chOff x="8995162" y="1120228"/>
            <a:chExt cx="440620" cy="186055"/>
          </a:xfrm>
        </p:grpSpPr>
        <p:pic>
          <p:nvPicPr>
            <p:cNvPr id="358" name="Google Shape;358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995162" y="1132405"/>
              <a:ext cx="161312" cy="16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" name="Google Shape;359;p21"/>
            <p:cNvSpPr/>
            <p:nvPr/>
          </p:nvSpPr>
          <p:spPr>
            <a:xfrm>
              <a:off x="9110662" y="1120228"/>
              <a:ext cx="325120" cy="186055"/>
            </a:xfrm>
            <a:custGeom>
              <a:rect b="b" l="l" r="r" t="t"/>
              <a:pathLst>
                <a:path extrusionOk="0" h="186055" w="325120">
                  <a:moveTo>
                    <a:pt x="92824" y="185686"/>
                  </a:moveTo>
                  <a:lnTo>
                    <a:pt x="0" y="185686"/>
                  </a:lnTo>
                  <a:lnTo>
                    <a:pt x="208902" y="0"/>
                  </a:lnTo>
                  <a:lnTo>
                    <a:pt x="237899" y="46380"/>
                  </a:lnTo>
                  <a:lnTo>
                    <a:pt x="162471" y="46380"/>
                  </a:lnTo>
                  <a:lnTo>
                    <a:pt x="129971" y="102095"/>
                  </a:lnTo>
                  <a:lnTo>
                    <a:pt x="272731" y="102095"/>
                  </a:lnTo>
                  <a:lnTo>
                    <a:pt x="287246" y="125310"/>
                  </a:lnTo>
                  <a:lnTo>
                    <a:pt x="125310" y="125310"/>
                  </a:lnTo>
                  <a:lnTo>
                    <a:pt x="92824" y="185686"/>
                  </a:lnTo>
                  <a:close/>
                </a:path>
                <a:path extrusionOk="0" h="186055" w="325120">
                  <a:moveTo>
                    <a:pt x="272731" y="102095"/>
                  </a:moveTo>
                  <a:lnTo>
                    <a:pt x="194970" y="102095"/>
                  </a:lnTo>
                  <a:lnTo>
                    <a:pt x="162471" y="46380"/>
                  </a:lnTo>
                  <a:lnTo>
                    <a:pt x="237899" y="46380"/>
                  </a:lnTo>
                  <a:lnTo>
                    <a:pt x="272731" y="102095"/>
                  </a:lnTo>
                  <a:close/>
                </a:path>
                <a:path extrusionOk="0" h="186055" w="325120">
                  <a:moveTo>
                    <a:pt x="324993" y="185686"/>
                  </a:moveTo>
                  <a:lnTo>
                    <a:pt x="232117" y="185686"/>
                  </a:lnTo>
                  <a:lnTo>
                    <a:pt x="199631" y="125310"/>
                  </a:lnTo>
                  <a:lnTo>
                    <a:pt x="287246" y="125310"/>
                  </a:lnTo>
                  <a:lnTo>
                    <a:pt x="324993" y="185686"/>
                  </a:lnTo>
                  <a:close/>
                </a:path>
              </a:pathLst>
            </a:custGeom>
            <a:solidFill>
              <a:srgbClr val="2F0D6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0" name="Google Shape;360;p21"/>
          <p:cNvSpPr txBox="1"/>
          <p:nvPr/>
        </p:nvSpPr>
        <p:spPr>
          <a:xfrm>
            <a:off x="415302" y="2066488"/>
            <a:ext cx="4938600" cy="15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rebuchet MS"/>
                <a:ea typeface="Trebuchet MS"/>
                <a:cs typeface="Trebuchet MS"/>
                <a:sym typeface="Trebuchet MS"/>
              </a:rPr>
              <a:t>Ex : Jitsi-meet (20 utilisateurs)</a:t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B97C4"/>
                </a:solidFill>
                <a:latin typeface="Trebuchet MS"/>
                <a:ea typeface="Trebuchet MS"/>
                <a:cs typeface="Trebuchet MS"/>
                <a:sym typeface="Trebuchet MS"/>
              </a:rPr>
              <a:t>2 jours × 500 € (TJM) × 1,3 (complexité) × 1,2 (risque) × 1,8 (valeur)</a:t>
            </a:r>
            <a:endParaRPr sz="1200">
              <a:solidFill>
                <a:srgbClr val="2B97C4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B97C4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1 000 €  x 1,3 = 1 300 €  x 1,2 = 1 500 € x 1,8 = 2808 € </a:t>
            </a:r>
            <a:endParaRPr sz="1200">
              <a:solidFill>
                <a:srgbClr val="2B97C4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4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4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5A349"/>
                </a:solidFill>
                <a:latin typeface="Trebuchet MS"/>
                <a:ea typeface="Trebuchet MS"/>
                <a:cs typeface="Trebuchet MS"/>
                <a:sym typeface="Trebuchet MS"/>
              </a:rPr>
              <a:t>=  2808 € + (Coûts Cloud) = 360 €/ an = 3160 € </a:t>
            </a:r>
            <a:r>
              <a:rPr b="1" lang="en-US" sz="1200">
                <a:solidFill>
                  <a:srgbClr val="334154"/>
                </a:solidFill>
                <a:latin typeface="Trebuchet MS"/>
                <a:ea typeface="Trebuchet MS"/>
                <a:cs typeface="Trebuchet MS"/>
                <a:sym typeface="Trebuchet MS"/>
              </a:rPr>
              <a:t>puis </a:t>
            </a:r>
            <a:r>
              <a:rPr lang="en-US" sz="1200">
                <a:solidFill>
                  <a:srgbClr val="FF9900"/>
                </a:solidFill>
                <a:latin typeface="Trebuchet MS"/>
                <a:ea typeface="Trebuchet MS"/>
                <a:cs typeface="Trebuchet MS"/>
                <a:sym typeface="Trebuchet MS"/>
              </a:rPr>
              <a:t>360 €/ an par an</a:t>
            </a:r>
            <a:r>
              <a:rPr lang="en-US" sz="1200">
                <a:solidFill>
                  <a:srgbClr val="15A349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200">
              <a:solidFill>
                <a:srgbClr val="15A34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4"/>
                </a:solidFill>
                <a:latin typeface="Trebuchet MS"/>
                <a:ea typeface="Trebuchet MS"/>
                <a:cs typeface="Trebuchet MS"/>
                <a:sym typeface="Trebuchet MS"/>
              </a:rPr>
              <a:t>=  3160 </a:t>
            </a: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€</a:t>
            </a:r>
            <a:r>
              <a:rPr lang="en-US" sz="1200">
                <a:solidFill>
                  <a:srgbClr val="334154"/>
                </a:solidFill>
                <a:latin typeface="Trebuchet MS"/>
                <a:ea typeface="Trebuchet MS"/>
                <a:cs typeface="Trebuchet MS"/>
                <a:sym typeface="Trebuchet MS"/>
              </a:rPr>
              <a:t>  vs </a:t>
            </a:r>
            <a:r>
              <a:rPr lang="en-US" sz="1200">
                <a:solidFill>
                  <a:srgbClr val="4A86E8"/>
                </a:solidFill>
                <a:latin typeface="Trebuchet MS"/>
                <a:ea typeface="Trebuchet MS"/>
                <a:cs typeface="Trebuchet MS"/>
                <a:sym typeface="Trebuchet MS"/>
              </a:rPr>
              <a:t>Microsoft Teams = 2 160 €/an chaque année </a:t>
            </a:r>
            <a:endParaRPr sz="1200">
              <a:solidFill>
                <a:srgbClr val="4A86E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334154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334154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ROI = Return On Investment  </a:t>
            </a:r>
            <a:r>
              <a:rPr lang="en-US" sz="1200"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Formule : </a:t>
            </a: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​  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Gain</a:t>
            </a: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= économies réalisées par rapport à une solution 		de référence										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</a:rPr>
              <a:t>Coût</a:t>
            </a:r>
            <a:r>
              <a:rPr lang="en-US" sz="1200">
                <a:solidFill>
                  <a:schemeClr val="dk1"/>
                </a:solidFill>
              </a:rPr>
              <a:t> = investissement initial + coûts opérationnels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5657725" y="2549425"/>
            <a:ext cx="4219500" cy="48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14300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AutoNum type="arabicPeriod"/>
            </a:pPr>
            <a:r>
              <a:rPr b="1" lang="en-US" sz="12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au cas :</a:t>
            </a:r>
            <a:r>
              <a:rPr b="1" lang="en-US" sz="1200">
                <a:solidFill>
                  <a:srgbClr val="334154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première année</a:t>
            </a:r>
            <a:endParaRPr b="1"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4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ROI négatif (investissement initial) </a:t>
            </a:r>
            <a:endParaRPr b="1" sz="12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À partir de l’année 2 :  </a:t>
            </a:r>
            <a:r>
              <a:rPr lang="en-US" sz="1200">
                <a:solidFill>
                  <a:srgbClr val="15A349"/>
                </a:solidFill>
                <a:latin typeface="Trebuchet MS"/>
                <a:ea typeface="Trebuchet MS"/>
                <a:cs typeface="Trebuchet MS"/>
                <a:sym typeface="Trebuchet MS"/>
              </a:rPr>
              <a:t>Gain annuel : 2 160 €				       Coût annuel Jitsi : 360 €</a:t>
            </a:r>
            <a:endParaRPr sz="1200">
              <a:solidFill>
                <a:srgbClr val="15A34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A349"/>
                </a:solidFill>
                <a:latin typeface="Trebuchet MS"/>
                <a:ea typeface="Trebuchet MS"/>
                <a:cs typeface="Trebuchet MS"/>
                <a:sym typeface="Trebuchet MS"/>
              </a:rPr>
              <a:t>ROI positif </a:t>
            </a:r>
            <a:endParaRPr b="1" sz="1200">
              <a:solidFill>
                <a:srgbClr val="15A34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5A34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99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99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99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AutoNum type="arabicPeriod"/>
            </a:pPr>
            <a:r>
              <a:rPr b="1" lang="en-US" sz="1200">
                <a:solidFill>
                  <a:srgbClr val="FF9900"/>
                </a:solidFill>
                <a:latin typeface="Trebuchet MS"/>
                <a:ea typeface="Trebuchet MS"/>
                <a:cs typeface="Trebuchet MS"/>
                <a:sym typeface="Trebuchet MS"/>
              </a:rPr>
              <a:t>Point d’équilibre (break-even) : 19 mois</a:t>
            </a:r>
            <a:endParaRPr b="1" sz="1200">
              <a:solidFill>
                <a:srgbClr val="FF99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99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62" name="Google Shape;362;p21" title="2026-05-05 14_59_14-Incohérence ANSSI et business — Mozilla Firefox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83200" y="5014872"/>
            <a:ext cx="1878150" cy="55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1" title="2026-05-05 15_03_49-Incohérence ANSSI et business — Mozilla Firefox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08725" y="3145275"/>
            <a:ext cx="2088503" cy="42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1" title="2026-05-05 15_11_08-Incohérence ANSSI et business — Mozilla Firefox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05005" y="5284034"/>
            <a:ext cx="2088500" cy="3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1" title="2026-05-05 15_10_52-Incohérence ANSSI et business — Mozilla Firefox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014213" y="6640498"/>
            <a:ext cx="2138175" cy="47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1"/>
          <p:cNvSpPr txBox="1"/>
          <p:nvPr>
            <p:ph idx="12" type="sldNum"/>
          </p:nvPr>
        </p:nvSpPr>
        <p:spPr>
          <a:xfrm>
            <a:off x="-38100" y="7621128"/>
            <a:ext cx="5238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sur 20</a:t>
            </a:r>
            <a:endParaRPr/>
          </a:p>
        </p:txBody>
      </p:sp>
      <p:sp>
        <p:nvSpPr>
          <p:cNvPr id="367" name="Google Shape;367;p21"/>
          <p:cNvSpPr txBox="1"/>
          <p:nvPr/>
        </p:nvSpPr>
        <p:spPr>
          <a:xfrm>
            <a:off x="4088024" y="7591793"/>
            <a:ext cx="16143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A31"/>
                </a:solidFill>
                <a:latin typeface="Trebuchet MS"/>
                <a:ea typeface="Trebuchet MS"/>
                <a:cs typeface="Trebuchet MS"/>
                <a:sym typeface="Trebuchet MS"/>
              </a:rPr>
              <a:t>SAN-Log_it – Modélisation ESN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68" name="Google Shape;368;p21" title="1000004042.jp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422540" y="778910"/>
            <a:ext cx="1925449" cy="1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1"/>
          <p:cNvSpPr txBox="1"/>
          <p:nvPr/>
        </p:nvSpPr>
        <p:spPr>
          <a:xfrm>
            <a:off x="372329" y="915310"/>
            <a:ext cx="3699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F0D6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Modèle de calcul du devis</a:t>
            </a:r>
            <a:endParaRPr b="1" sz="2500">
              <a:solidFill>
                <a:srgbClr val="2F0D6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21"/>
          <p:cNvSpPr txBox="1"/>
          <p:nvPr>
            <p:ph idx="11" type="ftr"/>
          </p:nvPr>
        </p:nvSpPr>
        <p:spPr>
          <a:xfrm>
            <a:off x="9114472" y="7621128"/>
            <a:ext cx="95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08/06/2026, 22:37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488" y="2258438"/>
            <a:ext cx="812850" cy="142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9006" y="2257054"/>
            <a:ext cx="844854" cy="145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5353" y="2674020"/>
            <a:ext cx="931570" cy="14784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2"/>
          <p:cNvSpPr txBox="1"/>
          <p:nvPr/>
        </p:nvSpPr>
        <p:spPr>
          <a:xfrm>
            <a:off x="2853247" y="2622842"/>
            <a:ext cx="23187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Docker natif dans </a:t>
            </a:r>
            <a:r>
              <a:rPr b="1" lang="en-US" sz="12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Hostinger</a:t>
            </a:r>
            <a:endParaRPr b="1" sz="12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79" name="Google Shape;37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5353" y="3105528"/>
            <a:ext cx="1163040" cy="117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0793" y="3537176"/>
            <a:ext cx="1360436" cy="117132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2"/>
          <p:cNvSpPr txBox="1"/>
          <p:nvPr/>
        </p:nvSpPr>
        <p:spPr>
          <a:xfrm>
            <a:off x="2853249" y="3485891"/>
            <a:ext cx="26424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Formule mathématique intégrée</a:t>
            </a:r>
            <a:endParaRPr b="1" sz="12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82" name="Google Shape;38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5353" y="3970754"/>
            <a:ext cx="972045" cy="145707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2"/>
          <p:cNvSpPr txBox="1"/>
          <p:nvPr/>
        </p:nvSpPr>
        <p:spPr>
          <a:xfrm>
            <a:off x="2853249" y="3917441"/>
            <a:ext cx="33384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Accueil, Services, Offres, Devis, Contact</a:t>
            </a:r>
            <a:endParaRPr b="1" sz="12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84" name="Google Shape;384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2023" y="5527030"/>
            <a:ext cx="3111156" cy="185686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2"/>
          <p:cNvSpPr txBox="1"/>
          <p:nvPr/>
        </p:nvSpPr>
        <p:spPr>
          <a:xfrm>
            <a:off x="542975" y="5843050"/>
            <a:ext cx="65004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164465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A349"/>
              </a:buClr>
              <a:buSzPts val="1300"/>
              <a:buChar char="•"/>
            </a:pPr>
            <a:r>
              <a:rPr b="1" lang="en-US" sz="1300">
                <a:solidFill>
                  <a:srgbClr val="15A349"/>
                </a:solidFill>
                <a:latin typeface="Trebuchet MS"/>
                <a:ea typeface="Trebuchet MS"/>
                <a:cs typeface="Trebuchet MS"/>
                <a:sym typeface="Trebuchet MS"/>
              </a:rPr>
              <a:t>Capacité à déployer une application web professionnelle.</a:t>
            </a:r>
            <a:endParaRPr b="1" sz="1300">
              <a:solidFill>
                <a:srgbClr val="15A34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64465" lvl="0" marL="183515" rtl="0" algn="l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>
                <a:srgbClr val="15A349"/>
              </a:buClr>
              <a:buSzPts val="1300"/>
              <a:buChar char="•"/>
            </a:pPr>
            <a:r>
              <a:rPr b="1" lang="en-US" sz="1300">
                <a:solidFill>
                  <a:srgbClr val="15A349"/>
                </a:solidFill>
                <a:latin typeface="Trebuchet MS"/>
                <a:ea typeface="Trebuchet MS"/>
                <a:cs typeface="Trebuchet MS"/>
                <a:sym typeface="Trebuchet MS"/>
              </a:rPr>
              <a:t>Traduction d'un modèle économique abstrait en outil interactif.</a:t>
            </a:r>
            <a:endParaRPr b="1" sz="1300">
              <a:solidFill>
                <a:srgbClr val="15A34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64465" lvl="0" marL="183515" rtl="0" algn="l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>
                <a:srgbClr val="15A349"/>
              </a:buClr>
              <a:buSzPts val="1300"/>
              <a:buChar char="•"/>
            </a:pPr>
            <a:r>
              <a:rPr b="1" lang="en-US" sz="1300">
                <a:solidFill>
                  <a:srgbClr val="15A349"/>
                </a:solidFill>
                <a:latin typeface="Trebuchet MS"/>
                <a:ea typeface="Trebuchet MS"/>
                <a:cs typeface="Trebuchet MS"/>
                <a:sym typeface="Trebuchet MS"/>
              </a:rPr>
              <a:t>Création d'une vitrine crédible pour démarcher : </a:t>
            </a:r>
            <a:r>
              <a:rPr b="1" lang="en-US" sz="13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   </a:t>
            </a:r>
            <a:r>
              <a:rPr b="1" lang="en-US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/>
              </a:rPr>
              <a:t>https://san-log-it.com/</a:t>
            </a:r>
            <a:r>
              <a:rPr b="1" lang="en-US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1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10710235" y="1084816"/>
            <a:ext cx="278765" cy="186055"/>
          </a:xfrm>
          <a:custGeom>
            <a:rect b="b" l="l" r="r" t="t"/>
            <a:pathLst>
              <a:path extrusionOk="0" h="186055" w="278765">
                <a:moveTo>
                  <a:pt x="92824" y="185686"/>
                </a:moveTo>
                <a:lnTo>
                  <a:pt x="0" y="185686"/>
                </a:lnTo>
                <a:lnTo>
                  <a:pt x="0" y="0"/>
                </a:lnTo>
                <a:lnTo>
                  <a:pt x="92824" y="0"/>
                </a:lnTo>
                <a:lnTo>
                  <a:pt x="148529" y="69608"/>
                </a:lnTo>
                <a:lnTo>
                  <a:pt x="92824" y="69608"/>
                </a:lnTo>
                <a:lnTo>
                  <a:pt x="92824" y="185686"/>
                </a:lnTo>
                <a:close/>
              </a:path>
              <a:path extrusionOk="0" h="186055" w="278765">
                <a:moveTo>
                  <a:pt x="278561" y="116039"/>
                </a:moveTo>
                <a:lnTo>
                  <a:pt x="185686" y="116039"/>
                </a:lnTo>
                <a:lnTo>
                  <a:pt x="185686" y="0"/>
                </a:lnTo>
                <a:lnTo>
                  <a:pt x="278561" y="0"/>
                </a:lnTo>
                <a:lnTo>
                  <a:pt x="278561" y="116039"/>
                </a:lnTo>
                <a:close/>
              </a:path>
              <a:path extrusionOk="0" h="186055" w="278765">
                <a:moveTo>
                  <a:pt x="278561" y="185686"/>
                </a:moveTo>
                <a:lnTo>
                  <a:pt x="185686" y="185686"/>
                </a:lnTo>
                <a:lnTo>
                  <a:pt x="92824" y="69608"/>
                </a:lnTo>
                <a:lnTo>
                  <a:pt x="148529" y="69608"/>
                </a:lnTo>
                <a:lnTo>
                  <a:pt x="185686" y="116039"/>
                </a:lnTo>
                <a:lnTo>
                  <a:pt x="278561" y="116039"/>
                </a:lnTo>
                <a:lnTo>
                  <a:pt x="278561" y="185686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2"/>
          <p:cNvSpPr/>
          <p:nvPr/>
        </p:nvSpPr>
        <p:spPr>
          <a:xfrm>
            <a:off x="11035229" y="1084816"/>
            <a:ext cx="162559" cy="186055"/>
          </a:xfrm>
          <a:custGeom>
            <a:rect b="b" l="l" r="r" t="t"/>
            <a:pathLst>
              <a:path extrusionOk="0" h="186055" w="162559">
                <a:moveTo>
                  <a:pt x="129971" y="92824"/>
                </a:moveTo>
                <a:lnTo>
                  <a:pt x="128320" y="84709"/>
                </a:lnTo>
                <a:lnTo>
                  <a:pt x="123837" y="78066"/>
                </a:lnTo>
                <a:lnTo>
                  <a:pt x="117208" y="73583"/>
                </a:lnTo>
                <a:lnTo>
                  <a:pt x="109093" y="71932"/>
                </a:lnTo>
                <a:lnTo>
                  <a:pt x="20891" y="71932"/>
                </a:lnTo>
                <a:lnTo>
                  <a:pt x="12738" y="73583"/>
                </a:lnTo>
                <a:lnTo>
                  <a:pt x="6096" y="78066"/>
                </a:lnTo>
                <a:lnTo>
                  <a:pt x="1625" y="84709"/>
                </a:lnTo>
                <a:lnTo>
                  <a:pt x="0" y="92824"/>
                </a:lnTo>
                <a:lnTo>
                  <a:pt x="1625" y="100965"/>
                </a:lnTo>
                <a:lnTo>
                  <a:pt x="6096" y="107607"/>
                </a:lnTo>
                <a:lnTo>
                  <a:pt x="12738" y="112077"/>
                </a:lnTo>
                <a:lnTo>
                  <a:pt x="20891" y="113703"/>
                </a:lnTo>
                <a:lnTo>
                  <a:pt x="109093" y="113703"/>
                </a:lnTo>
                <a:lnTo>
                  <a:pt x="117208" y="112077"/>
                </a:lnTo>
                <a:lnTo>
                  <a:pt x="123837" y="107607"/>
                </a:lnTo>
                <a:lnTo>
                  <a:pt x="128320" y="100965"/>
                </a:lnTo>
                <a:lnTo>
                  <a:pt x="129971" y="92824"/>
                </a:lnTo>
                <a:close/>
              </a:path>
              <a:path extrusionOk="0" h="186055" w="162559">
                <a:moveTo>
                  <a:pt x="162471" y="164807"/>
                </a:moveTo>
                <a:lnTo>
                  <a:pt x="160820" y="156667"/>
                </a:lnTo>
                <a:lnTo>
                  <a:pt x="156337" y="150025"/>
                </a:lnTo>
                <a:lnTo>
                  <a:pt x="149694" y="145554"/>
                </a:lnTo>
                <a:lnTo>
                  <a:pt x="141579" y="143916"/>
                </a:lnTo>
                <a:lnTo>
                  <a:pt x="20891" y="143916"/>
                </a:lnTo>
                <a:lnTo>
                  <a:pt x="12738" y="145554"/>
                </a:lnTo>
                <a:lnTo>
                  <a:pt x="6096" y="150025"/>
                </a:lnTo>
                <a:lnTo>
                  <a:pt x="1625" y="156667"/>
                </a:lnTo>
                <a:lnTo>
                  <a:pt x="0" y="164807"/>
                </a:lnTo>
                <a:lnTo>
                  <a:pt x="1625" y="172935"/>
                </a:lnTo>
                <a:lnTo>
                  <a:pt x="6096" y="179565"/>
                </a:lnTo>
                <a:lnTo>
                  <a:pt x="12738" y="184048"/>
                </a:lnTo>
                <a:lnTo>
                  <a:pt x="20891" y="185686"/>
                </a:lnTo>
                <a:lnTo>
                  <a:pt x="141579" y="185686"/>
                </a:lnTo>
                <a:lnTo>
                  <a:pt x="149694" y="184048"/>
                </a:lnTo>
                <a:lnTo>
                  <a:pt x="156337" y="179565"/>
                </a:lnTo>
                <a:lnTo>
                  <a:pt x="160820" y="172935"/>
                </a:lnTo>
                <a:lnTo>
                  <a:pt x="162471" y="164807"/>
                </a:lnTo>
                <a:close/>
              </a:path>
              <a:path extrusionOk="0" h="186055" w="162559">
                <a:moveTo>
                  <a:pt x="162471" y="20891"/>
                </a:moveTo>
                <a:lnTo>
                  <a:pt x="160820" y="12750"/>
                </a:lnTo>
                <a:lnTo>
                  <a:pt x="156337" y="6108"/>
                </a:lnTo>
                <a:lnTo>
                  <a:pt x="149694" y="1638"/>
                </a:lnTo>
                <a:lnTo>
                  <a:pt x="141579" y="0"/>
                </a:lnTo>
                <a:lnTo>
                  <a:pt x="20891" y="0"/>
                </a:lnTo>
                <a:lnTo>
                  <a:pt x="12738" y="1638"/>
                </a:lnTo>
                <a:lnTo>
                  <a:pt x="6096" y="6108"/>
                </a:lnTo>
                <a:lnTo>
                  <a:pt x="1625" y="12750"/>
                </a:lnTo>
                <a:lnTo>
                  <a:pt x="0" y="20891"/>
                </a:lnTo>
                <a:lnTo>
                  <a:pt x="1625" y="29019"/>
                </a:lnTo>
                <a:lnTo>
                  <a:pt x="6096" y="35648"/>
                </a:lnTo>
                <a:lnTo>
                  <a:pt x="12738" y="40132"/>
                </a:lnTo>
                <a:lnTo>
                  <a:pt x="20891" y="41770"/>
                </a:lnTo>
                <a:lnTo>
                  <a:pt x="141579" y="41770"/>
                </a:lnTo>
                <a:lnTo>
                  <a:pt x="149694" y="40132"/>
                </a:lnTo>
                <a:lnTo>
                  <a:pt x="156337" y="35648"/>
                </a:lnTo>
                <a:lnTo>
                  <a:pt x="160820" y="29019"/>
                </a:lnTo>
                <a:lnTo>
                  <a:pt x="162471" y="20891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8" name="Google Shape;388;p22"/>
          <p:cNvGrpSpPr/>
          <p:nvPr/>
        </p:nvGrpSpPr>
        <p:grpSpPr>
          <a:xfrm>
            <a:off x="11267937" y="1084816"/>
            <a:ext cx="440620" cy="186055"/>
            <a:chOff x="8995162" y="1120228"/>
            <a:chExt cx="440620" cy="186055"/>
          </a:xfrm>
        </p:grpSpPr>
        <p:pic>
          <p:nvPicPr>
            <p:cNvPr id="389" name="Google Shape;389;p2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995162" y="1132405"/>
              <a:ext cx="161312" cy="16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0" name="Google Shape;390;p22"/>
            <p:cNvSpPr/>
            <p:nvPr/>
          </p:nvSpPr>
          <p:spPr>
            <a:xfrm>
              <a:off x="9110662" y="1120228"/>
              <a:ext cx="325120" cy="186055"/>
            </a:xfrm>
            <a:custGeom>
              <a:rect b="b" l="l" r="r" t="t"/>
              <a:pathLst>
                <a:path extrusionOk="0" h="186055" w="325120">
                  <a:moveTo>
                    <a:pt x="92824" y="185686"/>
                  </a:moveTo>
                  <a:lnTo>
                    <a:pt x="0" y="185686"/>
                  </a:lnTo>
                  <a:lnTo>
                    <a:pt x="208902" y="0"/>
                  </a:lnTo>
                  <a:lnTo>
                    <a:pt x="237899" y="46380"/>
                  </a:lnTo>
                  <a:lnTo>
                    <a:pt x="162471" y="46380"/>
                  </a:lnTo>
                  <a:lnTo>
                    <a:pt x="129971" y="102095"/>
                  </a:lnTo>
                  <a:lnTo>
                    <a:pt x="272731" y="102095"/>
                  </a:lnTo>
                  <a:lnTo>
                    <a:pt x="287246" y="125310"/>
                  </a:lnTo>
                  <a:lnTo>
                    <a:pt x="125310" y="125310"/>
                  </a:lnTo>
                  <a:lnTo>
                    <a:pt x="92824" y="185686"/>
                  </a:lnTo>
                  <a:close/>
                </a:path>
                <a:path extrusionOk="0" h="186055" w="325120">
                  <a:moveTo>
                    <a:pt x="272731" y="102095"/>
                  </a:moveTo>
                  <a:lnTo>
                    <a:pt x="194970" y="102095"/>
                  </a:lnTo>
                  <a:lnTo>
                    <a:pt x="162471" y="46380"/>
                  </a:lnTo>
                  <a:lnTo>
                    <a:pt x="237899" y="46380"/>
                  </a:lnTo>
                  <a:lnTo>
                    <a:pt x="272731" y="102095"/>
                  </a:lnTo>
                  <a:close/>
                </a:path>
                <a:path extrusionOk="0" h="186055" w="325120">
                  <a:moveTo>
                    <a:pt x="324993" y="185686"/>
                  </a:moveTo>
                  <a:lnTo>
                    <a:pt x="232117" y="185686"/>
                  </a:lnTo>
                  <a:lnTo>
                    <a:pt x="199631" y="125310"/>
                  </a:lnTo>
                  <a:lnTo>
                    <a:pt x="287246" y="125310"/>
                  </a:lnTo>
                  <a:lnTo>
                    <a:pt x="324993" y="185686"/>
                  </a:lnTo>
                  <a:close/>
                </a:path>
              </a:pathLst>
            </a:custGeom>
            <a:solidFill>
              <a:srgbClr val="2F0D6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1" name="Google Shape;391;p22"/>
          <p:cNvSpPr txBox="1"/>
          <p:nvPr>
            <p:ph idx="12" type="sldNum"/>
          </p:nvPr>
        </p:nvSpPr>
        <p:spPr>
          <a:xfrm>
            <a:off x="-38100" y="7621128"/>
            <a:ext cx="523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sur 20</a:t>
            </a:r>
            <a:endParaRPr/>
          </a:p>
        </p:txBody>
      </p:sp>
      <p:sp>
        <p:nvSpPr>
          <p:cNvPr id="392" name="Google Shape;392;p22"/>
          <p:cNvSpPr txBox="1"/>
          <p:nvPr/>
        </p:nvSpPr>
        <p:spPr>
          <a:xfrm>
            <a:off x="2862772" y="3070517"/>
            <a:ext cx="23187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React + docker</a:t>
            </a:r>
            <a:endParaRPr b="1" sz="12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3" name="Google Shape;393;p22"/>
          <p:cNvSpPr/>
          <p:nvPr/>
        </p:nvSpPr>
        <p:spPr>
          <a:xfrm>
            <a:off x="2671475" y="2080842"/>
            <a:ext cx="3520200" cy="24024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6895862" y="2080842"/>
            <a:ext cx="1985700" cy="24024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Statut d’avancement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5A34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5A34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Déployer</a:t>
            </a:r>
            <a:endParaRPr b="1">
              <a:solidFill>
                <a:srgbClr val="15A34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5A34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5A34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Entiérement construit</a:t>
            </a:r>
            <a:endParaRPr b="1">
              <a:solidFill>
                <a:srgbClr val="15A34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5A34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5A34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Fonctionnel</a:t>
            </a:r>
            <a:endParaRPr b="1">
              <a:solidFill>
                <a:srgbClr val="15A34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5A34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5A34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Toutes créées</a:t>
            </a:r>
            <a:endParaRPr b="1">
              <a:solidFill>
                <a:srgbClr val="15A34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22"/>
          <p:cNvSpPr txBox="1"/>
          <p:nvPr/>
        </p:nvSpPr>
        <p:spPr>
          <a:xfrm>
            <a:off x="4088024" y="7591793"/>
            <a:ext cx="16143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A31"/>
                </a:solidFill>
                <a:latin typeface="Trebuchet MS"/>
                <a:ea typeface="Trebuchet MS"/>
                <a:cs typeface="Trebuchet MS"/>
                <a:sym typeface="Trebuchet MS"/>
              </a:rPr>
              <a:t>SAN-Log_it – Modélisation ESN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96" name="Google Shape;396;p22" title="1000004042.jp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422540" y="778910"/>
            <a:ext cx="1925449" cy="1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2"/>
          <p:cNvSpPr txBox="1"/>
          <p:nvPr/>
        </p:nvSpPr>
        <p:spPr>
          <a:xfrm>
            <a:off x="372334" y="907333"/>
            <a:ext cx="49266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F0D6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Preuve de concept : Site-Web</a:t>
            </a:r>
            <a:endParaRPr b="1" sz="2500">
              <a:solidFill>
                <a:srgbClr val="2F0D6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22"/>
          <p:cNvSpPr txBox="1"/>
          <p:nvPr/>
        </p:nvSpPr>
        <p:spPr>
          <a:xfrm>
            <a:off x="2280525" y="4669640"/>
            <a:ext cx="5282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https://github.com/001418-M1/SAN-log_it-Website</a:t>
            </a:r>
            <a:endParaRPr b="1"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" name="Google Shape;399;p22"/>
          <p:cNvSpPr txBox="1"/>
          <p:nvPr>
            <p:ph idx="11" type="ftr"/>
          </p:nvPr>
        </p:nvSpPr>
        <p:spPr>
          <a:xfrm>
            <a:off x="9114472" y="7621128"/>
            <a:ext cx="95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08/06/2026, 22:37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3"/>
          <p:cNvSpPr/>
          <p:nvPr/>
        </p:nvSpPr>
        <p:spPr>
          <a:xfrm>
            <a:off x="10725735" y="1084816"/>
            <a:ext cx="278765" cy="186055"/>
          </a:xfrm>
          <a:custGeom>
            <a:rect b="b" l="l" r="r" t="t"/>
            <a:pathLst>
              <a:path extrusionOk="0" h="186055" w="278765">
                <a:moveTo>
                  <a:pt x="92824" y="185686"/>
                </a:moveTo>
                <a:lnTo>
                  <a:pt x="0" y="185686"/>
                </a:lnTo>
                <a:lnTo>
                  <a:pt x="0" y="0"/>
                </a:lnTo>
                <a:lnTo>
                  <a:pt x="92824" y="0"/>
                </a:lnTo>
                <a:lnTo>
                  <a:pt x="148529" y="69608"/>
                </a:lnTo>
                <a:lnTo>
                  <a:pt x="92824" y="69608"/>
                </a:lnTo>
                <a:lnTo>
                  <a:pt x="92824" y="185686"/>
                </a:lnTo>
                <a:close/>
              </a:path>
              <a:path extrusionOk="0" h="186055" w="278765">
                <a:moveTo>
                  <a:pt x="278561" y="116039"/>
                </a:moveTo>
                <a:lnTo>
                  <a:pt x="185686" y="116039"/>
                </a:lnTo>
                <a:lnTo>
                  <a:pt x="185686" y="0"/>
                </a:lnTo>
                <a:lnTo>
                  <a:pt x="278561" y="0"/>
                </a:lnTo>
                <a:lnTo>
                  <a:pt x="278561" y="116039"/>
                </a:lnTo>
                <a:close/>
              </a:path>
              <a:path extrusionOk="0" h="186055" w="278765">
                <a:moveTo>
                  <a:pt x="278561" y="185686"/>
                </a:moveTo>
                <a:lnTo>
                  <a:pt x="185686" y="185686"/>
                </a:lnTo>
                <a:lnTo>
                  <a:pt x="92824" y="69608"/>
                </a:lnTo>
                <a:lnTo>
                  <a:pt x="148529" y="69608"/>
                </a:lnTo>
                <a:lnTo>
                  <a:pt x="185686" y="116039"/>
                </a:lnTo>
                <a:lnTo>
                  <a:pt x="278561" y="116039"/>
                </a:lnTo>
                <a:lnTo>
                  <a:pt x="278561" y="185686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3"/>
          <p:cNvSpPr/>
          <p:nvPr/>
        </p:nvSpPr>
        <p:spPr>
          <a:xfrm>
            <a:off x="11050729" y="1084816"/>
            <a:ext cx="162559" cy="186055"/>
          </a:xfrm>
          <a:custGeom>
            <a:rect b="b" l="l" r="r" t="t"/>
            <a:pathLst>
              <a:path extrusionOk="0" h="186055" w="162559">
                <a:moveTo>
                  <a:pt x="129971" y="92824"/>
                </a:moveTo>
                <a:lnTo>
                  <a:pt x="128320" y="84709"/>
                </a:lnTo>
                <a:lnTo>
                  <a:pt x="123837" y="78066"/>
                </a:lnTo>
                <a:lnTo>
                  <a:pt x="117208" y="73583"/>
                </a:lnTo>
                <a:lnTo>
                  <a:pt x="109093" y="71932"/>
                </a:lnTo>
                <a:lnTo>
                  <a:pt x="20891" y="71932"/>
                </a:lnTo>
                <a:lnTo>
                  <a:pt x="12738" y="73583"/>
                </a:lnTo>
                <a:lnTo>
                  <a:pt x="6096" y="78066"/>
                </a:lnTo>
                <a:lnTo>
                  <a:pt x="1625" y="84709"/>
                </a:lnTo>
                <a:lnTo>
                  <a:pt x="0" y="92824"/>
                </a:lnTo>
                <a:lnTo>
                  <a:pt x="1625" y="100965"/>
                </a:lnTo>
                <a:lnTo>
                  <a:pt x="6096" y="107607"/>
                </a:lnTo>
                <a:lnTo>
                  <a:pt x="12738" y="112077"/>
                </a:lnTo>
                <a:lnTo>
                  <a:pt x="20891" y="113703"/>
                </a:lnTo>
                <a:lnTo>
                  <a:pt x="109093" y="113703"/>
                </a:lnTo>
                <a:lnTo>
                  <a:pt x="117208" y="112077"/>
                </a:lnTo>
                <a:lnTo>
                  <a:pt x="123837" y="107607"/>
                </a:lnTo>
                <a:lnTo>
                  <a:pt x="128320" y="100965"/>
                </a:lnTo>
                <a:lnTo>
                  <a:pt x="129971" y="92824"/>
                </a:lnTo>
                <a:close/>
              </a:path>
              <a:path extrusionOk="0" h="186055" w="162559">
                <a:moveTo>
                  <a:pt x="162471" y="164807"/>
                </a:moveTo>
                <a:lnTo>
                  <a:pt x="160820" y="156667"/>
                </a:lnTo>
                <a:lnTo>
                  <a:pt x="156337" y="150025"/>
                </a:lnTo>
                <a:lnTo>
                  <a:pt x="149694" y="145554"/>
                </a:lnTo>
                <a:lnTo>
                  <a:pt x="141579" y="143916"/>
                </a:lnTo>
                <a:lnTo>
                  <a:pt x="20891" y="143916"/>
                </a:lnTo>
                <a:lnTo>
                  <a:pt x="12738" y="145554"/>
                </a:lnTo>
                <a:lnTo>
                  <a:pt x="6096" y="150025"/>
                </a:lnTo>
                <a:lnTo>
                  <a:pt x="1625" y="156667"/>
                </a:lnTo>
                <a:lnTo>
                  <a:pt x="0" y="164807"/>
                </a:lnTo>
                <a:lnTo>
                  <a:pt x="1625" y="172935"/>
                </a:lnTo>
                <a:lnTo>
                  <a:pt x="6096" y="179565"/>
                </a:lnTo>
                <a:lnTo>
                  <a:pt x="12738" y="184048"/>
                </a:lnTo>
                <a:lnTo>
                  <a:pt x="20891" y="185686"/>
                </a:lnTo>
                <a:lnTo>
                  <a:pt x="141579" y="185686"/>
                </a:lnTo>
                <a:lnTo>
                  <a:pt x="149694" y="184048"/>
                </a:lnTo>
                <a:lnTo>
                  <a:pt x="156337" y="179565"/>
                </a:lnTo>
                <a:lnTo>
                  <a:pt x="160820" y="172935"/>
                </a:lnTo>
                <a:lnTo>
                  <a:pt x="162471" y="164807"/>
                </a:lnTo>
                <a:close/>
              </a:path>
              <a:path extrusionOk="0" h="186055" w="162559">
                <a:moveTo>
                  <a:pt x="162471" y="20891"/>
                </a:moveTo>
                <a:lnTo>
                  <a:pt x="160820" y="12750"/>
                </a:lnTo>
                <a:lnTo>
                  <a:pt x="156337" y="6108"/>
                </a:lnTo>
                <a:lnTo>
                  <a:pt x="149694" y="1638"/>
                </a:lnTo>
                <a:lnTo>
                  <a:pt x="141579" y="0"/>
                </a:lnTo>
                <a:lnTo>
                  <a:pt x="20891" y="0"/>
                </a:lnTo>
                <a:lnTo>
                  <a:pt x="12738" y="1638"/>
                </a:lnTo>
                <a:lnTo>
                  <a:pt x="6096" y="6108"/>
                </a:lnTo>
                <a:lnTo>
                  <a:pt x="1625" y="12750"/>
                </a:lnTo>
                <a:lnTo>
                  <a:pt x="0" y="20891"/>
                </a:lnTo>
                <a:lnTo>
                  <a:pt x="1625" y="29019"/>
                </a:lnTo>
                <a:lnTo>
                  <a:pt x="6096" y="35648"/>
                </a:lnTo>
                <a:lnTo>
                  <a:pt x="12738" y="40132"/>
                </a:lnTo>
                <a:lnTo>
                  <a:pt x="20891" y="41770"/>
                </a:lnTo>
                <a:lnTo>
                  <a:pt x="141579" y="41770"/>
                </a:lnTo>
                <a:lnTo>
                  <a:pt x="149694" y="40132"/>
                </a:lnTo>
                <a:lnTo>
                  <a:pt x="156337" y="35648"/>
                </a:lnTo>
                <a:lnTo>
                  <a:pt x="160820" y="29019"/>
                </a:lnTo>
                <a:lnTo>
                  <a:pt x="162471" y="20891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6" name="Google Shape;406;p23"/>
          <p:cNvGrpSpPr/>
          <p:nvPr/>
        </p:nvGrpSpPr>
        <p:grpSpPr>
          <a:xfrm>
            <a:off x="11283437" y="1084816"/>
            <a:ext cx="440620" cy="186055"/>
            <a:chOff x="8995162" y="1120228"/>
            <a:chExt cx="440620" cy="186055"/>
          </a:xfrm>
        </p:grpSpPr>
        <p:pic>
          <p:nvPicPr>
            <p:cNvPr id="407" name="Google Shape;407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995162" y="1132405"/>
              <a:ext cx="161312" cy="16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23"/>
            <p:cNvSpPr/>
            <p:nvPr/>
          </p:nvSpPr>
          <p:spPr>
            <a:xfrm>
              <a:off x="9110662" y="1120228"/>
              <a:ext cx="325120" cy="186055"/>
            </a:xfrm>
            <a:custGeom>
              <a:rect b="b" l="l" r="r" t="t"/>
              <a:pathLst>
                <a:path extrusionOk="0" h="186055" w="325120">
                  <a:moveTo>
                    <a:pt x="92824" y="185686"/>
                  </a:moveTo>
                  <a:lnTo>
                    <a:pt x="0" y="185686"/>
                  </a:lnTo>
                  <a:lnTo>
                    <a:pt x="208902" y="0"/>
                  </a:lnTo>
                  <a:lnTo>
                    <a:pt x="237899" y="46380"/>
                  </a:lnTo>
                  <a:lnTo>
                    <a:pt x="162471" y="46380"/>
                  </a:lnTo>
                  <a:lnTo>
                    <a:pt x="129971" y="102095"/>
                  </a:lnTo>
                  <a:lnTo>
                    <a:pt x="272731" y="102095"/>
                  </a:lnTo>
                  <a:lnTo>
                    <a:pt x="287246" y="125310"/>
                  </a:lnTo>
                  <a:lnTo>
                    <a:pt x="125310" y="125310"/>
                  </a:lnTo>
                  <a:lnTo>
                    <a:pt x="92824" y="185686"/>
                  </a:lnTo>
                  <a:close/>
                </a:path>
                <a:path extrusionOk="0" h="186055" w="325120">
                  <a:moveTo>
                    <a:pt x="272731" y="102095"/>
                  </a:moveTo>
                  <a:lnTo>
                    <a:pt x="194970" y="102095"/>
                  </a:lnTo>
                  <a:lnTo>
                    <a:pt x="162471" y="46380"/>
                  </a:lnTo>
                  <a:lnTo>
                    <a:pt x="237899" y="46380"/>
                  </a:lnTo>
                  <a:lnTo>
                    <a:pt x="272731" y="102095"/>
                  </a:lnTo>
                  <a:close/>
                </a:path>
                <a:path extrusionOk="0" h="186055" w="325120">
                  <a:moveTo>
                    <a:pt x="324993" y="185686"/>
                  </a:moveTo>
                  <a:lnTo>
                    <a:pt x="232117" y="185686"/>
                  </a:lnTo>
                  <a:lnTo>
                    <a:pt x="199631" y="125310"/>
                  </a:lnTo>
                  <a:lnTo>
                    <a:pt x="287246" y="125310"/>
                  </a:lnTo>
                  <a:lnTo>
                    <a:pt x="324993" y="185686"/>
                  </a:lnTo>
                  <a:close/>
                </a:path>
              </a:pathLst>
            </a:custGeom>
            <a:solidFill>
              <a:srgbClr val="2F0D6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9" name="Google Shape;409;p23"/>
          <p:cNvSpPr txBox="1"/>
          <p:nvPr>
            <p:ph idx="12" type="sldNum"/>
          </p:nvPr>
        </p:nvSpPr>
        <p:spPr>
          <a:xfrm>
            <a:off x="-38100" y="7621128"/>
            <a:ext cx="5238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sur 20</a:t>
            </a:r>
            <a:endParaRPr/>
          </a:p>
        </p:txBody>
      </p:sp>
      <p:sp>
        <p:nvSpPr>
          <p:cNvPr id="410" name="Google Shape;410;p23"/>
          <p:cNvSpPr txBox="1"/>
          <p:nvPr/>
        </p:nvSpPr>
        <p:spPr>
          <a:xfrm>
            <a:off x="4088024" y="7591793"/>
            <a:ext cx="16143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A31"/>
                </a:solidFill>
                <a:latin typeface="Trebuchet MS"/>
                <a:ea typeface="Trebuchet MS"/>
                <a:cs typeface="Trebuchet MS"/>
                <a:sym typeface="Trebuchet MS"/>
              </a:rPr>
              <a:t>SAN-Log_it – Modélisation ESN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11" name="Google Shape;411;p23" title="100000404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2540" y="778910"/>
            <a:ext cx="1925449" cy="1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3"/>
          <p:cNvSpPr txBox="1"/>
          <p:nvPr/>
        </p:nvSpPr>
        <p:spPr>
          <a:xfrm>
            <a:off x="372320" y="907325"/>
            <a:ext cx="72837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F0D6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Preuve de concept : Site-Web     </a:t>
            </a:r>
            <a:r>
              <a:rPr b="1" lang="en-US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https://san-log-it.com/</a:t>
            </a:r>
            <a:endParaRPr b="1" sz="2000">
              <a:solidFill>
                <a:srgbClr val="009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2F0D6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3" name="Google Shape;413;p23" title="2026-06-04 15_01_13-Vite + React — Mozilla Firefox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5700" y="2316542"/>
            <a:ext cx="9420298" cy="4654952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23"/>
          <p:cNvSpPr txBox="1"/>
          <p:nvPr>
            <p:ph idx="11" type="ftr"/>
          </p:nvPr>
        </p:nvSpPr>
        <p:spPr>
          <a:xfrm>
            <a:off x="9114472" y="7621128"/>
            <a:ext cx="95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08/06/2026, 22:37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4"/>
          <p:cNvSpPr/>
          <p:nvPr/>
        </p:nvSpPr>
        <p:spPr>
          <a:xfrm>
            <a:off x="10430985" y="1084816"/>
            <a:ext cx="278765" cy="186055"/>
          </a:xfrm>
          <a:custGeom>
            <a:rect b="b" l="l" r="r" t="t"/>
            <a:pathLst>
              <a:path extrusionOk="0" h="186055" w="278765">
                <a:moveTo>
                  <a:pt x="92824" y="185686"/>
                </a:moveTo>
                <a:lnTo>
                  <a:pt x="0" y="185686"/>
                </a:lnTo>
                <a:lnTo>
                  <a:pt x="0" y="0"/>
                </a:lnTo>
                <a:lnTo>
                  <a:pt x="92824" y="0"/>
                </a:lnTo>
                <a:lnTo>
                  <a:pt x="148529" y="69608"/>
                </a:lnTo>
                <a:lnTo>
                  <a:pt x="92824" y="69608"/>
                </a:lnTo>
                <a:lnTo>
                  <a:pt x="92824" y="185686"/>
                </a:lnTo>
                <a:close/>
              </a:path>
              <a:path extrusionOk="0" h="186055" w="278765">
                <a:moveTo>
                  <a:pt x="278561" y="116039"/>
                </a:moveTo>
                <a:lnTo>
                  <a:pt x="185686" y="116039"/>
                </a:lnTo>
                <a:lnTo>
                  <a:pt x="185686" y="0"/>
                </a:lnTo>
                <a:lnTo>
                  <a:pt x="278561" y="0"/>
                </a:lnTo>
                <a:lnTo>
                  <a:pt x="278561" y="116039"/>
                </a:lnTo>
                <a:close/>
              </a:path>
              <a:path extrusionOk="0" h="186055" w="278765">
                <a:moveTo>
                  <a:pt x="278561" y="185686"/>
                </a:moveTo>
                <a:lnTo>
                  <a:pt x="185686" y="185686"/>
                </a:lnTo>
                <a:lnTo>
                  <a:pt x="92824" y="69608"/>
                </a:lnTo>
                <a:lnTo>
                  <a:pt x="148529" y="69608"/>
                </a:lnTo>
                <a:lnTo>
                  <a:pt x="185686" y="116039"/>
                </a:lnTo>
                <a:lnTo>
                  <a:pt x="278561" y="116039"/>
                </a:lnTo>
                <a:lnTo>
                  <a:pt x="278561" y="185686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4"/>
          <p:cNvSpPr/>
          <p:nvPr/>
        </p:nvSpPr>
        <p:spPr>
          <a:xfrm>
            <a:off x="10755979" y="1084816"/>
            <a:ext cx="162559" cy="186055"/>
          </a:xfrm>
          <a:custGeom>
            <a:rect b="b" l="l" r="r" t="t"/>
            <a:pathLst>
              <a:path extrusionOk="0" h="186055" w="162559">
                <a:moveTo>
                  <a:pt x="129971" y="92824"/>
                </a:moveTo>
                <a:lnTo>
                  <a:pt x="128320" y="84709"/>
                </a:lnTo>
                <a:lnTo>
                  <a:pt x="123837" y="78066"/>
                </a:lnTo>
                <a:lnTo>
                  <a:pt x="117208" y="73583"/>
                </a:lnTo>
                <a:lnTo>
                  <a:pt x="109093" y="71932"/>
                </a:lnTo>
                <a:lnTo>
                  <a:pt x="20891" y="71932"/>
                </a:lnTo>
                <a:lnTo>
                  <a:pt x="12738" y="73583"/>
                </a:lnTo>
                <a:lnTo>
                  <a:pt x="6096" y="78066"/>
                </a:lnTo>
                <a:lnTo>
                  <a:pt x="1625" y="84709"/>
                </a:lnTo>
                <a:lnTo>
                  <a:pt x="0" y="92824"/>
                </a:lnTo>
                <a:lnTo>
                  <a:pt x="1625" y="100965"/>
                </a:lnTo>
                <a:lnTo>
                  <a:pt x="6096" y="107607"/>
                </a:lnTo>
                <a:lnTo>
                  <a:pt x="12738" y="112077"/>
                </a:lnTo>
                <a:lnTo>
                  <a:pt x="20891" y="113703"/>
                </a:lnTo>
                <a:lnTo>
                  <a:pt x="109093" y="113703"/>
                </a:lnTo>
                <a:lnTo>
                  <a:pt x="117208" y="112077"/>
                </a:lnTo>
                <a:lnTo>
                  <a:pt x="123837" y="107607"/>
                </a:lnTo>
                <a:lnTo>
                  <a:pt x="128320" y="100965"/>
                </a:lnTo>
                <a:lnTo>
                  <a:pt x="129971" y="92824"/>
                </a:lnTo>
                <a:close/>
              </a:path>
              <a:path extrusionOk="0" h="186055" w="162559">
                <a:moveTo>
                  <a:pt x="162471" y="164807"/>
                </a:moveTo>
                <a:lnTo>
                  <a:pt x="160820" y="156667"/>
                </a:lnTo>
                <a:lnTo>
                  <a:pt x="156337" y="150025"/>
                </a:lnTo>
                <a:lnTo>
                  <a:pt x="149694" y="145554"/>
                </a:lnTo>
                <a:lnTo>
                  <a:pt x="141579" y="143916"/>
                </a:lnTo>
                <a:lnTo>
                  <a:pt x="20891" y="143916"/>
                </a:lnTo>
                <a:lnTo>
                  <a:pt x="12738" y="145554"/>
                </a:lnTo>
                <a:lnTo>
                  <a:pt x="6096" y="150025"/>
                </a:lnTo>
                <a:lnTo>
                  <a:pt x="1625" y="156667"/>
                </a:lnTo>
                <a:lnTo>
                  <a:pt x="0" y="164807"/>
                </a:lnTo>
                <a:lnTo>
                  <a:pt x="1625" y="172935"/>
                </a:lnTo>
                <a:lnTo>
                  <a:pt x="6096" y="179565"/>
                </a:lnTo>
                <a:lnTo>
                  <a:pt x="12738" y="184048"/>
                </a:lnTo>
                <a:lnTo>
                  <a:pt x="20891" y="185686"/>
                </a:lnTo>
                <a:lnTo>
                  <a:pt x="141579" y="185686"/>
                </a:lnTo>
                <a:lnTo>
                  <a:pt x="149694" y="184048"/>
                </a:lnTo>
                <a:lnTo>
                  <a:pt x="156337" y="179565"/>
                </a:lnTo>
                <a:lnTo>
                  <a:pt x="160820" y="172935"/>
                </a:lnTo>
                <a:lnTo>
                  <a:pt x="162471" y="164807"/>
                </a:lnTo>
                <a:close/>
              </a:path>
              <a:path extrusionOk="0" h="186055" w="162559">
                <a:moveTo>
                  <a:pt x="162471" y="20891"/>
                </a:moveTo>
                <a:lnTo>
                  <a:pt x="160820" y="12750"/>
                </a:lnTo>
                <a:lnTo>
                  <a:pt x="156337" y="6108"/>
                </a:lnTo>
                <a:lnTo>
                  <a:pt x="149694" y="1638"/>
                </a:lnTo>
                <a:lnTo>
                  <a:pt x="141579" y="0"/>
                </a:lnTo>
                <a:lnTo>
                  <a:pt x="20891" y="0"/>
                </a:lnTo>
                <a:lnTo>
                  <a:pt x="12738" y="1638"/>
                </a:lnTo>
                <a:lnTo>
                  <a:pt x="6096" y="6108"/>
                </a:lnTo>
                <a:lnTo>
                  <a:pt x="1625" y="12750"/>
                </a:lnTo>
                <a:lnTo>
                  <a:pt x="0" y="20891"/>
                </a:lnTo>
                <a:lnTo>
                  <a:pt x="1625" y="29019"/>
                </a:lnTo>
                <a:lnTo>
                  <a:pt x="6096" y="35648"/>
                </a:lnTo>
                <a:lnTo>
                  <a:pt x="12738" y="40132"/>
                </a:lnTo>
                <a:lnTo>
                  <a:pt x="20891" y="41770"/>
                </a:lnTo>
                <a:lnTo>
                  <a:pt x="141579" y="41770"/>
                </a:lnTo>
                <a:lnTo>
                  <a:pt x="149694" y="40132"/>
                </a:lnTo>
                <a:lnTo>
                  <a:pt x="156337" y="35648"/>
                </a:lnTo>
                <a:lnTo>
                  <a:pt x="160820" y="29019"/>
                </a:lnTo>
                <a:lnTo>
                  <a:pt x="162471" y="20891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1" name="Google Shape;421;p24"/>
          <p:cNvGrpSpPr/>
          <p:nvPr/>
        </p:nvGrpSpPr>
        <p:grpSpPr>
          <a:xfrm>
            <a:off x="10988687" y="1084816"/>
            <a:ext cx="440620" cy="186055"/>
            <a:chOff x="8995162" y="1120228"/>
            <a:chExt cx="440620" cy="186055"/>
          </a:xfrm>
        </p:grpSpPr>
        <p:pic>
          <p:nvPicPr>
            <p:cNvPr id="422" name="Google Shape;422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995162" y="1132405"/>
              <a:ext cx="161312" cy="16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3" name="Google Shape;423;p24"/>
            <p:cNvSpPr/>
            <p:nvPr/>
          </p:nvSpPr>
          <p:spPr>
            <a:xfrm>
              <a:off x="9110662" y="1120228"/>
              <a:ext cx="325120" cy="186055"/>
            </a:xfrm>
            <a:custGeom>
              <a:rect b="b" l="l" r="r" t="t"/>
              <a:pathLst>
                <a:path extrusionOk="0" h="186055" w="325120">
                  <a:moveTo>
                    <a:pt x="92824" y="185686"/>
                  </a:moveTo>
                  <a:lnTo>
                    <a:pt x="0" y="185686"/>
                  </a:lnTo>
                  <a:lnTo>
                    <a:pt x="208902" y="0"/>
                  </a:lnTo>
                  <a:lnTo>
                    <a:pt x="237899" y="46380"/>
                  </a:lnTo>
                  <a:lnTo>
                    <a:pt x="162471" y="46380"/>
                  </a:lnTo>
                  <a:lnTo>
                    <a:pt x="129971" y="102095"/>
                  </a:lnTo>
                  <a:lnTo>
                    <a:pt x="272731" y="102095"/>
                  </a:lnTo>
                  <a:lnTo>
                    <a:pt x="287246" y="125310"/>
                  </a:lnTo>
                  <a:lnTo>
                    <a:pt x="125310" y="125310"/>
                  </a:lnTo>
                  <a:lnTo>
                    <a:pt x="92824" y="185686"/>
                  </a:lnTo>
                  <a:close/>
                </a:path>
                <a:path extrusionOk="0" h="186055" w="325120">
                  <a:moveTo>
                    <a:pt x="272731" y="102095"/>
                  </a:moveTo>
                  <a:lnTo>
                    <a:pt x="194970" y="102095"/>
                  </a:lnTo>
                  <a:lnTo>
                    <a:pt x="162471" y="46380"/>
                  </a:lnTo>
                  <a:lnTo>
                    <a:pt x="237899" y="46380"/>
                  </a:lnTo>
                  <a:lnTo>
                    <a:pt x="272731" y="102095"/>
                  </a:lnTo>
                  <a:close/>
                </a:path>
                <a:path extrusionOk="0" h="186055" w="325120">
                  <a:moveTo>
                    <a:pt x="324993" y="185686"/>
                  </a:moveTo>
                  <a:lnTo>
                    <a:pt x="232117" y="185686"/>
                  </a:lnTo>
                  <a:lnTo>
                    <a:pt x="199631" y="125310"/>
                  </a:lnTo>
                  <a:lnTo>
                    <a:pt x="287246" y="125310"/>
                  </a:lnTo>
                  <a:lnTo>
                    <a:pt x="324993" y="185686"/>
                  </a:lnTo>
                  <a:close/>
                </a:path>
              </a:pathLst>
            </a:custGeom>
            <a:solidFill>
              <a:srgbClr val="2F0D6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4" name="Google Shape;424;p24"/>
          <p:cNvSpPr txBox="1"/>
          <p:nvPr>
            <p:ph idx="12" type="sldNum"/>
          </p:nvPr>
        </p:nvSpPr>
        <p:spPr>
          <a:xfrm>
            <a:off x="-38100" y="7621128"/>
            <a:ext cx="5238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sur 20</a:t>
            </a:r>
            <a:endParaRPr/>
          </a:p>
        </p:txBody>
      </p:sp>
      <p:sp>
        <p:nvSpPr>
          <p:cNvPr id="425" name="Google Shape;425;p24"/>
          <p:cNvSpPr txBox="1"/>
          <p:nvPr/>
        </p:nvSpPr>
        <p:spPr>
          <a:xfrm>
            <a:off x="4088024" y="7591793"/>
            <a:ext cx="16143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A31"/>
                </a:solidFill>
                <a:latin typeface="Trebuchet MS"/>
                <a:ea typeface="Trebuchet MS"/>
                <a:cs typeface="Trebuchet MS"/>
                <a:sym typeface="Trebuchet MS"/>
              </a:rPr>
              <a:t>SAN-Log_it – Modélisation ESN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26" name="Google Shape;426;p24" title="100000404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2540" y="778910"/>
            <a:ext cx="1925449" cy="1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4"/>
          <p:cNvSpPr txBox="1"/>
          <p:nvPr/>
        </p:nvSpPr>
        <p:spPr>
          <a:xfrm>
            <a:off x="372320" y="907325"/>
            <a:ext cx="74778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F0D6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Preuve de concept : Simulateur   </a:t>
            </a:r>
            <a:r>
              <a:rPr b="1" lang="en-US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https://san-log-it.com/</a:t>
            </a:r>
            <a:endParaRPr b="1" sz="2000">
              <a:solidFill>
                <a:srgbClr val="009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2F0D6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8" name="Google Shape;428;p24" title="2026-06-06 16_27_15-Vite + React — Mozilla Firefox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2900" y="2306221"/>
            <a:ext cx="9403100" cy="4765829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24"/>
          <p:cNvSpPr txBox="1"/>
          <p:nvPr>
            <p:ph idx="11" type="ftr"/>
          </p:nvPr>
        </p:nvSpPr>
        <p:spPr>
          <a:xfrm>
            <a:off x="9114472" y="7621128"/>
            <a:ext cx="95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08/06/2026, 22:37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4" name="Google Shape;434;p25"/>
          <p:cNvGraphicFramePr/>
          <p:nvPr/>
        </p:nvGraphicFramePr>
        <p:xfrm>
          <a:off x="1472469" y="27168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{F262EEC4-5214-4235-8F0D-B323A4B456DF}</a:tableStyleId>
              </a:tblPr>
              <a:tblGrid>
                <a:gridCol w="2791200"/>
              </a:tblGrid>
              <a:tr h="874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rgbClr val="FF99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Piloter conception d'infrastructure</a:t>
                      </a:r>
                      <a:endParaRPr b="1" u="none" cap="none" strike="noStrike">
                        <a:solidFill>
                          <a:srgbClr val="FF99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30605" marR="0" rtl="0" algn="l">
                        <a:lnSpc>
                          <a:spcPct val="100000"/>
                        </a:lnSpc>
                        <a:spcBef>
                          <a:spcPts val="37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rgbClr val="FF99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sécurisée</a:t>
                      </a:r>
                      <a:endParaRPr b="1" u="none" cap="none" strike="noStrike">
                        <a:solidFill>
                          <a:srgbClr val="FF99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15A3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15A3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15A3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15A3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rgbClr val="FF99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Déploiement sécurisé</a:t>
                      </a:r>
                      <a:endParaRPr b="1" u="none" cap="none" strike="noStrike">
                        <a:solidFill>
                          <a:srgbClr val="FF99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18750" marB="0" marR="0" marL="0">
                    <a:lnL cap="flat" cmpd="sng" w="28575">
                      <a:solidFill>
                        <a:srgbClr val="15A3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15A3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15A3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15A3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99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rgbClr val="FF99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Stratégie de sécurisation</a:t>
                      </a:r>
                      <a:endParaRPr b="1" u="none" cap="none" strike="noStrike">
                        <a:solidFill>
                          <a:srgbClr val="FF99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18750" marB="0" marR="0" marL="0">
                    <a:lnL cap="flat" cmpd="sng" w="28575">
                      <a:solidFill>
                        <a:srgbClr val="15A3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15A3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15A3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15A3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9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rgbClr val="FF99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Manager la performance</a:t>
                      </a:r>
                      <a:endParaRPr b="1" u="none" cap="none" strike="noStrike">
                        <a:solidFill>
                          <a:srgbClr val="FF99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18750" marB="0" marR="0" marL="0">
                    <a:lnL cap="flat" cmpd="sng" w="28575">
                      <a:solidFill>
                        <a:srgbClr val="15A3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15A3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15A3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15A3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99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</a:t>
                      </a:r>
                      <a:r>
                        <a:rPr b="1" lang="en-US" u="none" cap="none" strike="noStrike">
                          <a:solidFill>
                            <a:srgbClr val="FF99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Gestion nouveaux projets</a:t>
                      </a:r>
                      <a:endParaRPr b="1" u="none" cap="none" strike="noStrike">
                        <a:solidFill>
                          <a:srgbClr val="FF99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18750" marB="0" marR="0" marL="0">
                    <a:lnL cap="flat" cmpd="sng" w="28575">
                      <a:solidFill>
                        <a:srgbClr val="15A3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15A3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15A3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15A3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rgbClr val="FF99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Anglais / Veille</a:t>
                      </a:r>
                      <a:endParaRPr b="1" u="none" cap="none" strike="noStrike">
                        <a:solidFill>
                          <a:srgbClr val="FF99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18750" marB="0" marR="0" marL="0">
                    <a:lnL cap="flat" cmpd="sng" w="28575">
                      <a:solidFill>
                        <a:srgbClr val="15A3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15A3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15A3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15A3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5" name="Google Shape;435;p25"/>
          <p:cNvSpPr/>
          <p:nvPr/>
        </p:nvSpPr>
        <p:spPr>
          <a:xfrm>
            <a:off x="10911910" y="1089103"/>
            <a:ext cx="278765" cy="186055"/>
          </a:xfrm>
          <a:custGeom>
            <a:rect b="b" l="l" r="r" t="t"/>
            <a:pathLst>
              <a:path extrusionOk="0" h="186055" w="278765">
                <a:moveTo>
                  <a:pt x="92824" y="185686"/>
                </a:moveTo>
                <a:lnTo>
                  <a:pt x="0" y="185686"/>
                </a:lnTo>
                <a:lnTo>
                  <a:pt x="0" y="0"/>
                </a:lnTo>
                <a:lnTo>
                  <a:pt x="92824" y="0"/>
                </a:lnTo>
                <a:lnTo>
                  <a:pt x="148529" y="69608"/>
                </a:lnTo>
                <a:lnTo>
                  <a:pt x="92824" y="69608"/>
                </a:lnTo>
                <a:lnTo>
                  <a:pt x="92824" y="185686"/>
                </a:lnTo>
                <a:close/>
              </a:path>
              <a:path extrusionOk="0" h="186055" w="278765">
                <a:moveTo>
                  <a:pt x="278561" y="116039"/>
                </a:moveTo>
                <a:lnTo>
                  <a:pt x="185686" y="116039"/>
                </a:lnTo>
                <a:lnTo>
                  <a:pt x="185686" y="0"/>
                </a:lnTo>
                <a:lnTo>
                  <a:pt x="278561" y="0"/>
                </a:lnTo>
                <a:lnTo>
                  <a:pt x="278561" y="116039"/>
                </a:lnTo>
                <a:close/>
              </a:path>
              <a:path extrusionOk="0" h="186055" w="278765">
                <a:moveTo>
                  <a:pt x="278561" y="185686"/>
                </a:moveTo>
                <a:lnTo>
                  <a:pt x="185686" y="185686"/>
                </a:lnTo>
                <a:lnTo>
                  <a:pt x="92824" y="69608"/>
                </a:lnTo>
                <a:lnTo>
                  <a:pt x="148529" y="69608"/>
                </a:lnTo>
                <a:lnTo>
                  <a:pt x="185686" y="116039"/>
                </a:lnTo>
                <a:lnTo>
                  <a:pt x="278561" y="116039"/>
                </a:lnTo>
                <a:lnTo>
                  <a:pt x="278561" y="185686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5"/>
          <p:cNvSpPr/>
          <p:nvPr/>
        </p:nvSpPr>
        <p:spPr>
          <a:xfrm>
            <a:off x="11236904" y="1089103"/>
            <a:ext cx="162559" cy="186055"/>
          </a:xfrm>
          <a:custGeom>
            <a:rect b="b" l="l" r="r" t="t"/>
            <a:pathLst>
              <a:path extrusionOk="0" h="186055" w="162559">
                <a:moveTo>
                  <a:pt x="129971" y="92824"/>
                </a:moveTo>
                <a:lnTo>
                  <a:pt x="128320" y="84709"/>
                </a:lnTo>
                <a:lnTo>
                  <a:pt x="123837" y="78066"/>
                </a:lnTo>
                <a:lnTo>
                  <a:pt x="117208" y="73583"/>
                </a:lnTo>
                <a:lnTo>
                  <a:pt x="109093" y="71932"/>
                </a:lnTo>
                <a:lnTo>
                  <a:pt x="20891" y="71932"/>
                </a:lnTo>
                <a:lnTo>
                  <a:pt x="12738" y="73583"/>
                </a:lnTo>
                <a:lnTo>
                  <a:pt x="6096" y="78066"/>
                </a:lnTo>
                <a:lnTo>
                  <a:pt x="1625" y="84709"/>
                </a:lnTo>
                <a:lnTo>
                  <a:pt x="0" y="92824"/>
                </a:lnTo>
                <a:lnTo>
                  <a:pt x="1625" y="100965"/>
                </a:lnTo>
                <a:lnTo>
                  <a:pt x="6096" y="107607"/>
                </a:lnTo>
                <a:lnTo>
                  <a:pt x="12738" y="112077"/>
                </a:lnTo>
                <a:lnTo>
                  <a:pt x="20891" y="113703"/>
                </a:lnTo>
                <a:lnTo>
                  <a:pt x="109093" y="113703"/>
                </a:lnTo>
                <a:lnTo>
                  <a:pt x="117208" y="112077"/>
                </a:lnTo>
                <a:lnTo>
                  <a:pt x="123837" y="107607"/>
                </a:lnTo>
                <a:lnTo>
                  <a:pt x="128320" y="100965"/>
                </a:lnTo>
                <a:lnTo>
                  <a:pt x="129971" y="92824"/>
                </a:lnTo>
                <a:close/>
              </a:path>
              <a:path extrusionOk="0" h="186055" w="162559">
                <a:moveTo>
                  <a:pt x="162471" y="164807"/>
                </a:moveTo>
                <a:lnTo>
                  <a:pt x="160820" y="156667"/>
                </a:lnTo>
                <a:lnTo>
                  <a:pt x="156337" y="150025"/>
                </a:lnTo>
                <a:lnTo>
                  <a:pt x="149694" y="145554"/>
                </a:lnTo>
                <a:lnTo>
                  <a:pt x="141579" y="143916"/>
                </a:lnTo>
                <a:lnTo>
                  <a:pt x="20891" y="143916"/>
                </a:lnTo>
                <a:lnTo>
                  <a:pt x="12738" y="145554"/>
                </a:lnTo>
                <a:lnTo>
                  <a:pt x="6096" y="150025"/>
                </a:lnTo>
                <a:lnTo>
                  <a:pt x="1625" y="156667"/>
                </a:lnTo>
                <a:lnTo>
                  <a:pt x="0" y="164807"/>
                </a:lnTo>
                <a:lnTo>
                  <a:pt x="1625" y="172935"/>
                </a:lnTo>
                <a:lnTo>
                  <a:pt x="6096" y="179565"/>
                </a:lnTo>
                <a:lnTo>
                  <a:pt x="12738" y="184048"/>
                </a:lnTo>
                <a:lnTo>
                  <a:pt x="20891" y="185686"/>
                </a:lnTo>
                <a:lnTo>
                  <a:pt x="141579" y="185686"/>
                </a:lnTo>
                <a:lnTo>
                  <a:pt x="149694" y="184048"/>
                </a:lnTo>
                <a:lnTo>
                  <a:pt x="156337" y="179565"/>
                </a:lnTo>
                <a:lnTo>
                  <a:pt x="160820" y="172935"/>
                </a:lnTo>
                <a:lnTo>
                  <a:pt x="162471" y="164807"/>
                </a:lnTo>
                <a:close/>
              </a:path>
              <a:path extrusionOk="0" h="186055" w="162559">
                <a:moveTo>
                  <a:pt x="162471" y="20891"/>
                </a:moveTo>
                <a:lnTo>
                  <a:pt x="160820" y="12750"/>
                </a:lnTo>
                <a:lnTo>
                  <a:pt x="156337" y="6108"/>
                </a:lnTo>
                <a:lnTo>
                  <a:pt x="149694" y="1638"/>
                </a:lnTo>
                <a:lnTo>
                  <a:pt x="141579" y="0"/>
                </a:lnTo>
                <a:lnTo>
                  <a:pt x="20891" y="0"/>
                </a:lnTo>
                <a:lnTo>
                  <a:pt x="12738" y="1638"/>
                </a:lnTo>
                <a:lnTo>
                  <a:pt x="6096" y="6108"/>
                </a:lnTo>
                <a:lnTo>
                  <a:pt x="1625" y="12750"/>
                </a:lnTo>
                <a:lnTo>
                  <a:pt x="0" y="20891"/>
                </a:lnTo>
                <a:lnTo>
                  <a:pt x="1625" y="29019"/>
                </a:lnTo>
                <a:lnTo>
                  <a:pt x="6096" y="35648"/>
                </a:lnTo>
                <a:lnTo>
                  <a:pt x="12738" y="40132"/>
                </a:lnTo>
                <a:lnTo>
                  <a:pt x="20891" y="41770"/>
                </a:lnTo>
                <a:lnTo>
                  <a:pt x="141579" y="41770"/>
                </a:lnTo>
                <a:lnTo>
                  <a:pt x="149694" y="40132"/>
                </a:lnTo>
                <a:lnTo>
                  <a:pt x="156337" y="35648"/>
                </a:lnTo>
                <a:lnTo>
                  <a:pt x="160820" y="29019"/>
                </a:lnTo>
                <a:lnTo>
                  <a:pt x="162471" y="20891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7" name="Google Shape;437;p25"/>
          <p:cNvGrpSpPr/>
          <p:nvPr/>
        </p:nvGrpSpPr>
        <p:grpSpPr>
          <a:xfrm>
            <a:off x="11469612" y="1089103"/>
            <a:ext cx="440620" cy="186055"/>
            <a:chOff x="8995162" y="1120228"/>
            <a:chExt cx="440620" cy="186055"/>
          </a:xfrm>
        </p:grpSpPr>
        <p:pic>
          <p:nvPicPr>
            <p:cNvPr id="438" name="Google Shape;438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995162" y="1132405"/>
              <a:ext cx="161312" cy="16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9" name="Google Shape;439;p25"/>
            <p:cNvSpPr/>
            <p:nvPr/>
          </p:nvSpPr>
          <p:spPr>
            <a:xfrm>
              <a:off x="9110662" y="1120228"/>
              <a:ext cx="325120" cy="186055"/>
            </a:xfrm>
            <a:custGeom>
              <a:rect b="b" l="l" r="r" t="t"/>
              <a:pathLst>
                <a:path extrusionOk="0" h="186055" w="325120">
                  <a:moveTo>
                    <a:pt x="92824" y="185686"/>
                  </a:moveTo>
                  <a:lnTo>
                    <a:pt x="0" y="185686"/>
                  </a:lnTo>
                  <a:lnTo>
                    <a:pt x="208902" y="0"/>
                  </a:lnTo>
                  <a:lnTo>
                    <a:pt x="237899" y="46380"/>
                  </a:lnTo>
                  <a:lnTo>
                    <a:pt x="162471" y="46380"/>
                  </a:lnTo>
                  <a:lnTo>
                    <a:pt x="129971" y="102095"/>
                  </a:lnTo>
                  <a:lnTo>
                    <a:pt x="272731" y="102095"/>
                  </a:lnTo>
                  <a:lnTo>
                    <a:pt x="287246" y="125310"/>
                  </a:lnTo>
                  <a:lnTo>
                    <a:pt x="125310" y="125310"/>
                  </a:lnTo>
                  <a:lnTo>
                    <a:pt x="92824" y="185686"/>
                  </a:lnTo>
                  <a:close/>
                </a:path>
                <a:path extrusionOk="0" h="186055" w="325120">
                  <a:moveTo>
                    <a:pt x="272731" y="102095"/>
                  </a:moveTo>
                  <a:lnTo>
                    <a:pt x="194970" y="102095"/>
                  </a:lnTo>
                  <a:lnTo>
                    <a:pt x="162471" y="46380"/>
                  </a:lnTo>
                  <a:lnTo>
                    <a:pt x="237899" y="46380"/>
                  </a:lnTo>
                  <a:lnTo>
                    <a:pt x="272731" y="102095"/>
                  </a:lnTo>
                  <a:close/>
                </a:path>
                <a:path extrusionOk="0" h="186055" w="325120">
                  <a:moveTo>
                    <a:pt x="324993" y="185686"/>
                  </a:moveTo>
                  <a:lnTo>
                    <a:pt x="232117" y="185686"/>
                  </a:lnTo>
                  <a:lnTo>
                    <a:pt x="199631" y="125310"/>
                  </a:lnTo>
                  <a:lnTo>
                    <a:pt x="287246" y="125310"/>
                  </a:lnTo>
                  <a:lnTo>
                    <a:pt x="324993" y="185686"/>
                  </a:lnTo>
                  <a:close/>
                </a:path>
              </a:pathLst>
            </a:custGeom>
            <a:solidFill>
              <a:srgbClr val="2F0D6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0" name="Google Shape;440;p25"/>
          <p:cNvSpPr txBox="1"/>
          <p:nvPr>
            <p:ph idx="12" type="sldNum"/>
          </p:nvPr>
        </p:nvSpPr>
        <p:spPr>
          <a:xfrm>
            <a:off x="-38100" y="7621128"/>
            <a:ext cx="523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sur 20</a:t>
            </a:r>
            <a:endParaRPr/>
          </a:p>
        </p:txBody>
      </p:sp>
      <p:sp>
        <p:nvSpPr>
          <p:cNvPr id="441" name="Google Shape;441;p25"/>
          <p:cNvSpPr txBox="1"/>
          <p:nvPr/>
        </p:nvSpPr>
        <p:spPr>
          <a:xfrm>
            <a:off x="388850" y="2883545"/>
            <a:ext cx="7446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Bloc 1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2" name="Google Shape;442;p25"/>
          <p:cNvSpPr txBox="1"/>
          <p:nvPr/>
        </p:nvSpPr>
        <p:spPr>
          <a:xfrm>
            <a:off x="2390850" y="2043196"/>
            <a:ext cx="8103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Intitulé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3" name="Google Shape;443;p25"/>
          <p:cNvSpPr txBox="1"/>
          <p:nvPr/>
        </p:nvSpPr>
        <p:spPr>
          <a:xfrm>
            <a:off x="4686375" y="2050966"/>
            <a:ext cx="24288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Commentaire SAN-Log_it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4" name="Google Shape;444;p25"/>
          <p:cNvSpPr txBox="1"/>
          <p:nvPr/>
        </p:nvSpPr>
        <p:spPr>
          <a:xfrm>
            <a:off x="7878100" y="2043209"/>
            <a:ext cx="1514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Auto-évaluation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25"/>
          <p:cNvSpPr txBox="1"/>
          <p:nvPr/>
        </p:nvSpPr>
        <p:spPr>
          <a:xfrm>
            <a:off x="400050" y="2051411"/>
            <a:ext cx="6573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Bloc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6" name="Google Shape;446;p25"/>
          <p:cNvSpPr txBox="1"/>
          <p:nvPr/>
        </p:nvSpPr>
        <p:spPr>
          <a:xfrm>
            <a:off x="412500" y="3747140"/>
            <a:ext cx="7446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Bloc 2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7" name="Google Shape;447;p25"/>
          <p:cNvSpPr txBox="1"/>
          <p:nvPr/>
        </p:nvSpPr>
        <p:spPr>
          <a:xfrm>
            <a:off x="405793" y="4397848"/>
            <a:ext cx="7446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Bloc 3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8" name="Google Shape;448;p25"/>
          <p:cNvSpPr txBox="1"/>
          <p:nvPr/>
        </p:nvSpPr>
        <p:spPr>
          <a:xfrm>
            <a:off x="412500" y="5648528"/>
            <a:ext cx="7446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Bloc 5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p25"/>
          <p:cNvSpPr txBox="1"/>
          <p:nvPr/>
        </p:nvSpPr>
        <p:spPr>
          <a:xfrm>
            <a:off x="395218" y="4965605"/>
            <a:ext cx="7446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Bloc 4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0" name="Google Shape;450;p25"/>
          <p:cNvSpPr txBox="1"/>
          <p:nvPr/>
        </p:nvSpPr>
        <p:spPr>
          <a:xfrm>
            <a:off x="361950" y="6285750"/>
            <a:ext cx="11781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Transversal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p25"/>
          <p:cNvSpPr txBox="1"/>
          <p:nvPr/>
        </p:nvSpPr>
        <p:spPr>
          <a:xfrm>
            <a:off x="7497100" y="2743200"/>
            <a:ext cx="2561400" cy="3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61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Manque pilotage 	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61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COMEX réel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17525" rtl="0" algn="ctr">
              <a:lnSpc>
                <a:spcPct val="1292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17525" rtl="0" algn="ctr">
              <a:lnSpc>
                <a:spcPct val="1292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Pas de prod réelle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92455" rtl="0" algn="ctr">
              <a:lnSpc>
                <a:spcPct val="1292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92455" rtl="0" algn="ctr">
              <a:lnSpc>
                <a:spcPct val="1292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Stratégie à  approfondir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35" lvl="0" marL="438150" marR="472440" rtl="0" algn="ctr">
              <a:lnSpc>
                <a:spcPct val="1292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472440" rtl="0" algn="ctr">
              <a:lnSpc>
                <a:spcPct val="1292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Pas d'équipe réelle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3815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Valable en l’état de l’art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p25"/>
          <p:cNvSpPr txBox="1"/>
          <p:nvPr/>
        </p:nvSpPr>
        <p:spPr>
          <a:xfrm>
            <a:off x="4504950" y="2743200"/>
            <a:ext cx="2791200" cy="4051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61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61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Architecture documentée,</a:t>
            </a:r>
            <a:endParaRPr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61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analyse des besoins PME</a:t>
            </a:r>
            <a:endParaRPr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61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 web + simulateur + labo virtuel (captures)</a:t>
            </a:r>
            <a:endParaRPr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Cartographie risques + CVE + outils IDS/SIEM</a:t>
            </a:r>
            <a:endParaRPr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pilotage offre, KPI, roadmap recrutement</a:t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CDC, MoSCoW, budget, faisabilité</a:t>
            </a:r>
            <a:endParaRPr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Veille NIST/CIS (intégrée en annexe)</a:t>
            </a:r>
            <a:endParaRPr b="1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p25"/>
          <p:cNvSpPr txBox="1"/>
          <p:nvPr/>
        </p:nvSpPr>
        <p:spPr>
          <a:xfrm>
            <a:off x="4088024" y="7591793"/>
            <a:ext cx="16143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A31"/>
                </a:solidFill>
                <a:latin typeface="Trebuchet MS"/>
                <a:ea typeface="Trebuchet MS"/>
                <a:cs typeface="Trebuchet MS"/>
                <a:sym typeface="Trebuchet MS"/>
              </a:rPr>
              <a:t>SAN-Log_it – Modélisation ESN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54" name="Google Shape;454;p25" title="100000404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2540" y="778910"/>
            <a:ext cx="1925449" cy="1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5"/>
          <p:cNvSpPr txBox="1"/>
          <p:nvPr/>
        </p:nvSpPr>
        <p:spPr>
          <a:xfrm>
            <a:off x="380078" y="930817"/>
            <a:ext cx="56160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F0D6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par rapport au RNCP 38117</a:t>
            </a:r>
            <a:endParaRPr b="1" sz="2500">
              <a:solidFill>
                <a:srgbClr val="2F0D6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6" name="Google Shape;456;p25"/>
          <p:cNvSpPr txBox="1"/>
          <p:nvPr>
            <p:ph idx="11" type="ftr"/>
          </p:nvPr>
        </p:nvSpPr>
        <p:spPr>
          <a:xfrm>
            <a:off x="9114472" y="7621128"/>
            <a:ext cx="95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08/06/2026, 22:37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6"/>
          <p:cNvSpPr/>
          <p:nvPr/>
        </p:nvSpPr>
        <p:spPr>
          <a:xfrm>
            <a:off x="531469" y="3128022"/>
            <a:ext cx="9091295" cy="5714"/>
          </a:xfrm>
          <a:custGeom>
            <a:rect b="b" l="l" r="r" t="t"/>
            <a:pathLst>
              <a:path extrusionOk="0" h="5714" w="9091295">
                <a:moveTo>
                  <a:pt x="9090672" y="5410"/>
                </a:moveTo>
                <a:lnTo>
                  <a:pt x="0" y="5410"/>
                </a:lnTo>
                <a:lnTo>
                  <a:pt x="0" y="0"/>
                </a:lnTo>
                <a:lnTo>
                  <a:pt x="9090672" y="0"/>
                </a:lnTo>
                <a:lnTo>
                  <a:pt x="9090672" y="5410"/>
                </a:lnTo>
                <a:close/>
              </a:path>
            </a:pathLst>
          </a:custGeom>
          <a:solidFill>
            <a:srgbClr val="E2E8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6"/>
          <p:cNvSpPr/>
          <p:nvPr/>
        </p:nvSpPr>
        <p:spPr>
          <a:xfrm>
            <a:off x="531469" y="3837389"/>
            <a:ext cx="9091295" cy="5714"/>
          </a:xfrm>
          <a:custGeom>
            <a:rect b="b" l="l" r="r" t="t"/>
            <a:pathLst>
              <a:path extrusionOk="0" h="5714" w="9091295">
                <a:moveTo>
                  <a:pt x="9090672" y="5410"/>
                </a:moveTo>
                <a:lnTo>
                  <a:pt x="0" y="5410"/>
                </a:lnTo>
                <a:lnTo>
                  <a:pt x="0" y="0"/>
                </a:lnTo>
                <a:lnTo>
                  <a:pt x="9090672" y="0"/>
                </a:lnTo>
                <a:lnTo>
                  <a:pt x="9090672" y="5410"/>
                </a:lnTo>
                <a:close/>
              </a:path>
            </a:pathLst>
          </a:custGeom>
          <a:solidFill>
            <a:srgbClr val="E2E8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6"/>
          <p:cNvSpPr/>
          <p:nvPr/>
        </p:nvSpPr>
        <p:spPr>
          <a:xfrm>
            <a:off x="531469" y="4864852"/>
            <a:ext cx="9091295" cy="5714"/>
          </a:xfrm>
          <a:custGeom>
            <a:rect b="b" l="l" r="r" t="t"/>
            <a:pathLst>
              <a:path extrusionOk="0" h="5714" w="9091295">
                <a:moveTo>
                  <a:pt x="9090672" y="5410"/>
                </a:moveTo>
                <a:lnTo>
                  <a:pt x="0" y="5410"/>
                </a:lnTo>
                <a:lnTo>
                  <a:pt x="0" y="0"/>
                </a:lnTo>
                <a:lnTo>
                  <a:pt x="9090672" y="0"/>
                </a:lnTo>
                <a:lnTo>
                  <a:pt x="9090672" y="5410"/>
                </a:lnTo>
                <a:close/>
              </a:path>
            </a:pathLst>
          </a:custGeom>
          <a:solidFill>
            <a:srgbClr val="E2E8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6"/>
          <p:cNvSpPr/>
          <p:nvPr/>
        </p:nvSpPr>
        <p:spPr>
          <a:xfrm>
            <a:off x="531469" y="5527729"/>
            <a:ext cx="9091295" cy="5714"/>
          </a:xfrm>
          <a:custGeom>
            <a:rect b="b" l="l" r="r" t="t"/>
            <a:pathLst>
              <a:path extrusionOk="0" h="5714" w="9091295">
                <a:moveTo>
                  <a:pt x="9090672" y="5410"/>
                </a:moveTo>
                <a:lnTo>
                  <a:pt x="0" y="5410"/>
                </a:lnTo>
                <a:lnTo>
                  <a:pt x="0" y="0"/>
                </a:lnTo>
                <a:lnTo>
                  <a:pt x="9090672" y="0"/>
                </a:lnTo>
                <a:lnTo>
                  <a:pt x="9090672" y="5410"/>
                </a:lnTo>
                <a:close/>
              </a:path>
            </a:pathLst>
          </a:custGeom>
          <a:solidFill>
            <a:srgbClr val="E2E8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531469" y="6190554"/>
            <a:ext cx="9091295" cy="5714"/>
          </a:xfrm>
          <a:custGeom>
            <a:rect b="b" l="l" r="r" t="t"/>
            <a:pathLst>
              <a:path extrusionOk="0" h="5714" w="9091295">
                <a:moveTo>
                  <a:pt x="9090672" y="5410"/>
                </a:moveTo>
                <a:lnTo>
                  <a:pt x="0" y="5410"/>
                </a:lnTo>
                <a:lnTo>
                  <a:pt x="0" y="0"/>
                </a:lnTo>
                <a:lnTo>
                  <a:pt x="9090672" y="0"/>
                </a:lnTo>
                <a:lnTo>
                  <a:pt x="9090672" y="5410"/>
                </a:lnTo>
                <a:close/>
              </a:path>
            </a:pathLst>
          </a:custGeom>
          <a:solidFill>
            <a:srgbClr val="E2E8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6"/>
          <p:cNvSpPr txBox="1"/>
          <p:nvPr/>
        </p:nvSpPr>
        <p:spPr>
          <a:xfrm>
            <a:off x="4262643" y="5966263"/>
            <a:ext cx="51504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26034" rtl="0" algn="ctr">
              <a:lnSpc>
                <a:spcPct val="126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Le mémoire projette clairement une évolution vers un statut de SASU :</a:t>
            </a:r>
            <a:r>
              <a:rPr b="1" lang="en-US" sz="1200">
                <a:solidFill>
                  <a:srgbClr val="334154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Un recrutement à horizon 24 mois</a:t>
            </a:r>
            <a:r>
              <a:rPr b="1" lang="en-US">
                <a:solidFill>
                  <a:srgbClr val="334154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7" name="Google Shape;467;p26"/>
          <p:cNvSpPr/>
          <p:nvPr/>
        </p:nvSpPr>
        <p:spPr>
          <a:xfrm>
            <a:off x="10818835" y="1089103"/>
            <a:ext cx="278765" cy="186055"/>
          </a:xfrm>
          <a:custGeom>
            <a:rect b="b" l="l" r="r" t="t"/>
            <a:pathLst>
              <a:path extrusionOk="0" h="186055" w="278765">
                <a:moveTo>
                  <a:pt x="92824" y="185686"/>
                </a:moveTo>
                <a:lnTo>
                  <a:pt x="0" y="185686"/>
                </a:lnTo>
                <a:lnTo>
                  <a:pt x="0" y="0"/>
                </a:lnTo>
                <a:lnTo>
                  <a:pt x="92824" y="0"/>
                </a:lnTo>
                <a:lnTo>
                  <a:pt x="148529" y="69608"/>
                </a:lnTo>
                <a:lnTo>
                  <a:pt x="92824" y="69608"/>
                </a:lnTo>
                <a:lnTo>
                  <a:pt x="92824" y="185686"/>
                </a:lnTo>
                <a:close/>
              </a:path>
              <a:path extrusionOk="0" h="186055" w="278765">
                <a:moveTo>
                  <a:pt x="278561" y="116039"/>
                </a:moveTo>
                <a:lnTo>
                  <a:pt x="185686" y="116039"/>
                </a:lnTo>
                <a:lnTo>
                  <a:pt x="185686" y="0"/>
                </a:lnTo>
                <a:lnTo>
                  <a:pt x="278561" y="0"/>
                </a:lnTo>
                <a:lnTo>
                  <a:pt x="278561" y="116039"/>
                </a:lnTo>
                <a:close/>
              </a:path>
              <a:path extrusionOk="0" h="186055" w="278765">
                <a:moveTo>
                  <a:pt x="278561" y="185686"/>
                </a:moveTo>
                <a:lnTo>
                  <a:pt x="185686" y="185686"/>
                </a:lnTo>
                <a:lnTo>
                  <a:pt x="92824" y="69608"/>
                </a:lnTo>
                <a:lnTo>
                  <a:pt x="148529" y="69608"/>
                </a:lnTo>
                <a:lnTo>
                  <a:pt x="185686" y="116039"/>
                </a:lnTo>
                <a:lnTo>
                  <a:pt x="278561" y="116039"/>
                </a:lnTo>
                <a:lnTo>
                  <a:pt x="278561" y="185686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6"/>
          <p:cNvSpPr/>
          <p:nvPr/>
        </p:nvSpPr>
        <p:spPr>
          <a:xfrm>
            <a:off x="11143829" y="1089103"/>
            <a:ext cx="162559" cy="186055"/>
          </a:xfrm>
          <a:custGeom>
            <a:rect b="b" l="l" r="r" t="t"/>
            <a:pathLst>
              <a:path extrusionOk="0" h="186055" w="162559">
                <a:moveTo>
                  <a:pt x="129971" y="92824"/>
                </a:moveTo>
                <a:lnTo>
                  <a:pt x="128320" y="84709"/>
                </a:lnTo>
                <a:lnTo>
                  <a:pt x="123837" y="78066"/>
                </a:lnTo>
                <a:lnTo>
                  <a:pt x="117208" y="73583"/>
                </a:lnTo>
                <a:lnTo>
                  <a:pt x="109093" y="71932"/>
                </a:lnTo>
                <a:lnTo>
                  <a:pt x="20891" y="71932"/>
                </a:lnTo>
                <a:lnTo>
                  <a:pt x="12738" y="73583"/>
                </a:lnTo>
                <a:lnTo>
                  <a:pt x="6096" y="78066"/>
                </a:lnTo>
                <a:lnTo>
                  <a:pt x="1625" y="84709"/>
                </a:lnTo>
                <a:lnTo>
                  <a:pt x="0" y="92824"/>
                </a:lnTo>
                <a:lnTo>
                  <a:pt x="1625" y="100965"/>
                </a:lnTo>
                <a:lnTo>
                  <a:pt x="6096" y="107607"/>
                </a:lnTo>
                <a:lnTo>
                  <a:pt x="12738" y="112077"/>
                </a:lnTo>
                <a:lnTo>
                  <a:pt x="20891" y="113703"/>
                </a:lnTo>
                <a:lnTo>
                  <a:pt x="109093" y="113703"/>
                </a:lnTo>
                <a:lnTo>
                  <a:pt x="117208" y="112077"/>
                </a:lnTo>
                <a:lnTo>
                  <a:pt x="123837" y="107607"/>
                </a:lnTo>
                <a:lnTo>
                  <a:pt x="128320" y="100965"/>
                </a:lnTo>
                <a:lnTo>
                  <a:pt x="129971" y="92824"/>
                </a:lnTo>
                <a:close/>
              </a:path>
              <a:path extrusionOk="0" h="186055" w="162559">
                <a:moveTo>
                  <a:pt x="162471" y="164807"/>
                </a:moveTo>
                <a:lnTo>
                  <a:pt x="160820" y="156667"/>
                </a:lnTo>
                <a:lnTo>
                  <a:pt x="156337" y="150025"/>
                </a:lnTo>
                <a:lnTo>
                  <a:pt x="149694" y="145554"/>
                </a:lnTo>
                <a:lnTo>
                  <a:pt x="141579" y="143916"/>
                </a:lnTo>
                <a:lnTo>
                  <a:pt x="20891" y="143916"/>
                </a:lnTo>
                <a:lnTo>
                  <a:pt x="12738" y="145554"/>
                </a:lnTo>
                <a:lnTo>
                  <a:pt x="6096" y="150025"/>
                </a:lnTo>
                <a:lnTo>
                  <a:pt x="1625" y="156667"/>
                </a:lnTo>
                <a:lnTo>
                  <a:pt x="0" y="164807"/>
                </a:lnTo>
                <a:lnTo>
                  <a:pt x="1625" y="172935"/>
                </a:lnTo>
                <a:lnTo>
                  <a:pt x="6096" y="179565"/>
                </a:lnTo>
                <a:lnTo>
                  <a:pt x="12738" y="184048"/>
                </a:lnTo>
                <a:lnTo>
                  <a:pt x="20891" y="185686"/>
                </a:lnTo>
                <a:lnTo>
                  <a:pt x="141579" y="185686"/>
                </a:lnTo>
                <a:lnTo>
                  <a:pt x="149694" y="184048"/>
                </a:lnTo>
                <a:lnTo>
                  <a:pt x="156337" y="179565"/>
                </a:lnTo>
                <a:lnTo>
                  <a:pt x="160820" y="172935"/>
                </a:lnTo>
                <a:lnTo>
                  <a:pt x="162471" y="164807"/>
                </a:lnTo>
                <a:close/>
              </a:path>
              <a:path extrusionOk="0" h="186055" w="162559">
                <a:moveTo>
                  <a:pt x="162471" y="20891"/>
                </a:moveTo>
                <a:lnTo>
                  <a:pt x="160820" y="12750"/>
                </a:lnTo>
                <a:lnTo>
                  <a:pt x="156337" y="6108"/>
                </a:lnTo>
                <a:lnTo>
                  <a:pt x="149694" y="1638"/>
                </a:lnTo>
                <a:lnTo>
                  <a:pt x="141579" y="0"/>
                </a:lnTo>
                <a:lnTo>
                  <a:pt x="20891" y="0"/>
                </a:lnTo>
                <a:lnTo>
                  <a:pt x="12738" y="1638"/>
                </a:lnTo>
                <a:lnTo>
                  <a:pt x="6096" y="6108"/>
                </a:lnTo>
                <a:lnTo>
                  <a:pt x="1625" y="12750"/>
                </a:lnTo>
                <a:lnTo>
                  <a:pt x="0" y="20891"/>
                </a:lnTo>
                <a:lnTo>
                  <a:pt x="1625" y="29019"/>
                </a:lnTo>
                <a:lnTo>
                  <a:pt x="6096" y="35648"/>
                </a:lnTo>
                <a:lnTo>
                  <a:pt x="12738" y="40132"/>
                </a:lnTo>
                <a:lnTo>
                  <a:pt x="20891" y="41770"/>
                </a:lnTo>
                <a:lnTo>
                  <a:pt x="141579" y="41770"/>
                </a:lnTo>
                <a:lnTo>
                  <a:pt x="149694" y="40132"/>
                </a:lnTo>
                <a:lnTo>
                  <a:pt x="156337" y="35648"/>
                </a:lnTo>
                <a:lnTo>
                  <a:pt x="160820" y="29019"/>
                </a:lnTo>
                <a:lnTo>
                  <a:pt x="162471" y="20891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9" name="Google Shape;469;p26"/>
          <p:cNvGrpSpPr/>
          <p:nvPr/>
        </p:nvGrpSpPr>
        <p:grpSpPr>
          <a:xfrm>
            <a:off x="11376537" y="1089103"/>
            <a:ext cx="440620" cy="186055"/>
            <a:chOff x="8995162" y="1120228"/>
            <a:chExt cx="440620" cy="186055"/>
          </a:xfrm>
        </p:grpSpPr>
        <p:pic>
          <p:nvPicPr>
            <p:cNvPr id="470" name="Google Shape;470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995162" y="1132405"/>
              <a:ext cx="161312" cy="16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26"/>
            <p:cNvSpPr/>
            <p:nvPr/>
          </p:nvSpPr>
          <p:spPr>
            <a:xfrm>
              <a:off x="9110662" y="1120228"/>
              <a:ext cx="325120" cy="186055"/>
            </a:xfrm>
            <a:custGeom>
              <a:rect b="b" l="l" r="r" t="t"/>
              <a:pathLst>
                <a:path extrusionOk="0" h="186055" w="325120">
                  <a:moveTo>
                    <a:pt x="92824" y="185686"/>
                  </a:moveTo>
                  <a:lnTo>
                    <a:pt x="0" y="185686"/>
                  </a:lnTo>
                  <a:lnTo>
                    <a:pt x="208902" y="0"/>
                  </a:lnTo>
                  <a:lnTo>
                    <a:pt x="237899" y="46380"/>
                  </a:lnTo>
                  <a:lnTo>
                    <a:pt x="162471" y="46380"/>
                  </a:lnTo>
                  <a:lnTo>
                    <a:pt x="129971" y="102095"/>
                  </a:lnTo>
                  <a:lnTo>
                    <a:pt x="272731" y="102095"/>
                  </a:lnTo>
                  <a:lnTo>
                    <a:pt x="287246" y="125310"/>
                  </a:lnTo>
                  <a:lnTo>
                    <a:pt x="125310" y="125310"/>
                  </a:lnTo>
                  <a:lnTo>
                    <a:pt x="92824" y="185686"/>
                  </a:lnTo>
                  <a:close/>
                </a:path>
                <a:path extrusionOk="0" h="186055" w="325120">
                  <a:moveTo>
                    <a:pt x="272731" y="102095"/>
                  </a:moveTo>
                  <a:lnTo>
                    <a:pt x="194970" y="102095"/>
                  </a:lnTo>
                  <a:lnTo>
                    <a:pt x="162471" y="46380"/>
                  </a:lnTo>
                  <a:lnTo>
                    <a:pt x="237899" y="46380"/>
                  </a:lnTo>
                  <a:lnTo>
                    <a:pt x="272731" y="102095"/>
                  </a:lnTo>
                  <a:close/>
                </a:path>
                <a:path extrusionOk="0" h="186055" w="325120">
                  <a:moveTo>
                    <a:pt x="324993" y="185686"/>
                  </a:moveTo>
                  <a:lnTo>
                    <a:pt x="232117" y="185686"/>
                  </a:lnTo>
                  <a:lnTo>
                    <a:pt x="199631" y="125310"/>
                  </a:lnTo>
                  <a:lnTo>
                    <a:pt x="287246" y="125310"/>
                  </a:lnTo>
                  <a:lnTo>
                    <a:pt x="324993" y="185686"/>
                  </a:lnTo>
                  <a:close/>
                </a:path>
              </a:pathLst>
            </a:custGeom>
            <a:solidFill>
              <a:srgbClr val="2F0D6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2" name="Google Shape;472;p26"/>
          <p:cNvSpPr txBox="1"/>
          <p:nvPr>
            <p:ph idx="12" type="sldNum"/>
          </p:nvPr>
        </p:nvSpPr>
        <p:spPr>
          <a:xfrm>
            <a:off x="-38100" y="7621128"/>
            <a:ext cx="523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sur 20</a:t>
            </a:r>
            <a:endParaRPr/>
          </a:p>
        </p:txBody>
      </p:sp>
      <p:sp>
        <p:nvSpPr>
          <p:cNvPr id="473" name="Google Shape;473;p26"/>
          <p:cNvSpPr txBox="1"/>
          <p:nvPr/>
        </p:nvSpPr>
        <p:spPr>
          <a:xfrm>
            <a:off x="4179707" y="2024589"/>
            <a:ext cx="30576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Pourquoi il est acceptable ?</a:t>
            </a:r>
            <a:endParaRPr b="1" sz="16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4" name="Google Shape;474;p26"/>
          <p:cNvSpPr txBox="1"/>
          <p:nvPr/>
        </p:nvSpPr>
        <p:spPr>
          <a:xfrm>
            <a:off x="554201" y="941820"/>
            <a:ext cx="33942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60B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Limites du mémoire</a:t>
            </a:r>
            <a:endParaRPr b="1" sz="2500">
              <a:solidFill>
                <a:srgbClr val="360B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5" name="Google Shape;475;p26"/>
          <p:cNvSpPr txBox="1"/>
          <p:nvPr/>
        </p:nvSpPr>
        <p:spPr>
          <a:xfrm>
            <a:off x="557355" y="3398541"/>
            <a:ext cx="24195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Pas de validation sur le terrain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6"/>
          <p:cNvSpPr txBox="1"/>
          <p:nvPr/>
        </p:nvSpPr>
        <p:spPr>
          <a:xfrm>
            <a:off x="568094" y="2595363"/>
            <a:ext cx="24195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Aucune mission client réelle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6"/>
          <p:cNvSpPr txBox="1"/>
          <p:nvPr/>
        </p:nvSpPr>
        <p:spPr>
          <a:xfrm>
            <a:off x="586615" y="4418740"/>
            <a:ext cx="33432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Architecture non déployée en production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6"/>
          <p:cNvSpPr txBox="1"/>
          <p:nvPr/>
        </p:nvSpPr>
        <p:spPr>
          <a:xfrm>
            <a:off x="571101" y="5158977"/>
            <a:ext cx="34767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Pas de contrat d’infogérance, pas de SLA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6"/>
          <p:cNvSpPr txBox="1"/>
          <p:nvPr/>
        </p:nvSpPr>
        <p:spPr>
          <a:xfrm>
            <a:off x="565112" y="5842740"/>
            <a:ext cx="24195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Structure solo, pas d’équipe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6"/>
          <p:cNvSpPr txBox="1"/>
          <p:nvPr/>
        </p:nvSpPr>
        <p:spPr>
          <a:xfrm>
            <a:off x="4181475" y="2614071"/>
            <a:ext cx="52482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26034" rtl="0" algn="l">
              <a:lnSpc>
                <a:spcPct val="126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Stage non obligatoire. Candidatures infructueuses :		</a:t>
            </a:r>
            <a:endParaRPr b="1" sz="13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26034" rtl="0" algn="l">
              <a:lnSpc>
                <a:spcPct val="126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>
                <a:solidFill>
                  <a:srgbClr val="334154"/>
                </a:solidFill>
                <a:latin typeface="Trebuchet MS"/>
                <a:ea typeface="Trebuchet MS"/>
                <a:cs typeface="Trebuchet MS"/>
                <a:sym typeface="Trebuchet MS"/>
              </a:rPr>
              <a:t>Pivot vers un mémoire spéculatif assumé et constructif.</a:t>
            </a:r>
            <a:r>
              <a:rPr b="1"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	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6"/>
          <p:cNvSpPr txBox="1"/>
          <p:nvPr/>
        </p:nvSpPr>
        <p:spPr>
          <a:xfrm>
            <a:off x="4191075" y="3425833"/>
            <a:ext cx="4743300" cy="8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l">
              <a:lnSpc>
                <a:spcPct val="126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C</a:t>
            </a:r>
            <a:r>
              <a:rPr b="1" lang="en-US" sz="12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ompensée par les preuves de concept techniques réelles : </a:t>
            </a:r>
            <a:r>
              <a:rPr b="1" lang="en-US" sz="1200">
                <a:solidFill>
                  <a:srgbClr val="334154"/>
                </a:solidFill>
                <a:latin typeface="Trebuchet MS"/>
                <a:ea typeface="Trebuchet MS"/>
                <a:cs typeface="Trebuchet MS"/>
                <a:sym typeface="Trebuchet MS"/>
              </a:rPr>
              <a:t>Développement du site, simulateur, laboratoire et expériences personnelles antérieures ( Tercium).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6"/>
          <p:cNvSpPr txBox="1"/>
          <p:nvPr/>
        </p:nvSpPr>
        <p:spPr>
          <a:xfrm>
            <a:off x="4183318" y="4430699"/>
            <a:ext cx="5000400" cy="7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17780" rtl="0" algn="just">
              <a:lnSpc>
                <a:spcPct val="126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Le laboratoire virtuel et la documentation technique démontrent la maîtrise conceptuelle des briques  (</a:t>
            </a:r>
            <a:r>
              <a:rPr b="1"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pfSense, Wazuh</a:t>
            </a:r>
            <a:r>
              <a:rPr b="1" lang="en-US" sz="12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6"/>
          <p:cNvSpPr txBox="1"/>
          <p:nvPr/>
        </p:nvSpPr>
        <p:spPr>
          <a:xfrm>
            <a:off x="4200525" y="5197969"/>
            <a:ext cx="50004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480695" rtl="0" algn="just">
              <a:lnSpc>
                <a:spcPct val="126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Modèle économique volontairement limité : </a:t>
            </a:r>
            <a:r>
              <a:rPr b="1" lang="en-US" sz="1200">
                <a:solidFill>
                  <a:srgbClr val="334154"/>
                </a:solidFill>
                <a:latin typeface="Trebuchet MS"/>
                <a:ea typeface="Trebuchet MS"/>
                <a:cs typeface="Trebuchet MS"/>
                <a:sym typeface="Trebuchet MS"/>
              </a:rPr>
              <a:t>(et réaliste)</a:t>
            </a:r>
            <a:endParaRPr b="1" sz="12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480695" rtl="0" algn="just">
              <a:lnSpc>
                <a:spcPct val="126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rgbClr val="334154"/>
                </a:solidFill>
                <a:latin typeface="Trebuchet MS"/>
                <a:ea typeface="Trebuchet MS"/>
                <a:cs typeface="Trebuchet MS"/>
                <a:sym typeface="Trebuchet MS"/>
              </a:rPr>
              <a:t>    </a:t>
            </a:r>
            <a:r>
              <a:rPr b="1" lang="en-US" sz="1200">
                <a:solidFill>
                  <a:srgbClr val="334154"/>
                </a:solidFill>
                <a:latin typeface="Trebuchet MS"/>
                <a:ea typeface="Trebuchet MS"/>
                <a:cs typeface="Trebuchet MS"/>
                <a:sym typeface="Trebuchet MS"/>
              </a:rPr>
              <a:t> Aux missions ponctuelles pour une structure naissante.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6"/>
          <p:cNvSpPr txBox="1"/>
          <p:nvPr/>
        </p:nvSpPr>
        <p:spPr>
          <a:xfrm>
            <a:off x="4088024" y="7591793"/>
            <a:ext cx="16143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A31"/>
                </a:solidFill>
                <a:latin typeface="Trebuchet MS"/>
                <a:ea typeface="Trebuchet MS"/>
                <a:cs typeface="Trebuchet MS"/>
                <a:sym typeface="Trebuchet MS"/>
              </a:rPr>
              <a:t>SAN-Log_it – Modélisation ESN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85" name="Google Shape;485;p26" title="100000404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2540" y="778910"/>
            <a:ext cx="1925449" cy="1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26"/>
          <p:cNvSpPr txBox="1"/>
          <p:nvPr/>
        </p:nvSpPr>
        <p:spPr>
          <a:xfrm>
            <a:off x="562264" y="2029605"/>
            <a:ext cx="10434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Limites</a:t>
            </a:r>
            <a:endParaRPr b="1" sz="16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7" name="Google Shape;487;p26"/>
          <p:cNvSpPr txBox="1"/>
          <p:nvPr>
            <p:ph idx="11" type="ftr"/>
          </p:nvPr>
        </p:nvSpPr>
        <p:spPr>
          <a:xfrm>
            <a:off x="9114472" y="7621128"/>
            <a:ext cx="95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08/06/2026, 22:37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836" y="948537"/>
            <a:ext cx="5070576" cy="401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3" name="Google Shape;493;p27"/>
          <p:cNvGrpSpPr/>
          <p:nvPr/>
        </p:nvGrpSpPr>
        <p:grpSpPr>
          <a:xfrm>
            <a:off x="467416" y="2084516"/>
            <a:ext cx="9143949" cy="1095716"/>
            <a:chOff x="457200" y="1874888"/>
            <a:chExt cx="9143949" cy="995653"/>
          </a:xfrm>
        </p:grpSpPr>
        <p:pic>
          <p:nvPicPr>
            <p:cNvPr id="494" name="Google Shape;494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7200" y="1874888"/>
              <a:ext cx="9143949" cy="5000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5" name="Google Shape;495;p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7200" y="2374899"/>
              <a:ext cx="9143949" cy="4956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27"/>
            <p:cNvSpPr/>
            <p:nvPr/>
          </p:nvSpPr>
          <p:spPr>
            <a:xfrm>
              <a:off x="527151" y="1901977"/>
              <a:ext cx="9047480" cy="909319"/>
            </a:xfrm>
            <a:custGeom>
              <a:rect b="b" l="l" r="r" t="t"/>
              <a:pathLst>
                <a:path extrusionOk="0" h="909319" w="9047480">
                  <a:moveTo>
                    <a:pt x="9014917" y="909040"/>
                  </a:moveTo>
                  <a:lnTo>
                    <a:pt x="0" y="909040"/>
                  </a:lnTo>
                  <a:lnTo>
                    <a:pt x="0" y="0"/>
                  </a:lnTo>
                  <a:lnTo>
                    <a:pt x="9014917" y="0"/>
                  </a:lnTo>
                  <a:lnTo>
                    <a:pt x="9027539" y="2549"/>
                  </a:lnTo>
                  <a:lnTo>
                    <a:pt x="9037850" y="9502"/>
                  </a:lnTo>
                  <a:lnTo>
                    <a:pt x="9044803" y="19813"/>
                  </a:lnTo>
                  <a:lnTo>
                    <a:pt x="9047353" y="32435"/>
                  </a:lnTo>
                  <a:lnTo>
                    <a:pt x="9047353" y="876592"/>
                  </a:lnTo>
                  <a:lnTo>
                    <a:pt x="9044803" y="889216"/>
                  </a:lnTo>
                  <a:lnTo>
                    <a:pt x="9037850" y="899531"/>
                  </a:lnTo>
                  <a:lnTo>
                    <a:pt x="9027539" y="906488"/>
                  </a:lnTo>
                  <a:lnTo>
                    <a:pt x="9014917" y="9090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7"/>
            <p:cNvSpPr/>
            <p:nvPr/>
          </p:nvSpPr>
          <p:spPr>
            <a:xfrm>
              <a:off x="483831" y="1901977"/>
              <a:ext cx="48895" cy="909319"/>
            </a:xfrm>
            <a:custGeom>
              <a:rect b="b" l="l" r="r" t="t"/>
              <a:pathLst>
                <a:path extrusionOk="0" h="909319" w="48895">
                  <a:moveTo>
                    <a:pt x="48729" y="0"/>
                  </a:moveTo>
                  <a:lnTo>
                    <a:pt x="32499" y="0"/>
                  </a:lnTo>
                  <a:lnTo>
                    <a:pt x="19837" y="2552"/>
                  </a:lnTo>
                  <a:lnTo>
                    <a:pt x="9512" y="9512"/>
                  </a:lnTo>
                  <a:lnTo>
                    <a:pt x="2552" y="19824"/>
                  </a:lnTo>
                  <a:lnTo>
                    <a:pt x="0" y="32448"/>
                  </a:lnTo>
                  <a:lnTo>
                    <a:pt x="0" y="876592"/>
                  </a:lnTo>
                  <a:lnTo>
                    <a:pt x="2552" y="889228"/>
                  </a:lnTo>
                  <a:lnTo>
                    <a:pt x="9512" y="899541"/>
                  </a:lnTo>
                  <a:lnTo>
                    <a:pt x="19837" y="906500"/>
                  </a:lnTo>
                  <a:lnTo>
                    <a:pt x="32499" y="909040"/>
                  </a:lnTo>
                  <a:lnTo>
                    <a:pt x="48729" y="909040"/>
                  </a:lnTo>
                  <a:lnTo>
                    <a:pt x="48729" y="876592"/>
                  </a:lnTo>
                  <a:lnTo>
                    <a:pt x="48729" y="32448"/>
                  </a:lnTo>
                  <a:lnTo>
                    <a:pt x="48729" y="0"/>
                  </a:lnTo>
                  <a:close/>
                </a:path>
              </a:pathLst>
            </a:custGeom>
            <a:solidFill>
              <a:srgbClr val="F26E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98" name="Google Shape;498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03059" y="2137524"/>
              <a:ext cx="1040117" cy="142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9" name="Google Shape;499;p2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03808" y="2454821"/>
              <a:ext cx="763143" cy="147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0" name="Google Shape;500;p27"/>
          <p:cNvSpPr txBox="1"/>
          <p:nvPr/>
        </p:nvSpPr>
        <p:spPr>
          <a:xfrm>
            <a:off x="2264734" y="2266125"/>
            <a:ext cx="61593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5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Formaliser la </a:t>
            </a:r>
            <a:r>
              <a:rPr b="1" lang="en-US" sz="1400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PSSI</a:t>
            </a:r>
            <a:r>
              <a:rPr lang="en-US" sz="1400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interne, nommer o</a:t>
            </a: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ffi</a:t>
            </a:r>
            <a:r>
              <a:rPr lang="en-US" sz="1400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ciellement le </a:t>
            </a:r>
            <a:r>
              <a:rPr b="1" lang="en-US" sz="1400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DPO</a:t>
            </a:r>
            <a:r>
              <a:rPr lang="en-US" sz="1400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et achever le déploiement de l'inventaire Wazuh sur le labo.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01" name="Google Shape;501;p27"/>
          <p:cNvGrpSpPr/>
          <p:nvPr/>
        </p:nvGrpSpPr>
        <p:grpSpPr>
          <a:xfrm>
            <a:off x="475173" y="6059993"/>
            <a:ext cx="9143949" cy="1095717"/>
            <a:chOff x="457200" y="4180039"/>
            <a:chExt cx="9143949" cy="995654"/>
          </a:xfrm>
        </p:grpSpPr>
        <p:pic>
          <p:nvPicPr>
            <p:cNvPr id="502" name="Google Shape;502;p2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57200" y="4180039"/>
              <a:ext cx="9143949" cy="5062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3" name="Google Shape;503;p2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57200" y="4686299"/>
              <a:ext cx="9143949" cy="4893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4" name="Google Shape;504;p27"/>
            <p:cNvSpPr/>
            <p:nvPr/>
          </p:nvSpPr>
          <p:spPr>
            <a:xfrm>
              <a:off x="527151" y="4207078"/>
              <a:ext cx="9047480" cy="909319"/>
            </a:xfrm>
            <a:custGeom>
              <a:rect b="b" l="l" r="r" t="t"/>
              <a:pathLst>
                <a:path extrusionOk="0" h="909320" w="9047480">
                  <a:moveTo>
                    <a:pt x="9014917" y="909091"/>
                  </a:moveTo>
                  <a:lnTo>
                    <a:pt x="0" y="909091"/>
                  </a:lnTo>
                  <a:lnTo>
                    <a:pt x="0" y="0"/>
                  </a:lnTo>
                  <a:lnTo>
                    <a:pt x="9014917" y="0"/>
                  </a:lnTo>
                  <a:lnTo>
                    <a:pt x="9027539" y="2557"/>
                  </a:lnTo>
                  <a:lnTo>
                    <a:pt x="9037850" y="9528"/>
                  </a:lnTo>
                  <a:lnTo>
                    <a:pt x="9044803" y="19856"/>
                  </a:lnTo>
                  <a:lnTo>
                    <a:pt x="9047353" y="32486"/>
                  </a:lnTo>
                  <a:lnTo>
                    <a:pt x="9047353" y="876642"/>
                  </a:lnTo>
                  <a:lnTo>
                    <a:pt x="9044803" y="889267"/>
                  </a:lnTo>
                  <a:lnTo>
                    <a:pt x="9037850" y="899582"/>
                  </a:lnTo>
                  <a:lnTo>
                    <a:pt x="9027539" y="906539"/>
                  </a:lnTo>
                  <a:lnTo>
                    <a:pt x="9014917" y="90909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7"/>
            <p:cNvSpPr/>
            <p:nvPr/>
          </p:nvSpPr>
          <p:spPr>
            <a:xfrm>
              <a:off x="483831" y="4207077"/>
              <a:ext cx="48895" cy="909319"/>
            </a:xfrm>
            <a:custGeom>
              <a:rect b="b" l="l" r="r" t="t"/>
              <a:pathLst>
                <a:path extrusionOk="0" h="909320" w="48895">
                  <a:moveTo>
                    <a:pt x="48729" y="32486"/>
                  </a:moveTo>
                  <a:lnTo>
                    <a:pt x="12" y="32486"/>
                  </a:lnTo>
                  <a:lnTo>
                    <a:pt x="0" y="876642"/>
                  </a:lnTo>
                  <a:lnTo>
                    <a:pt x="2552" y="889279"/>
                  </a:lnTo>
                  <a:lnTo>
                    <a:pt x="9512" y="899591"/>
                  </a:lnTo>
                  <a:lnTo>
                    <a:pt x="19837" y="906551"/>
                  </a:lnTo>
                  <a:lnTo>
                    <a:pt x="32499" y="909091"/>
                  </a:lnTo>
                  <a:lnTo>
                    <a:pt x="48729" y="909091"/>
                  </a:lnTo>
                  <a:lnTo>
                    <a:pt x="48729" y="876642"/>
                  </a:lnTo>
                  <a:lnTo>
                    <a:pt x="48729" y="32486"/>
                  </a:lnTo>
                  <a:close/>
                </a:path>
                <a:path extrusionOk="0" h="909320" w="48895">
                  <a:moveTo>
                    <a:pt x="48729" y="0"/>
                  </a:moveTo>
                  <a:lnTo>
                    <a:pt x="32499" y="0"/>
                  </a:lnTo>
                  <a:lnTo>
                    <a:pt x="19837" y="2565"/>
                  </a:lnTo>
                  <a:lnTo>
                    <a:pt x="9512" y="9537"/>
                  </a:lnTo>
                  <a:lnTo>
                    <a:pt x="2552" y="19862"/>
                  </a:lnTo>
                  <a:lnTo>
                    <a:pt x="0" y="32448"/>
                  </a:lnTo>
                  <a:lnTo>
                    <a:pt x="48729" y="32448"/>
                  </a:lnTo>
                  <a:lnTo>
                    <a:pt x="48729" y="0"/>
                  </a:lnTo>
                  <a:close/>
                </a:path>
              </a:pathLst>
            </a:custGeom>
            <a:solidFill>
              <a:srgbClr val="792AF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06" name="Google Shape;506;p2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07237" y="4444657"/>
              <a:ext cx="983297" cy="1790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7" name="Google Shape;507;p2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03808" y="4759921"/>
              <a:ext cx="930871" cy="147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8" name="Google Shape;508;p27"/>
          <p:cNvSpPr txBox="1"/>
          <p:nvPr/>
        </p:nvSpPr>
        <p:spPr>
          <a:xfrm>
            <a:off x="2148166" y="6422475"/>
            <a:ext cx="66249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5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Transformation légale en </a:t>
            </a:r>
            <a:r>
              <a:rPr b="1" lang="en-US" sz="1400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SASU</a:t>
            </a:r>
            <a:r>
              <a:rPr lang="en-US" sz="1400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recrutement du premier technicien réseau, et amorce d'une démarche de certi</a:t>
            </a:r>
            <a:r>
              <a:rPr lang="en-US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</a:t>
            </a:r>
            <a:r>
              <a:rPr lang="en-US" sz="1400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cation </a:t>
            </a:r>
            <a:r>
              <a:rPr b="1" lang="en-US" sz="1400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 27001</a:t>
            </a:r>
            <a:r>
              <a:rPr lang="en-US" sz="1400">
                <a:solidFill>
                  <a:srgbClr val="3341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27"/>
          <p:cNvSpPr/>
          <p:nvPr/>
        </p:nvSpPr>
        <p:spPr>
          <a:xfrm>
            <a:off x="388600" y="6985002"/>
            <a:ext cx="9091295" cy="6285"/>
          </a:xfrm>
          <a:custGeom>
            <a:rect b="b" l="l" r="r" t="t"/>
            <a:pathLst>
              <a:path extrusionOk="0" h="5714" w="9091295">
                <a:moveTo>
                  <a:pt x="9090672" y="5410"/>
                </a:moveTo>
                <a:lnTo>
                  <a:pt x="0" y="5410"/>
                </a:lnTo>
                <a:lnTo>
                  <a:pt x="0" y="0"/>
                </a:lnTo>
                <a:lnTo>
                  <a:pt x="9090672" y="0"/>
                </a:lnTo>
                <a:lnTo>
                  <a:pt x="9090672" y="5410"/>
                </a:lnTo>
                <a:close/>
              </a:path>
            </a:pathLst>
          </a:custGeom>
          <a:solidFill>
            <a:srgbClr val="E2E8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7"/>
          <p:cNvSpPr/>
          <p:nvPr/>
        </p:nvSpPr>
        <p:spPr>
          <a:xfrm>
            <a:off x="11447135" y="1011628"/>
            <a:ext cx="278765" cy="186055"/>
          </a:xfrm>
          <a:custGeom>
            <a:rect b="b" l="l" r="r" t="t"/>
            <a:pathLst>
              <a:path extrusionOk="0" h="186055" w="278765">
                <a:moveTo>
                  <a:pt x="92824" y="185686"/>
                </a:moveTo>
                <a:lnTo>
                  <a:pt x="0" y="185686"/>
                </a:lnTo>
                <a:lnTo>
                  <a:pt x="0" y="0"/>
                </a:lnTo>
                <a:lnTo>
                  <a:pt x="92824" y="0"/>
                </a:lnTo>
                <a:lnTo>
                  <a:pt x="148529" y="69608"/>
                </a:lnTo>
                <a:lnTo>
                  <a:pt x="92824" y="69608"/>
                </a:lnTo>
                <a:lnTo>
                  <a:pt x="92824" y="185686"/>
                </a:lnTo>
                <a:close/>
              </a:path>
              <a:path extrusionOk="0" h="186055" w="278765">
                <a:moveTo>
                  <a:pt x="278561" y="116039"/>
                </a:moveTo>
                <a:lnTo>
                  <a:pt x="185686" y="116039"/>
                </a:lnTo>
                <a:lnTo>
                  <a:pt x="185686" y="0"/>
                </a:lnTo>
                <a:lnTo>
                  <a:pt x="278561" y="0"/>
                </a:lnTo>
                <a:lnTo>
                  <a:pt x="278561" y="116039"/>
                </a:lnTo>
                <a:close/>
              </a:path>
              <a:path extrusionOk="0" h="186055" w="278765">
                <a:moveTo>
                  <a:pt x="278561" y="185686"/>
                </a:moveTo>
                <a:lnTo>
                  <a:pt x="185686" y="185686"/>
                </a:lnTo>
                <a:lnTo>
                  <a:pt x="92824" y="69608"/>
                </a:lnTo>
                <a:lnTo>
                  <a:pt x="148529" y="69608"/>
                </a:lnTo>
                <a:lnTo>
                  <a:pt x="185686" y="116039"/>
                </a:lnTo>
                <a:lnTo>
                  <a:pt x="278561" y="116039"/>
                </a:lnTo>
                <a:lnTo>
                  <a:pt x="278561" y="185686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7"/>
          <p:cNvSpPr/>
          <p:nvPr/>
        </p:nvSpPr>
        <p:spPr>
          <a:xfrm>
            <a:off x="11772129" y="1011628"/>
            <a:ext cx="162559" cy="186055"/>
          </a:xfrm>
          <a:custGeom>
            <a:rect b="b" l="l" r="r" t="t"/>
            <a:pathLst>
              <a:path extrusionOk="0" h="186055" w="162559">
                <a:moveTo>
                  <a:pt x="129971" y="92824"/>
                </a:moveTo>
                <a:lnTo>
                  <a:pt x="128320" y="84709"/>
                </a:lnTo>
                <a:lnTo>
                  <a:pt x="123837" y="78066"/>
                </a:lnTo>
                <a:lnTo>
                  <a:pt x="117208" y="73583"/>
                </a:lnTo>
                <a:lnTo>
                  <a:pt x="109093" y="71932"/>
                </a:lnTo>
                <a:lnTo>
                  <a:pt x="20891" y="71932"/>
                </a:lnTo>
                <a:lnTo>
                  <a:pt x="12738" y="73583"/>
                </a:lnTo>
                <a:lnTo>
                  <a:pt x="6096" y="78066"/>
                </a:lnTo>
                <a:lnTo>
                  <a:pt x="1625" y="84709"/>
                </a:lnTo>
                <a:lnTo>
                  <a:pt x="0" y="92824"/>
                </a:lnTo>
                <a:lnTo>
                  <a:pt x="1625" y="100965"/>
                </a:lnTo>
                <a:lnTo>
                  <a:pt x="6096" y="107607"/>
                </a:lnTo>
                <a:lnTo>
                  <a:pt x="12738" y="112077"/>
                </a:lnTo>
                <a:lnTo>
                  <a:pt x="20891" y="113703"/>
                </a:lnTo>
                <a:lnTo>
                  <a:pt x="109093" y="113703"/>
                </a:lnTo>
                <a:lnTo>
                  <a:pt x="117208" y="112077"/>
                </a:lnTo>
                <a:lnTo>
                  <a:pt x="123837" y="107607"/>
                </a:lnTo>
                <a:lnTo>
                  <a:pt x="128320" y="100965"/>
                </a:lnTo>
                <a:lnTo>
                  <a:pt x="129971" y="92824"/>
                </a:lnTo>
                <a:close/>
              </a:path>
              <a:path extrusionOk="0" h="186055" w="162559">
                <a:moveTo>
                  <a:pt x="162471" y="164807"/>
                </a:moveTo>
                <a:lnTo>
                  <a:pt x="160820" y="156667"/>
                </a:lnTo>
                <a:lnTo>
                  <a:pt x="156337" y="150025"/>
                </a:lnTo>
                <a:lnTo>
                  <a:pt x="149694" y="145554"/>
                </a:lnTo>
                <a:lnTo>
                  <a:pt x="141579" y="143916"/>
                </a:lnTo>
                <a:lnTo>
                  <a:pt x="20891" y="143916"/>
                </a:lnTo>
                <a:lnTo>
                  <a:pt x="12738" y="145554"/>
                </a:lnTo>
                <a:lnTo>
                  <a:pt x="6096" y="150025"/>
                </a:lnTo>
                <a:lnTo>
                  <a:pt x="1625" y="156667"/>
                </a:lnTo>
                <a:lnTo>
                  <a:pt x="0" y="164807"/>
                </a:lnTo>
                <a:lnTo>
                  <a:pt x="1625" y="172935"/>
                </a:lnTo>
                <a:lnTo>
                  <a:pt x="6096" y="179565"/>
                </a:lnTo>
                <a:lnTo>
                  <a:pt x="12738" y="184048"/>
                </a:lnTo>
                <a:lnTo>
                  <a:pt x="20891" y="185686"/>
                </a:lnTo>
                <a:lnTo>
                  <a:pt x="141579" y="185686"/>
                </a:lnTo>
                <a:lnTo>
                  <a:pt x="149694" y="184048"/>
                </a:lnTo>
                <a:lnTo>
                  <a:pt x="156337" y="179565"/>
                </a:lnTo>
                <a:lnTo>
                  <a:pt x="160820" y="172935"/>
                </a:lnTo>
                <a:lnTo>
                  <a:pt x="162471" y="164807"/>
                </a:lnTo>
                <a:close/>
              </a:path>
              <a:path extrusionOk="0" h="186055" w="162559">
                <a:moveTo>
                  <a:pt x="162471" y="20891"/>
                </a:moveTo>
                <a:lnTo>
                  <a:pt x="160820" y="12750"/>
                </a:lnTo>
                <a:lnTo>
                  <a:pt x="156337" y="6108"/>
                </a:lnTo>
                <a:lnTo>
                  <a:pt x="149694" y="1638"/>
                </a:lnTo>
                <a:lnTo>
                  <a:pt x="141579" y="0"/>
                </a:lnTo>
                <a:lnTo>
                  <a:pt x="20891" y="0"/>
                </a:lnTo>
                <a:lnTo>
                  <a:pt x="12738" y="1638"/>
                </a:lnTo>
                <a:lnTo>
                  <a:pt x="6096" y="6108"/>
                </a:lnTo>
                <a:lnTo>
                  <a:pt x="1625" y="12750"/>
                </a:lnTo>
                <a:lnTo>
                  <a:pt x="0" y="20891"/>
                </a:lnTo>
                <a:lnTo>
                  <a:pt x="1625" y="29019"/>
                </a:lnTo>
                <a:lnTo>
                  <a:pt x="6096" y="35648"/>
                </a:lnTo>
                <a:lnTo>
                  <a:pt x="12738" y="40132"/>
                </a:lnTo>
                <a:lnTo>
                  <a:pt x="20891" y="41770"/>
                </a:lnTo>
                <a:lnTo>
                  <a:pt x="141579" y="41770"/>
                </a:lnTo>
                <a:lnTo>
                  <a:pt x="149694" y="40132"/>
                </a:lnTo>
                <a:lnTo>
                  <a:pt x="156337" y="35648"/>
                </a:lnTo>
                <a:lnTo>
                  <a:pt x="160820" y="29019"/>
                </a:lnTo>
                <a:lnTo>
                  <a:pt x="162471" y="20891"/>
                </a:lnTo>
                <a:close/>
              </a:path>
            </a:pathLst>
          </a:custGeom>
          <a:solidFill>
            <a:srgbClr val="2F0D6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2" name="Google Shape;512;p27"/>
          <p:cNvGrpSpPr/>
          <p:nvPr/>
        </p:nvGrpSpPr>
        <p:grpSpPr>
          <a:xfrm>
            <a:off x="459639" y="3648173"/>
            <a:ext cx="7993641" cy="1095716"/>
            <a:chOff x="457200" y="3027464"/>
            <a:chExt cx="9143950" cy="995653"/>
          </a:xfrm>
        </p:grpSpPr>
        <p:pic>
          <p:nvPicPr>
            <p:cNvPr id="513" name="Google Shape;513;p2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57200" y="3027464"/>
              <a:ext cx="9143950" cy="5031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4" name="Google Shape;514;p2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57200" y="3530599"/>
              <a:ext cx="9143950" cy="4925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27"/>
            <p:cNvSpPr/>
            <p:nvPr/>
          </p:nvSpPr>
          <p:spPr>
            <a:xfrm>
              <a:off x="527151" y="3054553"/>
              <a:ext cx="9047480" cy="909320"/>
            </a:xfrm>
            <a:custGeom>
              <a:rect b="b" l="l" r="r" t="t"/>
              <a:pathLst>
                <a:path extrusionOk="0" h="909320" w="9047480">
                  <a:moveTo>
                    <a:pt x="9014917" y="909040"/>
                  </a:moveTo>
                  <a:lnTo>
                    <a:pt x="0" y="909040"/>
                  </a:lnTo>
                  <a:lnTo>
                    <a:pt x="0" y="0"/>
                  </a:lnTo>
                  <a:lnTo>
                    <a:pt x="9014917" y="0"/>
                  </a:lnTo>
                  <a:lnTo>
                    <a:pt x="9027539" y="2549"/>
                  </a:lnTo>
                  <a:lnTo>
                    <a:pt x="9037850" y="9502"/>
                  </a:lnTo>
                  <a:lnTo>
                    <a:pt x="9044803" y="19813"/>
                  </a:lnTo>
                  <a:lnTo>
                    <a:pt x="9047353" y="32435"/>
                  </a:lnTo>
                  <a:lnTo>
                    <a:pt x="9047353" y="876592"/>
                  </a:lnTo>
                  <a:lnTo>
                    <a:pt x="9044803" y="889216"/>
                  </a:lnTo>
                  <a:lnTo>
                    <a:pt x="9037850" y="899531"/>
                  </a:lnTo>
                  <a:lnTo>
                    <a:pt x="9027539" y="906488"/>
                  </a:lnTo>
                  <a:lnTo>
                    <a:pt x="9014917" y="9090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7"/>
            <p:cNvSpPr/>
            <p:nvPr/>
          </p:nvSpPr>
          <p:spPr>
            <a:xfrm>
              <a:off x="483831" y="3054552"/>
              <a:ext cx="48895" cy="909320"/>
            </a:xfrm>
            <a:custGeom>
              <a:rect b="b" l="l" r="r" t="t"/>
              <a:pathLst>
                <a:path extrusionOk="0" h="909320" w="48895">
                  <a:moveTo>
                    <a:pt x="48729" y="0"/>
                  </a:moveTo>
                  <a:lnTo>
                    <a:pt x="32499" y="0"/>
                  </a:lnTo>
                  <a:lnTo>
                    <a:pt x="19837" y="2552"/>
                  </a:lnTo>
                  <a:lnTo>
                    <a:pt x="9512" y="9512"/>
                  </a:lnTo>
                  <a:lnTo>
                    <a:pt x="2552" y="19824"/>
                  </a:lnTo>
                  <a:lnTo>
                    <a:pt x="0" y="32448"/>
                  </a:lnTo>
                  <a:lnTo>
                    <a:pt x="0" y="876592"/>
                  </a:lnTo>
                  <a:lnTo>
                    <a:pt x="2552" y="889228"/>
                  </a:lnTo>
                  <a:lnTo>
                    <a:pt x="9512" y="899541"/>
                  </a:lnTo>
                  <a:lnTo>
                    <a:pt x="19837" y="906500"/>
                  </a:lnTo>
                  <a:lnTo>
                    <a:pt x="32499" y="909040"/>
                  </a:lnTo>
                  <a:lnTo>
                    <a:pt x="48729" y="909040"/>
                  </a:lnTo>
                  <a:lnTo>
                    <a:pt x="48729" y="876592"/>
                  </a:lnTo>
                  <a:lnTo>
                    <a:pt x="48729" y="32448"/>
                  </a:lnTo>
                  <a:lnTo>
                    <a:pt x="48729" y="0"/>
                  </a:lnTo>
                  <a:close/>
                </a:path>
              </a:pathLst>
            </a:custGeom>
            <a:solidFill>
              <a:srgbClr val="0095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17" name="Google Shape;517;p2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07237" y="3292081"/>
              <a:ext cx="1137780" cy="1800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2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03808" y="3607346"/>
              <a:ext cx="846975" cy="1479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9" name="Google Shape;519;p27"/>
          <p:cNvGrpSpPr/>
          <p:nvPr/>
        </p:nvGrpSpPr>
        <p:grpSpPr>
          <a:xfrm>
            <a:off x="12004837" y="1011628"/>
            <a:ext cx="440620" cy="186055"/>
            <a:chOff x="8995162" y="1120228"/>
            <a:chExt cx="440620" cy="186055"/>
          </a:xfrm>
        </p:grpSpPr>
        <p:pic>
          <p:nvPicPr>
            <p:cNvPr id="520" name="Google Shape;520;p2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8995162" y="1132405"/>
              <a:ext cx="161312" cy="16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27"/>
            <p:cNvSpPr/>
            <p:nvPr/>
          </p:nvSpPr>
          <p:spPr>
            <a:xfrm>
              <a:off x="9110662" y="1120228"/>
              <a:ext cx="325120" cy="186055"/>
            </a:xfrm>
            <a:custGeom>
              <a:rect b="b" l="l" r="r" t="t"/>
              <a:pathLst>
                <a:path extrusionOk="0" h="186055" w="325120">
                  <a:moveTo>
                    <a:pt x="92824" y="185686"/>
                  </a:moveTo>
                  <a:lnTo>
                    <a:pt x="0" y="185686"/>
                  </a:lnTo>
                  <a:lnTo>
                    <a:pt x="208902" y="0"/>
                  </a:lnTo>
                  <a:lnTo>
                    <a:pt x="237899" y="46380"/>
                  </a:lnTo>
                  <a:lnTo>
                    <a:pt x="162471" y="46380"/>
                  </a:lnTo>
                  <a:lnTo>
                    <a:pt x="129971" y="102095"/>
                  </a:lnTo>
                  <a:lnTo>
                    <a:pt x="272731" y="102095"/>
                  </a:lnTo>
                  <a:lnTo>
                    <a:pt x="287246" y="125310"/>
                  </a:lnTo>
                  <a:lnTo>
                    <a:pt x="125310" y="125310"/>
                  </a:lnTo>
                  <a:lnTo>
                    <a:pt x="92824" y="185686"/>
                  </a:lnTo>
                  <a:close/>
                </a:path>
                <a:path extrusionOk="0" h="186055" w="325120">
                  <a:moveTo>
                    <a:pt x="272731" y="102095"/>
                  </a:moveTo>
                  <a:lnTo>
                    <a:pt x="194970" y="102095"/>
                  </a:lnTo>
                  <a:lnTo>
                    <a:pt x="162471" y="46380"/>
                  </a:lnTo>
                  <a:lnTo>
                    <a:pt x="237899" y="46380"/>
                  </a:lnTo>
                  <a:lnTo>
                    <a:pt x="272731" y="102095"/>
                  </a:lnTo>
                  <a:close/>
                </a:path>
                <a:path extrusionOk="0" h="186055" w="325120">
                  <a:moveTo>
                    <a:pt x="324993" y="185686"/>
                  </a:moveTo>
                  <a:lnTo>
                    <a:pt x="232117" y="185686"/>
                  </a:lnTo>
                  <a:lnTo>
                    <a:pt x="199631" y="125310"/>
                  </a:lnTo>
                  <a:lnTo>
                    <a:pt x="287246" y="125310"/>
                  </a:lnTo>
                  <a:lnTo>
                    <a:pt x="324993" y="185686"/>
                  </a:lnTo>
                  <a:close/>
                </a:path>
              </a:pathLst>
            </a:custGeom>
            <a:solidFill>
              <a:srgbClr val="2F0D6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2" name="Google Shape;522;p27"/>
          <p:cNvSpPr txBox="1"/>
          <p:nvPr>
            <p:ph idx="12" type="sldNum"/>
          </p:nvPr>
        </p:nvSpPr>
        <p:spPr>
          <a:xfrm>
            <a:off x="-38100" y="7621128"/>
            <a:ext cx="523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sur 20</a:t>
            </a:r>
            <a:endParaRPr/>
          </a:p>
        </p:txBody>
      </p:sp>
      <p:sp>
        <p:nvSpPr>
          <p:cNvPr id="523" name="Google Shape;523;p27"/>
          <p:cNvSpPr txBox="1"/>
          <p:nvPr/>
        </p:nvSpPr>
        <p:spPr>
          <a:xfrm>
            <a:off x="2195853" y="3770450"/>
            <a:ext cx="5561100" cy="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Audit externe de sécurité du SI (prestataire qualifié)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Mise en place d’un processus de qualification client (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KYC/KYB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Intégration du processus dans le site web (formulaire + contrôles)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7"/>
          <p:cNvSpPr txBox="1"/>
          <p:nvPr/>
        </p:nvSpPr>
        <p:spPr>
          <a:xfrm>
            <a:off x="1100476" y="4900525"/>
            <a:ext cx="67416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KYC — Know Your Customer  : </a:t>
            </a: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Processus de vérification de l’identité d’une </a:t>
            </a:r>
            <a:r>
              <a:rPr b="1"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personne physique</a:t>
            </a: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KYB — Know Your Business : </a:t>
            </a: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Processus de vérification d’une </a:t>
            </a:r>
            <a:r>
              <a:rPr b="1"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personne morale (entreprise)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25" name="Google Shape;525;p27"/>
          <p:cNvSpPr txBox="1"/>
          <p:nvPr/>
        </p:nvSpPr>
        <p:spPr>
          <a:xfrm>
            <a:off x="4088024" y="7591793"/>
            <a:ext cx="16143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A31"/>
                </a:solidFill>
                <a:latin typeface="Trebuchet MS"/>
                <a:ea typeface="Trebuchet MS"/>
                <a:cs typeface="Trebuchet MS"/>
                <a:sym typeface="Trebuchet MS"/>
              </a:rPr>
              <a:t>SAN-Log_it – Modélisation ESN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26" name="Google Shape;526;p27" title="1000004042.jp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422540" y="778910"/>
            <a:ext cx="1925449" cy="1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7"/>
          <p:cNvSpPr txBox="1"/>
          <p:nvPr>
            <p:ph idx="11" type="ftr"/>
          </p:nvPr>
        </p:nvSpPr>
        <p:spPr>
          <a:xfrm>
            <a:off x="9114472" y="7621128"/>
            <a:ext cx="95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08/06/2026, 22:37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301181"/>
            <a:ext cx="9143949" cy="52218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28"/>
          <p:cNvSpPr txBox="1"/>
          <p:nvPr/>
        </p:nvSpPr>
        <p:spPr>
          <a:xfrm>
            <a:off x="609600" y="1655200"/>
            <a:ext cx="9012900" cy="52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SAN-Log_it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est aujourd'hui une coquille légale sans client*, mais ce n'est pas seulement un cas d'école. C'est une intention entrepreneuriale sérieuse, modélisée techniquement et économiquement. </a:t>
            </a:r>
            <a:endParaRPr b="1"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site web déployé sur Hostinger,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 simulateur de devis, l'architecture documentée et les référentiels maîtrisés (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ANSSI, NIS2, CIS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en sont les preuves. Il ne manque qu'une chose : un premier client.*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https://san-log-it.com/</a:t>
            </a:r>
            <a:endParaRPr b="1" sz="2000">
              <a:solidFill>
                <a:srgbClr val="009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009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009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 question pour vous :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 vous étiez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DSI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d'une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PME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quelle preuve supplémentaire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attendiez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-vous avant de me confier votre infrastructure ?"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ctr">
              <a:lnSpc>
                <a:spcPct val="133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2F0D67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4" name="Google Shape;534;p28"/>
          <p:cNvSpPr/>
          <p:nvPr/>
        </p:nvSpPr>
        <p:spPr>
          <a:xfrm>
            <a:off x="483844" y="5808764"/>
            <a:ext cx="9091295" cy="5715"/>
          </a:xfrm>
          <a:custGeom>
            <a:rect b="b" l="l" r="r" t="t"/>
            <a:pathLst>
              <a:path extrusionOk="0" h="5714" w="9091295">
                <a:moveTo>
                  <a:pt x="9090672" y="5410"/>
                </a:moveTo>
                <a:lnTo>
                  <a:pt x="0" y="5410"/>
                </a:lnTo>
                <a:lnTo>
                  <a:pt x="0" y="0"/>
                </a:lnTo>
                <a:lnTo>
                  <a:pt x="9090672" y="0"/>
                </a:lnTo>
                <a:lnTo>
                  <a:pt x="9090672" y="5410"/>
                </a:lnTo>
                <a:close/>
              </a:path>
            </a:pathLst>
          </a:custGeom>
          <a:solidFill>
            <a:srgbClr val="E2E8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8"/>
          <p:cNvSpPr txBox="1"/>
          <p:nvPr/>
        </p:nvSpPr>
        <p:spPr>
          <a:xfrm>
            <a:off x="-12700" y="7621128"/>
            <a:ext cx="498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US" sz="1000">
                <a:latin typeface="Times New Roman"/>
                <a:ea typeface="Times New Roman"/>
                <a:cs typeface="Times New Roman"/>
                <a:sym typeface="Times New Roman"/>
              </a:rPr>
              <a:t> sur 20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6" name="Google Shape;536;p28"/>
          <p:cNvSpPr txBox="1"/>
          <p:nvPr/>
        </p:nvSpPr>
        <p:spPr>
          <a:xfrm>
            <a:off x="4088024" y="7591793"/>
            <a:ext cx="16143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262A31"/>
                </a:solidFill>
                <a:latin typeface="Trebuchet MS"/>
                <a:ea typeface="Trebuchet MS"/>
                <a:cs typeface="Trebuchet MS"/>
                <a:sym typeface="Trebuchet MS"/>
              </a:rPr>
              <a:t>SAN-Log_it – Modélisation ESN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7" name="Google Shape;537;p28"/>
          <p:cNvSpPr txBox="1"/>
          <p:nvPr/>
        </p:nvSpPr>
        <p:spPr>
          <a:xfrm>
            <a:off x="4173835" y="767911"/>
            <a:ext cx="21408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5A34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  </a:t>
            </a:r>
            <a:endParaRPr b="1" sz="3000">
              <a:solidFill>
                <a:srgbClr val="15A34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8" name="Google Shape;538;p28" title="100000404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2540" y="778910"/>
            <a:ext cx="1925449" cy="1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28"/>
          <p:cNvSpPr txBox="1"/>
          <p:nvPr>
            <p:ph idx="11" type="ftr"/>
          </p:nvPr>
        </p:nvSpPr>
        <p:spPr>
          <a:xfrm>
            <a:off x="9114472" y="7621128"/>
            <a:ext cx="95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08/06/2026, 22:37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